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notesSlides/notesSlide28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28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_rels/slide31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7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2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8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media/image12.png" ContentType="image/png"/>
  <Override PartName="/ppt/media/image11.png" ContentType="image/png"/>
  <Override PartName="/ppt/media/image10.png" ContentType="image/png"/>
  <Override PartName="/ppt/media/image9.png" ContentType="image/png"/>
  <Override PartName="/ppt/media/image8.png" ContentType="image/png"/>
  <Override PartName="/ppt/media/image7.png" ContentType="image/png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9144000" cy="6858000"/>
  <p:notesSz cx="6796087" cy="987425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6796800" cy="987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hdr"/>
          </p:nvPr>
        </p:nvSpPr>
        <p:spPr>
          <a:xfrm>
            <a:off x="0" y="-360"/>
            <a:ext cx="2946240" cy="493560"/>
          </a:xfrm>
          <a:prstGeom prst="rect">
            <a:avLst/>
          </a:prstGeom>
        </p:spPr>
        <p:txBody>
          <a:bodyPr lIns="90000" rIns="90000" tIns="46800" bIns="46800"/>
          <a:p>
            <a:pPr>
              <a:buFont typeface="굴림"/>
              <a:buChar char="•"/>
            </a:pPr>
            <a:endParaRPr/>
          </a:p>
        </p:txBody>
      </p:sp>
      <p:sp>
        <p:nvSpPr>
          <p:cNvPr id="120" name="PlaceHolder 3"/>
          <p:cNvSpPr>
            <a:spLocks noGrp="1"/>
          </p:cNvSpPr>
          <p:nvPr>
            <p:ph type="dt"/>
          </p:nvPr>
        </p:nvSpPr>
        <p:spPr>
          <a:xfrm>
            <a:off x="3849840" y="-360"/>
            <a:ext cx="2946240" cy="493560"/>
          </a:xfrm>
          <a:prstGeom prst="rect">
            <a:avLst/>
          </a:prstGeom>
        </p:spPr>
        <p:txBody>
          <a:bodyPr lIns="90000" rIns="90000" tIns="46800" bIns="46800"/>
          <a:p>
            <a:pPr algn="r">
              <a:lnSpc>
                <a:spcPct val="100000"/>
              </a:lnSpc>
              <a:buFont typeface="맑은 고딕"/>
              <a:buChar char="•"/>
            </a:pPr>
            <a:r>
              <a:rPr lang="en-US" sz="1200">
                <a:latin typeface="맑은 고딕"/>
                <a:ea typeface="맑은 고딕"/>
              </a:rPr>
              <a:t>&lt;date/time&gt;</a:t>
            </a:r>
            <a:endParaRPr/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880" cy="4441680"/>
          </a:xfrm>
          <a:prstGeom prst="rect">
            <a:avLst/>
          </a:prstGeom>
        </p:spPr>
        <p:txBody>
          <a:bodyPr lIns="90000" rIns="90000" tIns="46800" bIns="46800"/>
          <a:p>
            <a:r>
              <a:rPr lang="en-IN" sz="1200">
                <a:latin typeface="맑은 고딕"/>
              </a:rPr>
              <a:t>Click to edit the notes format</a:t>
            </a:r>
            <a:endParaRPr/>
          </a:p>
        </p:txBody>
      </p:sp>
      <p:sp>
        <p:nvSpPr>
          <p:cNvPr id="122" name="PlaceHolder 5"/>
          <p:cNvSpPr>
            <a:spLocks noGrp="1"/>
          </p:cNvSpPr>
          <p:nvPr>
            <p:ph type="ftr"/>
          </p:nvPr>
        </p:nvSpPr>
        <p:spPr>
          <a:xfrm>
            <a:off x="0" y="9378720"/>
            <a:ext cx="2946240" cy="493560"/>
          </a:xfrm>
          <a:prstGeom prst="rect">
            <a:avLst/>
          </a:prstGeom>
        </p:spPr>
        <p:txBody>
          <a:bodyPr lIns="90000" rIns="90000" tIns="46800" bIns="46800" anchor="b"/>
          <a:p>
            <a:pPr>
              <a:buFont typeface="굴림"/>
              <a:buChar char="•"/>
            </a:pPr>
            <a:endParaRPr/>
          </a:p>
        </p:txBody>
      </p:sp>
      <p:sp>
        <p:nvSpPr>
          <p:cNvPr id="123" name="PlaceHolder 6"/>
          <p:cNvSpPr>
            <a:spLocks noGrp="1"/>
          </p:cNvSpPr>
          <p:nvPr>
            <p:ph type="sldNum"/>
          </p:nvPr>
        </p:nvSpPr>
        <p:spPr>
          <a:xfrm>
            <a:off x="3849840" y="9378720"/>
            <a:ext cx="2946240" cy="493560"/>
          </a:xfrm>
          <a:prstGeom prst="rect">
            <a:avLst/>
          </a:prstGeom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7249E981-4EC8-4A5D-88E0-2F2A0FA36054}" type="slidenum">
              <a:rPr lang="en-US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2786D9FA-06BC-4922-8DFF-1A78CAB509D9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47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BEEA7394-5F93-4368-9EE6-1F773C8163D8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49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8D8C1A7A-97B3-4840-B8AC-C57045B38DEA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51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46275C1B-F286-4DDB-9098-42DA72DED3AD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53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DCF6899C-7C16-4B32-82D3-C9B061D555B3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55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F48579BA-69BA-410E-B7BF-D18D6F04301D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57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993B723E-916B-46FD-AFA1-6C37AAF13AFB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59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F6E4B84A-D5AC-4CFC-A4EC-FEB703E0BD76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61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036B1100-F30F-4C8B-8B98-7EDCFD60DD16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63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DDE750DD-A1AB-45C4-9C8B-47D57A25651F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65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19878E92-963E-4FC1-B5A2-1E18BB3EC822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67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D8E9FA4A-4B67-47B6-B167-FAC9FB1D57ED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69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067E3BE4-52F2-41E9-AEC6-2FD4B9FB6734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71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3CEEF423-6BAC-406C-987D-8E9AE1B3136B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73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3849840" y="9379080"/>
            <a:ext cx="2946240" cy="493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/>
          <a:p>
            <a:pPr algn="r">
              <a:lnSpc>
                <a:spcPct val="100000"/>
              </a:lnSpc>
              <a:buFont typeface="맑은 고딕"/>
              <a:buChar char="•"/>
            </a:pPr>
            <a:fld id="{0986310D-CA28-4ADF-BDE2-DE4D37E78206}" type="slidenum">
              <a:rPr lang="en-AU" sz="1200">
                <a:latin typeface="맑은 고딕"/>
                <a:ea typeface="맑은 고딕"/>
              </a:rPr>
              <a:t>&lt;number&gt;</a:t>
            </a:fld>
            <a:endParaRPr/>
          </a:p>
        </p:txBody>
      </p:sp>
      <p:sp>
        <p:nvSpPr>
          <p:cNvPr id="275" name="TextShape 2"/>
          <p:cNvSpPr txBox="1"/>
          <p:nvPr/>
        </p:nvSpPr>
        <p:spPr>
          <a:xfrm>
            <a:off x="679320" y="4691160"/>
            <a:ext cx="5438880" cy="4441680"/>
          </a:xfrm>
          <a:prstGeom prst="rect">
            <a:avLst/>
          </a:prstGeom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8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44240" y="1281240"/>
            <a:ext cx="8243640" cy="5021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44600" y="510840"/>
            <a:ext cx="8300880" cy="2429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4424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6848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44240" y="3904200"/>
            <a:ext cx="8243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44240" y="3904200"/>
            <a:ext cx="8243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6848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4424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419120" y="1281240"/>
            <a:ext cx="6293160" cy="502128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1419120" y="1281240"/>
            <a:ext cx="6293160" cy="5021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44240" y="1281240"/>
            <a:ext cx="8243640" cy="5021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44600" y="510840"/>
            <a:ext cx="8300880" cy="2429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4424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6848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44240" y="3904200"/>
            <a:ext cx="8243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44240" y="3904200"/>
            <a:ext cx="8243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66848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4424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78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419120" y="1281240"/>
            <a:ext cx="6293160" cy="5021280"/>
          </a:xfrm>
          <a:prstGeom prst="rect">
            <a:avLst/>
          </a:prstGeom>
          <a:ln>
            <a:noFill/>
          </a:ln>
        </p:spPr>
      </p:pic>
      <p:pic>
        <p:nvPicPr>
          <p:cNvPr id="79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1419120" y="1281240"/>
            <a:ext cx="6293160" cy="5021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44240" y="1281240"/>
            <a:ext cx="8243640" cy="5021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444600" y="510840"/>
            <a:ext cx="8300880" cy="2429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4424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66848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44240" y="3904200"/>
            <a:ext cx="8243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44240" y="3904200"/>
            <a:ext cx="8243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668480" y="128124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466848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444240" y="3904200"/>
            <a:ext cx="4022640" cy="2395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49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116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419120" y="1281240"/>
            <a:ext cx="6293160" cy="5021280"/>
          </a:xfrm>
          <a:prstGeom prst="rect">
            <a:avLst/>
          </a:prstGeom>
          <a:ln>
            <a:noFill/>
          </a:ln>
        </p:spPr>
      </p:pic>
      <p:pic>
        <p:nvPicPr>
          <p:cNvPr id="117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1419120" y="1281240"/>
            <a:ext cx="6293160" cy="5021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285840" cy="5256360"/>
          </a:xfrm>
          <a:prstGeom prst="rect">
            <a:avLst/>
          </a:prstGeom>
          <a:gradFill>
            <a:gsLst>
              <a:gs pos="0">
                <a:srgbClr val="0033cc"/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</p:sp>
      <p:sp>
        <p:nvSpPr>
          <p:cNvPr id="1" name="CustomShape 2"/>
          <p:cNvSpPr/>
          <p:nvPr/>
        </p:nvSpPr>
        <p:spPr>
          <a:xfrm flipH="1">
            <a:off x="1071000" y="2840040"/>
            <a:ext cx="7529400" cy="3386160"/>
          </a:xfrm>
          <a:prstGeom prst="pie">
            <a:avLst/>
          </a:prstGeom>
          <a:noFill/>
          <a:ln w="12600">
            <a:solidFill>
              <a:srgbClr val="0033cc"/>
            </a:solidFill>
            <a:round/>
          </a:ln>
        </p:spPr>
      </p:sp>
      <p:pic>
        <p:nvPicPr>
          <p:cNvPr id="2" name="Picture 5" descr="yonsei logo mark"/>
          <p:cNvPicPr/>
          <p:nvPr/>
        </p:nvPicPr>
        <p:blipFill>
          <a:blip r:embed="rId2"/>
          <a:stretch>
            <a:fillRect/>
          </a:stretch>
        </p:blipFill>
        <p:spPr>
          <a:xfrm>
            <a:off x="1244520" y="4083120"/>
            <a:ext cx="1924200" cy="1542960"/>
          </a:xfrm>
          <a:prstGeom prst="rect">
            <a:avLst/>
          </a:prstGeom>
          <a:ln>
            <a:noFill/>
          </a:ln>
        </p:spPr>
      </p:pic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r>
              <a:rPr b="1" lang="en-IN" sz="3600">
                <a:latin typeface="Arial Black"/>
              </a:rPr>
              <a:t>Click to edit the title text format</a:t>
            </a:r>
            <a:endParaRPr/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"/>
            </a:pPr>
            <a:r>
              <a:rPr b="1" lang="en-IN" sz="2800">
                <a:latin typeface="Arial"/>
              </a:rPr>
              <a:t>Click to edit the outline text format</a:t>
            </a:r>
            <a:endParaRPr/>
          </a:p>
          <a:p>
            <a:pPr lvl="1">
              <a:buFont typeface="Arial"/>
              <a:buChar char="–"/>
            </a:pPr>
            <a:r>
              <a:rPr lang="en-IN" sz="2400">
                <a:latin typeface="Arial"/>
              </a:rPr>
              <a:t>Second Outline Level</a:t>
            </a:r>
            <a:endParaRPr/>
          </a:p>
          <a:p>
            <a:pPr lvl="2">
              <a:buFont typeface="Wingdings" charset="2"/>
              <a:buChar char=""/>
            </a:pPr>
            <a:r>
              <a:rPr lang="en-IN" sz="2000">
                <a:latin typeface="Arial"/>
              </a:rPr>
              <a:t>Third Outline Level</a:t>
            </a:r>
            <a:endParaRPr/>
          </a:p>
          <a:p>
            <a:pPr lvl="3">
              <a:buFont typeface="Arial"/>
              <a:buChar char="–"/>
            </a:pPr>
            <a:r>
              <a:rPr lang="en-IN" sz="2000">
                <a:latin typeface="Arial"/>
              </a:rPr>
              <a:t>Fourth Outline Level</a:t>
            </a:r>
            <a:endParaRPr/>
          </a:p>
          <a:p>
            <a:pPr lvl="4">
              <a:buFont typeface="Wingdings" charset="2"/>
              <a:buChar char=""/>
            </a:pPr>
            <a:r>
              <a:rPr lang="en-IN" sz="2000">
                <a:latin typeface="Arial"/>
              </a:rPr>
              <a:t>Fifth Outline Level</a:t>
            </a:r>
            <a:endParaRPr/>
          </a:p>
          <a:p>
            <a:pPr lvl="5">
              <a:buFont typeface="Wingdings" charset="2"/>
              <a:buChar char=""/>
            </a:pPr>
            <a:r>
              <a:rPr lang="en-IN" sz="2000">
                <a:latin typeface="Arial"/>
              </a:rPr>
              <a:t>Sixth Outline Level</a:t>
            </a:r>
            <a:endParaRPr/>
          </a:p>
          <a:p>
            <a:pPr lvl="6">
              <a:buFont typeface="Wingdings" charset="2"/>
              <a:buChar char=""/>
            </a:pPr>
            <a:r>
              <a:rPr lang="en-IN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r>
              <a:rPr b="1" lang="en-IN" sz="3600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IN" sz="2800">
                <a:latin typeface="Arial"/>
              </a:rPr>
              <a:t>Click to edit the outline text format</a:t>
            </a:r>
            <a:endParaRPr/>
          </a:p>
          <a:p>
            <a:pPr lvl="1">
              <a:buFont typeface="Arial"/>
              <a:buChar char="–"/>
            </a:pPr>
            <a:r>
              <a:rPr lang="en-IN" sz="2400">
                <a:latin typeface="Arial"/>
              </a:rPr>
              <a:t>Second Outline Level</a:t>
            </a:r>
            <a:endParaRPr/>
          </a:p>
          <a:p>
            <a:pPr lvl="2">
              <a:buFont typeface="Wingdings" charset="2"/>
              <a:buChar char=""/>
            </a:pPr>
            <a:r>
              <a:rPr lang="en-IN" sz="2000">
                <a:latin typeface="Arial"/>
              </a:rPr>
              <a:t>Third Outline Level</a:t>
            </a:r>
            <a:endParaRPr/>
          </a:p>
          <a:p>
            <a:pPr lvl="3">
              <a:buFont typeface="Arial"/>
              <a:buChar char="–"/>
            </a:pPr>
            <a:r>
              <a:rPr lang="en-IN" sz="2000">
                <a:latin typeface="Arial"/>
              </a:rPr>
              <a:t>Fourth Outline Level</a:t>
            </a:r>
            <a:endParaRPr/>
          </a:p>
          <a:p>
            <a:pPr lvl="4">
              <a:buFont typeface="Wingdings" charset="2"/>
              <a:buChar char=""/>
            </a:pPr>
            <a:r>
              <a:rPr lang="en-IN" sz="2000">
                <a:latin typeface="Arial"/>
              </a:rPr>
              <a:t>Fifth Outline Level</a:t>
            </a:r>
            <a:endParaRPr/>
          </a:p>
          <a:p>
            <a:pPr lvl="5">
              <a:buFont typeface="Wingdings" charset="2"/>
              <a:buChar char=""/>
            </a:pPr>
            <a:r>
              <a:rPr lang="en-IN" sz="2000">
                <a:latin typeface="Arial"/>
              </a:rPr>
              <a:t>Sixth Outline Level</a:t>
            </a:r>
            <a:endParaRPr/>
          </a:p>
          <a:p>
            <a:pPr lvl="6">
              <a:buFont typeface="Wingdings" charset="2"/>
              <a:buChar char=""/>
            </a:pPr>
            <a:r>
              <a:rPr lang="en-IN" sz="2000">
                <a:latin typeface="Arial"/>
              </a:rPr>
              <a:t>Seventh Outline Level</a:t>
            </a:r>
            <a:endParaRPr/>
          </a:p>
        </p:txBody>
      </p:sp>
      <p:sp>
        <p:nvSpPr>
          <p:cNvPr id="41" name="CustomShape 3"/>
          <p:cNvSpPr/>
          <p:nvPr/>
        </p:nvSpPr>
        <p:spPr>
          <a:xfrm>
            <a:off x="0" y="0"/>
            <a:ext cx="266760" cy="5256360"/>
          </a:xfrm>
          <a:prstGeom prst="rect">
            <a:avLst/>
          </a:prstGeom>
          <a:gradFill>
            <a:gsLst>
              <a:gs pos="0">
                <a:srgbClr val="0033cc"/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</p:sp>
      <p:pic>
        <p:nvPicPr>
          <p:cNvPr id="42" name="Picture 5" descr="title"/>
          <p:cNvPicPr/>
          <p:nvPr/>
        </p:nvPicPr>
        <p:blipFill>
          <a:blip r:embed="rId2"/>
          <a:stretch>
            <a:fillRect/>
          </a:stretch>
        </p:blipFill>
        <p:spPr>
          <a:xfrm>
            <a:off x="7300800" y="6388200"/>
            <a:ext cx="1447920" cy="311040"/>
          </a:xfrm>
          <a:prstGeom prst="rect">
            <a:avLst/>
          </a:prstGeom>
          <a:ln>
            <a:noFill/>
          </a:ln>
        </p:spPr>
      </p:pic>
      <p:sp>
        <p:nvSpPr>
          <p:cNvPr id="43" name="CustomShape 4"/>
          <p:cNvSpPr/>
          <p:nvPr/>
        </p:nvSpPr>
        <p:spPr>
          <a:xfrm>
            <a:off x="412920" y="6392160"/>
            <a:ext cx="734040" cy="2764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6800" bIns="46800" anchor="ctr"/>
          <a:p>
            <a:pPr>
              <a:lnSpc>
                <a:spcPct val="70000"/>
              </a:lnSpc>
              <a:buFont typeface="HY견고딕"/>
              <a:buChar char="•"/>
            </a:pPr>
            <a:r>
              <a:rPr b="1" lang="en-US" sz="1200">
                <a:solidFill>
                  <a:srgbClr val="0033cc"/>
                </a:solidFill>
                <a:latin typeface="HY견고딕"/>
                <a:ea typeface="HY견고딕"/>
              </a:rPr>
              <a:t>CCLAB</a:t>
            </a:r>
            <a:endParaRPr/>
          </a:p>
        </p:txBody>
      </p:sp>
      <p:sp>
        <p:nvSpPr>
          <p:cNvPr id="44" name="CustomShape 5"/>
          <p:cNvSpPr/>
          <p:nvPr/>
        </p:nvSpPr>
        <p:spPr>
          <a:xfrm flipH="1">
            <a:off x="438840" y="1203480"/>
            <a:ext cx="8431560" cy="5095800"/>
          </a:xfrm>
          <a:prstGeom prst="pie">
            <a:avLst/>
          </a:prstGeom>
          <a:noFill/>
          <a:ln w="12600">
            <a:solidFill>
              <a:srgbClr val="0033cc"/>
            </a:solidFill>
            <a:round/>
          </a:ln>
        </p:spPr>
      </p:sp>
      <p:sp>
        <p:nvSpPr>
          <p:cNvPr id="45" name="PlaceHolder 6"/>
          <p:cNvSpPr>
            <a:spLocks noGrp="1"/>
          </p:cNvSpPr>
          <p:nvPr>
            <p:ph type="sldNum"/>
          </p:nvPr>
        </p:nvSpPr>
        <p:spPr>
          <a:xfrm>
            <a:off x="3124080" y="6552720"/>
            <a:ext cx="1828800" cy="304920"/>
          </a:xfrm>
          <a:prstGeom prst="rect">
            <a:avLst/>
          </a:prstGeom>
        </p:spPr>
        <p:txBody>
          <a:bodyPr lIns="90000" rIns="90000" tIns="46800" bIns="46800"/>
          <a:p>
            <a:pPr algn="r">
              <a:buSzPct val="45000"/>
              <a:buFont typeface="StarSymbol"/>
              <a:buChar char=""/>
            </a:pPr>
            <a:fld id="{3A8B723D-CDAC-442B-9C29-498363249566}" type="slidenum">
              <a:rPr lang="en-US" sz="1000">
                <a:latin typeface="Times New Roman"/>
              </a:rPr>
              <a:t>&lt;number&gt;</a:t>
            </a:fld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0" y="0"/>
            <a:ext cx="285840" cy="5256360"/>
          </a:xfrm>
          <a:prstGeom prst="rect">
            <a:avLst/>
          </a:prstGeom>
          <a:gradFill>
            <a:gsLst>
              <a:gs pos="0">
                <a:srgbClr val="0033cc"/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</p:sp>
      <p:sp>
        <p:nvSpPr>
          <p:cNvPr id="81" name="CustomShape 2"/>
          <p:cNvSpPr/>
          <p:nvPr/>
        </p:nvSpPr>
        <p:spPr>
          <a:xfrm flipH="1">
            <a:off x="1071000" y="2840040"/>
            <a:ext cx="7529400" cy="3386160"/>
          </a:xfrm>
          <a:prstGeom prst="pie">
            <a:avLst/>
          </a:prstGeom>
          <a:noFill/>
          <a:ln w="12600">
            <a:solidFill>
              <a:srgbClr val="0033cc"/>
            </a:solidFill>
            <a:round/>
          </a:ln>
        </p:spPr>
      </p:sp>
      <p:sp>
        <p:nvSpPr>
          <p:cNvPr id="82" name="PlaceHolder 3"/>
          <p:cNvSpPr>
            <a:spLocks noGrp="1"/>
          </p:cNvSpPr>
          <p:nvPr>
            <p:ph type="title"/>
          </p:nvPr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r>
              <a:rPr b="1" lang="en-IN" sz="3600">
                <a:latin typeface="굴림"/>
              </a:rPr>
              <a:t>Click to edit the title text format</a:t>
            </a:r>
            <a:endParaRPr/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"/>
            </a:pPr>
            <a:r>
              <a:rPr b="1" lang="en-IN" sz="2800">
                <a:latin typeface="굴림"/>
              </a:rPr>
              <a:t>Click to edit the outline text format</a:t>
            </a:r>
            <a:endParaRPr/>
          </a:p>
          <a:p>
            <a:pPr lvl="1">
              <a:buFont typeface="굴림"/>
              <a:buChar char="–"/>
            </a:pPr>
            <a:r>
              <a:rPr lang="en-IN" sz="2400">
                <a:latin typeface="굴림"/>
              </a:rPr>
              <a:t>Second Outline Level</a:t>
            </a:r>
            <a:endParaRPr/>
          </a:p>
          <a:p>
            <a:pPr lvl="2">
              <a:buFont typeface="Wingdings" charset="2"/>
              <a:buChar char=""/>
            </a:pPr>
            <a:r>
              <a:rPr lang="en-IN" sz="2000">
                <a:latin typeface="굴림"/>
              </a:rPr>
              <a:t>Third Outline Level</a:t>
            </a:r>
            <a:endParaRPr/>
          </a:p>
          <a:p>
            <a:pPr lvl="3">
              <a:buFont typeface="굴림"/>
              <a:buChar char="–"/>
            </a:pPr>
            <a:r>
              <a:rPr lang="en-IN" sz="2000">
                <a:latin typeface="굴림"/>
              </a:rPr>
              <a:t>Fourth Outline Level</a:t>
            </a:r>
            <a:endParaRPr/>
          </a:p>
          <a:p>
            <a:pPr lvl="4">
              <a:buFont typeface="Wingdings" charset="2"/>
              <a:buChar char=""/>
            </a:pPr>
            <a:r>
              <a:rPr lang="en-IN" sz="2000">
                <a:latin typeface="굴림"/>
              </a:rPr>
              <a:t>Fifth Outline Level</a:t>
            </a:r>
            <a:endParaRPr/>
          </a:p>
          <a:p>
            <a:pPr lvl="5">
              <a:buFont typeface="Wingdings" charset="2"/>
              <a:buChar char=""/>
            </a:pPr>
            <a:r>
              <a:rPr lang="en-IN" sz="2000">
                <a:latin typeface="굴림"/>
              </a:rPr>
              <a:t>Sixth Outline Level</a:t>
            </a:r>
            <a:endParaRPr/>
          </a:p>
          <a:p>
            <a:pPr lvl="6">
              <a:buFont typeface="Wingdings" charset="2"/>
              <a:buChar char=""/>
            </a:pPr>
            <a:r>
              <a:rPr lang="en-IN" sz="2000">
                <a:latin typeface="굴림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999720" y="2130120"/>
            <a:ext cx="7458120" cy="1469880"/>
          </a:xfrm>
          <a:prstGeom prst="rect">
            <a:avLst/>
          </a:prstGeom>
        </p:spPr>
        <p:txBody>
          <a:bodyPr lIns="0" rIns="0" tIns="0" bIns="0"/>
          <a:p>
            <a:pPr>
              <a:buFont typeface="Arial Black"/>
              <a:buChar char="•"/>
            </a:pPr>
            <a:r>
              <a:rPr b="1" lang="en-US" sz="3600">
                <a:solidFill>
                  <a:srgbClr val="000000"/>
                </a:solidFill>
                <a:latin typeface="Arial Black"/>
              </a:rPr>
              <a:t>The RSA Algorithm</a:t>
            </a:r>
            <a:endParaRPr/>
          </a:p>
        </p:txBody>
      </p:sp>
      <p:sp>
        <p:nvSpPr>
          <p:cNvPr id="125" name="TextShape 2"/>
          <p:cNvSpPr txBox="1"/>
          <p:nvPr/>
        </p:nvSpPr>
        <p:spPr>
          <a:xfrm>
            <a:off x="3642840" y="4642920"/>
            <a:ext cx="4557960" cy="1209960"/>
          </a:xfrm>
          <a:prstGeom prst="rect">
            <a:avLst/>
          </a:prstGeom>
        </p:spPr>
        <p:txBody>
          <a:bodyPr lIns="0" rIns="0" tIns="0" bIns="0"/>
          <a:p>
            <a:pPr algn="r">
              <a:buFont typeface="Wingdings" charset="2"/>
              <a:buChar char=""/>
            </a:pPr>
            <a:r>
              <a:rPr b="1" lang="en-US" sz="2800">
                <a:latin typeface="Arial"/>
              </a:rPr>
              <a:t>JooSeok Song</a:t>
            </a:r>
            <a:endParaRPr/>
          </a:p>
          <a:p>
            <a:pPr algn="r">
              <a:buFont typeface="Wingdings" charset="2"/>
              <a:buChar char=""/>
            </a:pPr>
            <a:r>
              <a:rPr b="1" lang="en-US" sz="2800">
                <a:latin typeface="Arial"/>
              </a:rPr>
              <a:t>2007. 11. 13. Tue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Private-Key Cryptography</a:t>
            </a:r>
            <a:endParaRPr/>
          </a:p>
        </p:txBody>
      </p:sp>
      <p:sp>
        <p:nvSpPr>
          <p:cNvPr id="127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traditional </a:t>
            </a:r>
            <a:r>
              <a:rPr b="1" lang="en-AU" sz="2800">
                <a:latin typeface="Arial"/>
              </a:rPr>
              <a:t>private/secret/single key</a:t>
            </a:r>
            <a:r>
              <a:rPr lang="en-AU" sz="2800">
                <a:latin typeface="Arial"/>
              </a:rPr>
              <a:t> cryptography uses </a:t>
            </a:r>
            <a:r>
              <a:rPr b="1" lang="en-AU" sz="2800">
                <a:latin typeface="Arial"/>
              </a:rPr>
              <a:t>one</a:t>
            </a:r>
            <a:r>
              <a:rPr lang="en-AU" sz="2800">
                <a:latin typeface="Arial"/>
              </a:rPr>
              <a:t> key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shared by both sender and receiver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if this key is disclosed communications are compromised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also is </a:t>
            </a:r>
            <a:r>
              <a:rPr b="1" lang="en-AU" sz="2800">
                <a:latin typeface="Arial"/>
              </a:rPr>
              <a:t>symmetric</a:t>
            </a:r>
            <a:r>
              <a:rPr lang="en-AU" sz="2800">
                <a:latin typeface="Arial"/>
              </a:rPr>
              <a:t>, parties are equal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hence does not protect sender from receiver forging a message &amp; claiming is sent by sender 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freeze">
                      <p:stCondLst>
                        <p:cond delay="0"/>
                      </p:stCondLst>
                      <p:childTnLst>
                        <p:par>
                          <p:cTn id="4" fill="freeze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freeze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Public-Key Cryptography</a:t>
            </a:r>
            <a:endParaRPr/>
          </a:p>
        </p:txBody>
      </p:sp>
      <p:sp>
        <p:nvSpPr>
          <p:cNvPr id="129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probably most significant advance in the 3000 year history of cryptography 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uses </a:t>
            </a:r>
            <a:r>
              <a:rPr b="1" lang="en-US" sz="2800">
                <a:latin typeface="Arial"/>
              </a:rPr>
              <a:t>two</a:t>
            </a:r>
            <a:r>
              <a:rPr lang="en-US" sz="2800">
                <a:latin typeface="Arial"/>
              </a:rPr>
              <a:t> keys – a public &amp; a private key</a:t>
            </a:r>
            <a:endParaRPr/>
          </a:p>
          <a:p>
            <a:pPr>
              <a:buFont typeface="Wingdings" charset="2"/>
              <a:buChar char=""/>
            </a:pPr>
            <a:r>
              <a:rPr b="1" lang="en-AU" sz="2800">
                <a:latin typeface="Arial"/>
              </a:rPr>
              <a:t>asymmetric</a:t>
            </a:r>
            <a:r>
              <a:rPr lang="en-AU" sz="2800">
                <a:latin typeface="Arial"/>
              </a:rPr>
              <a:t> since parties are </a:t>
            </a:r>
            <a:r>
              <a:rPr b="1" lang="en-AU" sz="2800">
                <a:latin typeface="Arial"/>
              </a:rPr>
              <a:t>not</a:t>
            </a:r>
            <a:r>
              <a:rPr lang="en-AU" sz="2800">
                <a:latin typeface="Arial"/>
              </a:rPr>
              <a:t> equal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uses clever application of number theoretic concepts to function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complements </a:t>
            </a:r>
            <a:r>
              <a:rPr b="1" lang="en-US" sz="2800">
                <a:latin typeface="Arial"/>
              </a:rPr>
              <a:t>rather than</a:t>
            </a:r>
            <a:r>
              <a:rPr lang="en-US" sz="2800">
                <a:latin typeface="Arial"/>
              </a:rPr>
              <a:t> replaces private key crypto</a:t>
            </a:r>
            <a:endParaRPr/>
          </a:p>
        </p:txBody>
      </p:sp>
    </p:spTree>
  </p:cSld>
  <p:timing>
    <p:tnLst>
      <p:par>
        <p:cTn id="12" dur="indefinite" restart="never" nodeType="tmRoot">
          <p:childTnLst>
            <p:seq>
              <p:cTn id="13" nodeType="mainSeq">
                <p:childTnLst>
                  <p:par>
                    <p:cTn id="14" fill="freeze">
                      <p:stCondLst>
                        <p:cond delay="0"/>
                      </p:stCondLst>
                      <p:childTnLst>
                        <p:par>
                          <p:cTn id="15" fill="freeze">
                            <p:stCondLst>
                              <p:cond delay="0"/>
                            </p:stCondLst>
                            <p:childTnLst>
                              <p:par>
                                <p:cTn id="1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freeze">
                            <p:stCondLst>
                              <p:cond delay="500"/>
                            </p:stCondLst>
                            <p:childTnLst>
                              <p:par>
                                <p:cTn id="2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Public-Key Cryptography</a:t>
            </a:r>
            <a:endParaRPr/>
          </a:p>
        </p:txBody>
      </p:sp>
      <p:sp>
        <p:nvSpPr>
          <p:cNvPr id="131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b="1" lang="en-AU" sz="2800">
                <a:latin typeface="Arial"/>
              </a:rPr>
              <a:t>public-key/two-key/asymmetric</a:t>
            </a:r>
            <a:r>
              <a:rPr lang="en-AU" sz="2800">
                <a:latin typeface="Arial"/>
              </a:rPr>
              <a:t> cryptography involves the use of </a:t>
            </a:r>
            <a:r>
              <a:rPr b="1" lang="en-AU" sz="2800">
                <a:latin typeface="Arial"/>
              </a:rPr>
              <a:t>two</a:t>
            </a:r>
            <a:r>
              <a:rPr lang="en-AU" sz="2800">
                <a:latin typeface="Arial"/>
              </a:rPr>
              <a:t> keys: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a </a:t>
            </a:r>
            <a:r>
              <a:rPr b="1" lang="en-AU" sz="2400">
                <a:latin typeface="Arial"/>
              </a:rPr>
              <a:t>public-key</a:t>
            </a:r>
            <a:r>
              <a:rPr lang="en-AU" sz="2400">
                <a:latin typeface="Arial"/>
              </a:rPr>
              <a:t>, which may be known by anybody, and can be used to </a:t>
            </a:r>
            <a:r>
              <a:rPr b="1" lang="en-AU" sz="2400">
                <a:latin typeface="Arial"/>
              </a:rPr>
              <a:t>encrypt messages</a:t>
            </a:r>
            <a:r>
              <a:rPr lang="en-AU" sz="2400">
                <a:latin typeface="Arial"/>
              </a:rPr>
              <a:t>, and </a:t>
            </a:r>
            <a:r>
              <a:rPr b="1" lang="en-AU" sz="2400">
                <a:latin typeface="Arial"/>
              </a:rPr>
              <a:t>verify signatures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a </a:t>
            </a:r>
            <a:r>
              <a:rPr b="1" lang="en-AU" sz="2400">
                <a:latin typeface="Arial"/>
              </a:rPr>
              <a:t>private-key</a:t>
            </a:r>
            <a:r>
              <a:rPr lang="en-AU" sz="2400">
                <a:latin typeface="Arial"/>
              </a:rPr>
              <a:t>, known only to the recipient, used to </a:t>
            </a:r>
            <a:r>
              <a:rPr b="1" lang="en-AU" sz="2400">
                <a:latin typeface="Arial"/>
              </a:rPr>
              <a:t>decrypt messages</a:t>
            </a:r>
            <a:r>
              <a:rPr lang="en-AU" sz="2400">
                <a:latin typeface="Arial"/>
              </a:rPr>
              <a:t>, and </a:t>
            </a:r>
            <a:r>
              <a:rPr b="1" lang="en-AU" sz="2400">
                <a:latin typeface="Arial"/>
              </a:rPr>
              <a:t>sign</a:t>
            </a:r>
            <a:r>
              <a:rPr lang="en-AU" sz="2400">
                <a:latin typeface="Arial"/>
              </a:rPr>
              <a:t> (create)</a:t>
            </a:r>
            <a:r>
              <a:rPr b="1" lang="en-AU" sz="2400">
                <a:latin typeface="Arial"/>
              </a:rPr>
              <a:t> signatures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is </a:t>
            </a:r>
            <a:r>
              <a:rPr b="1" lang="en-AU" sz="2800">
                <a:latin typeface="Arial"/>
              </a:rPr>
              <a:t>asymmetric</a:t>
            </a:r>
            <a:r>
              <a:rPr lang="en-AU" sz="2800">
                <a:latin typeface="Arial"/>
              </a:rPr>
              <a:t> because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those who encrypt messages or verify signatures </a:t>
            </a:r>
            <a:r>
              <a:rPr b="1" lang="en-AU" sz="2400">
                <a:latin typeface="Arial"/>
              </a:rPr>
              <a:t>cannot</a:t>
            </a:r>
            <a:r>
              <a:rPr lang="en-AU" sz="2400">
                <a:latin typeface="Arial"/>
              </a:rPr>
              <a:t> decrypt messages or create signatures</a:t>
            </a:r>
            <a:endParaRPr/>
          </a:p>
          <a:p>
            <a:pPr>
              <a:buFont typeface="Wingdings" charset="2"/>
              <a:buChar char=""/>
            </a:pPr>
            <a:endParaRPr/>
          </a:p>
        </p:txBody>
      </p:sp>
    </p:spTree>
  </p:cSld>
  <p:timing>
    <p:tnLst>
      <p:par>
        <p:cTn id="23" dur="indefinite" restart="never" nodeType="tmRoot">
          <p:childTnLst>
            <p:seq>
              <p:cTn id="24" nodeType="mainSeq">
                <p:childTnLst>
                  <p:par>
                    <p:cTn id="25" fill="freeze">
                      <p:stCondLst>
                        <p:cond delay="0"/>
                      </p:stCondLst>
                      <p:childTnLst>
                        <p:par>
                          <p:cTn id="26" fill="freeze">
                            <p:stCondLst>
                              <p:cond delay="0"/>
                            </p:stCondLst>
                            <p:childTnLst>
                              <p:par>
                                <p:cTn id="2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freeze">
                            <p:stCondLst>
                              <p:cond delay="500"/>
                            </p:stCondLst>
                            <p:childTnLst>
                              <p:par>
                                <p:cTn id="3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Public-Key Cryptography</a:t>
            </a:r>
            <a:endParaRPr/>
          </a:p>
        </p:txBody>
      </p:sp>
      <p:pic>
        <p:nvPicPr>
          <p:cNvPr id="133" name="Picture 3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444600" y="1281240"/>
            <a:ext cx="8243640" cy="5021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4" dur="indefinite" restart="never" nodeType="tmRoot">
          <p:childTnLst>
            <p:seq>
              <p:cTn id="35" nodeType="mainSeq">
                <p:childTnLst>
                  <p:par>
                    <p:cTn id="36" fill="freeze">
                      <p:stCondLst>
                        <p:cond delay="0"/>
                      </p:stCondLst>
                      <p:childTnLst>
                        <p:par>
                          <p:cTn id="37" fill="freeze">
                            <p:stCondLst>
                              <p:cond delay="0"/>
                            </p:stCondLst>
                            <p:childTnLst>
                              <p:par>
                                <p:cTn id="3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freeze">
                            <p:stCondLst>
                              <p:cond delay="500"/>
                            </p:stCondLst>
                            <p:childTnLst>
                              <p:par>
                                <p:cTn id="4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Why Public-Key Cryptography?</a:t>
            </a:r>
            <a:endParaRPr/>
          </a:p>
        </p:txBody>
      </p:sp>
      <p:sp>
        <p:nvSpPr>
          <p:cNvPr id="135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developed to address two key issues:</a:t>
            </a:r>
            <a:endParaRPr/>
          </a:p>
          <a:p>
            <a:pPr lvl="1">
              <a:buFont typeface="Arial"/>
              <a:buChar char="–"/>
            </a:pPr>
            <a:r>
              <a:rPr b="1" lang="en-US" sz="2400">
                <a:latin typeface="Arial"/>
              </a:rPr>
              <a:t>key distribution</a:t>
            </a:r>
            <a:r>
              <a:rPr lang="en-US" sz="2400">
                <a:latin typeface="Arial"/>
              </a:rPr>
              <a:t> – how to have secure communications in general without having to trust a KDC with your key</a:t>
            </a:r>
            <a:endParaRPr/>
          </a:p>
          <a:p>
            <a:pPr lvl="1">
              <a:buFont typeface="Arial"/>
              <a:buChar char="–"/>
            </a:pPr>
            <a:r>
              <a:rPr b="1" lang="en-US" sz="2400">
                <a:latin typeface="Arial"/>
              </a:rPr>
              <a:t>digital signatures</a:t>
            </a:r>
            <a:r>
              <a:rPr lang="en-US" sz="2400">
                <a:latin typeface="Arial"/>
              </a:rPr>
              <a:t> – how to verify a message comes intact from the claimed sender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public invention due to Whitfield Diffie &amp; Martin Hellman at Stanford Uni in 1976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latin typeface="Arial"/>
              </a:rPr>
              <a:t>known earlier in classified community</a:t>
            </a:r>
            <a:endParaRPr/>
          </a:p>
          <a:p>
            <a:pPr lvl="1">
              <a:buFont typeface="Arial"/>
              <a:buChar char="–"/>
            </a:pPr>
            <a:endParaRPr/>
          </a:p>
        </p:txBody>
      </p:sp>
    </p:spTree>
  </p:cSld>
  <p:timing>
    <p:tnLst>
      <p:par>
        <p:cTn id="45" dur="indefinite" restart="never" nodeType="tmRoot">
          <p:childTnLst>
            <p:seq>
              <p:cTn id="46" nodeType="mainSeq">
                <p:childTnLst>
                  <p:par>
                    <p:cTn id="47" fill="freeze">
                      <p:stCondLst>
                        <p:cond delay="0"/>
                      </p:stCondLst>
                      <p:childTnLst>
                        <p:par>
                          <p:cTn id="48" fill="freeze">
                            <p:stCondLst>
                              <p:cond delay="0"/>
                            </p:stCondLst>
                            <p:childTnLst>
                              <p:par>
                                <p:cTn id="4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freeze">
                            <p:stCondLst>
                              <p:cond delay="500"/>
                            </p:stCondLst>
                            <p:childTnLst>
                              <p:par>
                                <p:cTn id="5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Public-Key Characteristics</a:t>
            </a:r>
            <a:endParaRPr/>
          </a:p>
        </p:txBody>
      </p:sp>
      <p:sp>
        <p:nvSpPr>
          <p:cNvPr id="137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Public-Key algorithms rely on two keys with the characteristics that it is: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computationally infeasible to find decryption key knowing only algorithm &amp; encryption key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computationally easy to en/decrypt messages when the relevant (en/decrypt) key is known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either of the two related keys can be used for encryption, with the other used for decryption (in some schemes)</a:t>
            </a:r>
            <a:endParaRPr/>
          </a:p>
          <a:p>
            <a:pPr lvl="1">
              <a:buFont typeface="Arial"/>
              <a:buChar char="–"/>
            </a:pPr>
            <a:endParaRPr/>
          </a:p>
          <a:p>
            <a:pPr lvl="1">
              <a:buFont typeface="Arial"/>
              <a:buChar char="–"/>
            </a:pPr>
            <a:endParaRPr/>
          </a:p>
        </p:txBody>
      </p:sp>
    </p:spTree>
  </p:cSld>
  <p:timing>
    <p:tnLst>
      <p:par>
        <p:cTn id="56" dur="indefinite" restart="never" nodeType="tmRoot">
          <p:childTnLst>
            <p:seq>
              <p:cTn id="57" nodeType="mainSeq">
                <p:childTnLst>
                  <p:par>
                    <p:cTn id="58" fill="freeze">
                      <p:stCondLst>
                        <p:cond delay="0"/>
                      </p:stCondLst>
                      <p:childTnLst>
                        <p:par>
                          <p:cTn id="59" fill="freeze">
                            <p:stCondLst>
                              <p:cond delay="0"/>
                            </p:stCondLst>
                            <p:childTnLst>
                              <p:par>
                                <p:cTn id="6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freeze">
                            <p:stCondLst>
                              <p:cond delay="500"/>
                            </p:stCondLst>
                            <p:childTnLst>
                              <p:par>
                                <p:cTn id="6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Public-Key Cryptosystems</a:t>
            </a:r>
            <a:endParaRPr/>
          </a:p>
        </p:txBody>
      </p:sp>
      <p:pic>
        <p:nvPicPr>
          <p:cNvPr id="139" name="Picture 3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444600" y="1281240"/>
            <a:ext cx="8243640" cy="5021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7" dur="indefinite" restart="never" nodeType="tmRoot">
          <p:childTnLst>
            <p:seq>
              <p:cTn id="68" nodeType="mainSeq">
                <p:childTnLst>
                  <p:par>
                    <p:cTn id="69" fill="freeze">
                      <p:stCondLst>
                        <p:cond delay="0"/>
                      </p:stCondLst>
                      <p:childTnLst>
                        <p:par>
                          <p:cTn id="70" fill="freeze">
                            <p:stCondLst>
                              <p:cond delay="0"/>
                            </p:stCondLst>
                            <p:childTnLst>
                              <p:par>
                                <p:cTn id="7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freeze">
                            <p:stCondLst>
                              <p:cond delay="500"/>
                            </p:stCondLst>
                            <p:childTnLst>
                              <p:par>
                                <p:cTn id="7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Public-Key Applications</a:t>
            </a:r>
            <a:endParaRPr/>
          </a:p>
        </p:txBody>
      </p:sp>
      <p:sp>
        <p:nvSpPr>
          <p:cNvPr id="141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can classify uses into 3 categories:</a:t>
            </a:r>
            <a:endParaRPr/>
          </a:p>
          <a:p>
            <a:pPr lvl="1">
              <a:buFont typeface="Arial"/>
              <a:buChar char="–"/>
            </a:pPr>
            <a:r>
              <a:rPr b="1" lang="en-US" sz="2400">
                <a:latin typeface="Arial"/>
              </a:rPr>
              <a:t>encryption/decryption</a:t>
            </a:r>
            <a:r>
              <a:rPr lang="en-US" sz="2400">
                <a:latin typeface="Arial"/>
              </a:rPr>
              <a:t> (provide secrecy)</a:t>
            </a:r>
            <a:endParaRPr/>
          </a:p>
          <a:p>
            <a:pPr lvl="1">
              <a:buFont typeface="Arial"/>
              <a:buChar char="–"/>
            </a:pPr>
            <a:r>
              <a:rPr b="1" lang="en-US" sz="2400">
                <a:latin typeface="Arial"/>
              </a:rPr>
              <a:t>digital signatures</a:t>
            </a:r>
            <a:r>
              <a:rPr lang="en-US" sz="2400">
                <a:latin typeface="Arial"/>
              </a:rPr>
              <a:t> (provide authentication)</a:t>
            </a:r>
            <a:endParaRPr/>
          </a:p>
          <a:p>
            <a:pPr lvl="1">
              <a:buFont typeface="Arial"/>
              <a:buChar char="–"/>
            </a:pPr>
            <a:r>
              <a:rPr b="1" lang="en-US" sz="2400">
                <a:latin typeface="Arial"/>
              </a:rPr>
              <a:t>key exchange</a:t>
            </a:r>
            <a:r>
              <a:rPr lang="en-US" sz="2400">
                <a:latin typeface="Arial"/>
              </a:rPr>
              <a:t> (of session keys)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some algorithms are suitable for all uses, others are specific to one</a:t>
            </a:r>
            <a:endParaRPr/>
          </a:p>
        </p:txBody>
      </p:sp>
    </p:spTree>
  </p:cSld>
  <p:timing>
    <p:tnLst>
      <p:par>
        <p:cTn id="78" dur="indefinite" restart="never" nodeType="tmRoot">
          <p:childTnLst>
            <p:seq>
              <p:cTn id="79" nodeType="mainSeq">
                <p:childTnLst>
                  <p:par>
                    <p:cTn id="80" fill="freeze">
                      <p:stCondLst>
                        <p:cond delay="0"/>
                      </p:stCondLst>
                      <p:childTnLst>
                        <p:par>
                          <p:cTn id="81" fill="freeze">
                            <p:stCondLst>
                              <p:cond delay="0"/>
                            </p:stCondLst>
                            <p:childTnLst>
                              <p:par>
                                <p:cTn id="8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freeze">
                            <p:stCondLst>
                              <p:cond delay="500"/>
                            </p:stCondLst>
                            <p:childTnLst>
                              <p:par>
                                <p:cTn id="8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Security of Public Key Schemes</a:t>
            </a:r>
            <a:endParaRPr/>
          </a:p>
        </p:txBody>
      </p:sp>
      <p:sp>
        <p:nvSpPr>
          <p:cNvPr id="143" name="TextShape 2"/>
          <p:cNvSpPr txBox="1"/>
          <p:nvPr/>
        </p:nvSpPr>
        <p:spPr>
          <a:xfrm>
            <a:off x="468360" y="1412640"/>
            <a:ext cx="8229600" cy="504036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like private key schemes brute force </a:t>
            </a:r>
            <a:r>
              <a:rPr b="1" lang="en-AU" sz="2800">
                <a:latin typeface="Arial"/>
              </a:rPr>
              <a:t>exhaustive search</a:t>
            </a:r>
            <a:r>
              <a:rPr lang="en-AU" sz="2800">
                <a:latin typeface="Arial"/>
              </a:rPr>
              <a:t> attack is always theoretically possible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but keys used are too large (&gt;512bits)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security relies on a </a:t>
            </a:r>
            <a:r>
              <a:rPr b="1" lang="en-AU" sz="2800">
                <a:latin typeface="Arial"/>
              </a:rPr>
              <a:t>large enough</a:t>
            </a:r>
            <a:r>
              <a:rPr lang="en-AU" sz="2800">
                <a:latin typeface="Arial"/>
              </a:rPr>
              <a:t> difference in difficulty between </a:t>
            </a:r>
            <a:r>
              <a:rPr b="1" lang="en-AU" sz="2800">
                <a:latin typeface="Arial"/>
              </a:rPr>
              <a:t>easy</a:t>
            </a:r>
            <a:r>
              <a:rPr lang="en-AU" sz="2800">
                <a:latin typeface="Arial"/>
              </a:rPr>
              <a:t> (en/decrypt) and </a:t>
            </a:r>
            <a:r>
              <a:rPr b="1" lang="en-AU" sz="2800">
                <a:latin typeface="Arial"/>
              </a:rPr>
              <a:t>hard</a:t>
            </a:r>
            <a:r>
              <a:rPr lang="en-AU" sz="2800">
                <a:latin typeface="Arial"/>
              </a:rPr>
              <a:t> (cryptanalyse) problems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more generally the </a:t>
            </a:r>
            <a:r>
              <a:rPr b="1" lang="en-AU" sz="2800">
                <a:latin typeface="Arial"/>
              </a:rPr>
              <a:t>hard</a:t>
            </a:r>
            <a:r>
              <a:rPr lang="en-AU" sz="2800">
                <a:latin typeface="Arial"/>
              </a:rPr>
              <a:t> problem is known, its just made too hard to do in practise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requires the use of </a:t>
            </a:r>
            <a:r>
              <a:rPr b="1" lang="en-AU" sz="2800">
                <a:latin typeface="Arial"/>
              </a:rPr>
              <a:t>very large numbers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hence is </a:t>
            </a:r>
            <a:r>
              <a:rPr b="1" lang="en-AU" sz="2800">
                <a:latin typeface="Arial"/>
              </a:rPr>
              <a:t>slow</a:t>
            </a:r>
            <a:r>
              <a:rPr lang="en-AU" sz="2800">
                <a:latin typeface="Arial"/>
              </a:rPr>
              <a:t> compared to private key schemes</a:t>
            </a:r>
            <a:r>
              <a:rPr lang="en-AU" sz="2400">
                <a:latin typeface="Arial"/>
              </a:rPr>
              <a:t> </a:t>
            </a:r>
            <a:endParaRPr/>
          </a:p>
        </p:txBody>
      </p:sp>
    </p:spTree>
  </p:cSld>
  <p:timing>
    <p:tnLst>
      <p:par>
        <p:cTn id="89" dur="indefinite" restart="never" nodeType="tmRoot">
          <p:childTnLst>
            <p:seq>
              <p:cTn id="90" nodeType="mainSeq">
                <p:childTnLst>
                  <p:par>
                    <p:cTn id="91" fill="freeze">
                      <p:stCondLst>
                        <p:cond delay="0"/>
                      </p:stCondLst>
                      <p:childTnLst>
                        <p:par>
                          <p:cTn id="92" fill="freeze">
                            <p:stCondLst>
                              <p:cond delay="0"/>
                            </p:stCondLst>
                            <p:childTnLst>
                              <p:par>
                                <p:cTn id="9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freeze">
                            <p:stCondLst>
                              <p:cond delay="500"/>
                            </p:stCondLst>
                            <p:childTnLst>
                              <p:par>
                                <p:cTn id="9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US" sz="3600">
                <a:latin typeface="Arial"/>
              </a:rPr>
              <a:t>RSA</a:t>
            </a:r>
            <a:endParaRPr/>
          </a:p>
        </p:txBody>
      </p:sp>
      <p:sp>
        <p:nvSpPr>
          <p:cNvPr id="145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by Rivest, Shamir &amp; Adleman  of MIT in 1977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best known &amp; widely used public-key scheme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based on exponentiation in a finite (Galois) field over integers modulo a prime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nb. exponentiation takes O((log n)</a:t>
            </a:r>
            <a:r>
              <a:rPr lang="en-AU" sz="2400" baseline="30000">
                <a:latin typeface="Arial"/>
              </a:rPr>
              <a:t>3</a:t>
            </a:r>
            <a:r>
              <a:rPr lang="en-AU" sz="2400">
                <a:latin typeface="Arial"/>
              </a:rPr>
              <a:t>) operations (easy) 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uses large integers (eg. 1024 bits)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security due to cost of factoring large numbers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nb. factorization takes O(e </a:t>
            </a:r>
            <a:r>
              <a:rPr lang="en-AU" sz="2400" baseline="30000">
                <a:latin typeface="Arial"/>
              </a:rPr>
              <a:t>log n log log n</a:t>
            </a:r>
            <a:r>
              <a:rPr lang="en-AU" sz="2400">
                <a:latin typeface="Arial"/>
              </a:rPr>
              <a:t>) operations (hard) </a:t>
            </a:r>
            <a:endParaRPr/>
          </a:p>
        </p:txBody>
      </p:sp>
    </p:spTree>
  </p:cSld>
  <p:timing>
    <p:tnLst>
      <p:par>
        <p:cTn id="100" dur="indefinite" restart="never" nodeType="tmRoot">
          <p:childTnLst>
            <p:seq>
              <p:cTn id="101" nodeType="mainSeq">
                <p:childTnLst>
                  <p:par>
                    <p:cTn id="102" fill="freeze">
                      <p:stCondLst>
                        <p:cond delay="0"/>
                      </p:stCondLst>
                      <p:childTnLst>
                        <p:par>
                          <p:cTn id="103" fill="freeze">
                            <p:stCondLst>
                              <p:cond delay="0"/>
                            </p:stCondLst>
                            <p:childTnLst>
                              <p:par>
                                <p:cTn id="10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freeze">
                            <p:stCondLst>
                              <p:cond delay="500"/>
                            </p:stCondLst>
                            <p:childTnLst>
                              <p:par>
                                <p:cTn id="10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RSA Key Setup</a:t>
            </a:r>
            <a:endParaRPr/>
          </a:p>
        </p:txBody>
      </p:sp>
      <p:sp>
        <p:nvSpPr>
          <p:cNvPr id="147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each user generates a public/private key pair by: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selecting two large primes at random - </a:t>
            </a:r>
            <a:r>
              <a:rPr lang="en-AU" sz="2800">
                <a:latin typeface="Courier New"/>
              </a:rPr>
              <a:t>p, q</a:t>
            </a:r>
            <a:r>
              <a:rPr lang="en-AU" sz="2800">
                <a:latin typeface="Arial"/>
              </a:rPr>
              <a:t>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computing their system modulus </a:t>
            </a:r>
            <a:r>
              <a:rPr lang="en-AU" sz="2800">
                <a:latin typeface="Courier New"/>
              </a:rPr>
              <a:t>N=p.q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AU" sz="2400">
                <a:latin typeface="Arial"/>
              </a:rPr>
              <a:t>note </a:t>
            </a:r>
            <a:r>
              <a:rPr lang="en-AU" sz="2400">
                <a:latin typeface="Courier New"/>
              </a:rPr>
              <a:t>ø(N)=(p-1)(q-1)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selecting at random the encryption key </a:t>
            </a:r>
            <a:r>
              <a:rPr lang="en-AU" sz="2800">
                <a:latin typeface="Courier New"/>
              </a:rPr>
              <a:t>e</a:t>
            </a:r>
            <a:endParaRPr/>
          </a:p>
          <a:p>
            <a:pPr lvl="2">
              <a:lnSpc>
                <a:spcPct val="90000"/>
              </a:lnSpc>
              <a:buFont typeface="Wingdings" charset="2"/>
              <a:buChar char=""/>
            </a:pPr>
            <a:r>
              <a:rPr lang="en-AU" sz="2000">
                <a:latin typeface="Arial"/>
              </a:rPr>
              <a:t>where 1&lt;</a:t>
            </a:r>
            <a:r>
              <a:rPr lang="en-AU" sz="2000">
                <a:latin typeface="Courier New"/>
              </a:rPr>
              <a:t>e&lt;ø(N), gcd(e,ø(N))=1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solve following equation to find decryption key </a:t>
            </a:r>
            <a:r>
              <a:rPr lang="en-AU" sz="2800">
                <a:latin typeface="Courier New"/>
              </a:rPr>
              <a:t>d</a:t>
            </a:r>
            <a:r>
              <a:rPr lang="en-AU" sz="2800">
                <a:latin typeface="Arial"/>
              </a:rPr>
              <a:t> </a:t>
            </a:r>
            <a:endParaRPr/>
          </a:p>
          <a:p>
            <a:pPr lvl="1">
              <a:lnSpc>
                <a:spcPct val="90000"/>
              </a:lnSpc>
              <a:buFont typeface="Courier New"/>
              <a:buChar char="–"/>
            </a:pPr>
            <a:r>
              <a:rPr lang="en-AU" sz="2400">
                <a:latin typeface="Courier New"/>
              </a:rPr>
              <a:t>e.d=1 mod ø(N) and 0</a:t>
            </a:r>
            <a:r>
              <a:rPr lang="en-AU" sz="2400">
                <a:latin typeface="Courier New"/>
                <a:ea typeface="Courier New"/>
              </a:rPr>
              <a:t>≤</a:t>
            </a:r>
            <a:r>
              <a:rPr lang="en-AU" sz="2400">
                <a:latin typeface="Courier New"/>
              </a:rPr>
              <a:t>d</a:t>
            </a:r>
            <a:r>
              <a:rPr lang="en-AU" sz="2400">
                <a:latin typeface="Courier New"/>
                <a:ea typeface="Courier New"/>
              </a:rPr>
              <a:t>≤</a:t>
            </a:r>
            <a:r>
              <a:rPr lang="en-AU" sz="2400">
                <a:latin typeface="Courier New"/>
              </a:rPr>
              <a:t>N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publish their public encryption key: KU={e,N}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keep secret private decryption key: KR={d,p,q} </a:t>
            </a:r>
            <a:endParaRPr/>
          </a:p>
        </p:txBody>
      </p:sp>
    </p:spTree>
  </p:cSld>
  <p:timing>
    <p:tnLst>
      <p:par>
        <p:cTn id="111" dur="indefinite" restart="never" nodeType="tmRoot">
          <p:childTnLst>
            <p:seq>
              <p:cTn id="112" nodeType="mainSeq">
                <p:childTnLst>
                  <p:par>
                    <p:cTn id="113" fill="freeze">
                      <p:stCondLst>
                        <p:cond delay="0"/>
                      </p:stCondLst>
                      <p:childTnLst>
                        <p:par>
                          <p:cTn id="114" fill="freeze">
                            <p:stCondLst>
                              <p:cond delay="0"/>
                            </p:stCondLst>
                            <p:childTnLst>
                              <p:par>
                                <p:cTn id="11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freeze">
                            <p:stCondLst>
                              <p:cond delay="500"/>
                            </p:stCondLst>
                            <p:childTnLst>
                              <p:par>
                                <p:cTn id="11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US" sz="3600">
                <a:latin typeface="Arial"/>
              </a:rPr>
              <a:t>RSA Use</a:t>
            </a:r>
            <a:endParaRPr/>
          </a:p>
        </p:txBody>
      </p:sp>
      <p:sp>
        <p:nvSpPr>
          <p:cNvPr id="149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to encrypt a message M the sender: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obtains </a:t>
            </a:r>
            <a:r>
              <a:rPr b="1" lang="en-AU" sz="2400">
                <a:latin typeface="Arial"/>
              </a:rPr>
              <a:t>public key</a:t>
            </a:r>
            <a:r>
              <a:rPr lang="en-AU" sz="2400">
                <a:latin typeface="Arial"/>
              </a:rPr>
              <a:t> of recipient </a:t>
            </a:r>
            <a:r>
              <a:rPr lang="en-AU" sz="2400">
                <a:latin typeface="Courier New"/>
              </a:rPr>
              <a:t>KU={e,N}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computes: </a:t>
            </a:r>
            <a:r>
              <a:rPr lang="en-AU" sz="2400">
                <a:latin typeface="Courier New"/>
              </a:rPr>
              <a:t>C=M</a:t>
            </a:r>
            <a:r>
              <a:rPr lang="en-AU" sz="2400" baseline="30000">
                <a:latin typeface="Courier New"/>
              </a:rPr>
              <a:t>e</a:t>
            </a:r>
            <a:r>
              <a:rPr lang="en-AU" sz="2400">
                <a:latin typeface="Courier New"/>
              </a:rPr>
              <a:t> mod N</a:t>
            </a:r>
            <a:r>
              <a:rPr lang="en-AU" sz="2400">
                <a:latin typeface="Arial"/>
              </a:rPr>
              <a:t>, where </a:t>
            </a:r>
            <a:r>
              <a:rPr lang="en-AU" sz="2400">
                <a:latin typeface="Courier New"/>
              </a:rPr>
              <a:t>0</a:t>
            </a:r>
            <a:r>
              <a:rPr lang="en-AU" sz="2400">
                <a:latin typeface="Courier New"/>
                <a:ea typeface="Courier New"/>
              </a:rPr>
              <a:t>≤</a:t>
            </a:r>
            <a:r>
              <a:rPr lang="en-AU" sz="2400">
                <a:latin typeface="Courier New"/>
              </a:rPr>
              <a:t>M</a:t>
            </a:r>
            <a:r>
              <a:rPr lang="en-AU" sz="2400">
                <a:latin typeface="Courier New"/>
                <a:ea typeface="Courier New"/>
              </a:rPr>
              <a:t>&lt;</a:t>
            </a:r>
            <a:r>
              <a:rPr lang="en-AU" sz="2400">
                <a:latin typeface="Courier New"/>
              </a:rPr>
              <a:t>N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to decrypt the ciphertext C the owner: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 </a:t>
            </a:r>
            <a:r>
              <a:rPr lang="en-AU" sz="2400">
                <a:latin typeface="Arial"/>
              </a:rPr>
              <a:t>uses their private key </a:t>
            </a:r>
            <a:r>
              <a:rPr lang="en-AU" sz="2400">
                <a:latin typeface="Courier New"/>
              </a:rPr>
              <a:t>KR={d,p,q}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computes: </a:t>
            </a:r>
            <a:r>
              <a:rPr lang="en-AU" sz="2400">
                <a:latin typeface="Courier New"/>
              </a:rPr>
              <a:t>M=C</a:t>
            </a:r>
            <a:r>
              <a:rPr lang="en-AU" sz="2400" baseline="30000">
                <a:latin typeface="Courier New"/>
              </a:rPr>
              <a:t>d</a:t>
            </a:r>
            <a:r>
              <a:rPr lang="en-AU" sz="2400">
                <a:latin typeface="Courier New"/>
              </a:rPr>
              <a:t> mod N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note that the message M must be smaller than the modulus N (block if needed)</a:t>
            </a:r>
            <a:endParaRPr/>
          </a:p>
        </p:txBody>
      </p:sp>
    </p:spTree>
  </p:cSld>
  <p:timing>
    <p:tnLst>
      <p:par>
        <p:cTn id="122" dur="indefinite" restart="never" nodeType="tmRoot">
          <p:childTnLst>
            <p:seq>
              <p:cTn id="123" nodeType="mainSeq">
                <p:childTnLst>
                  <p:par>
                    <p:cTn id="124" fill="freeze">
                      <p:stCondLst>
                        <p:cond delay="0"/>
                      </p:stCondLst>
                      <p:childTnLst>
                        <p:par>
                          <p:cTn id="125" fill="freeze">
                            <p:stCondLst>
                              <p:cond delay="0"/>
                            </p:stCondLst>
                            <p:childTnLst>
                              <p:par>
                                <p:cTn id="12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freeze">
                            <p:stCondLst>
                              <p:cond delay="500"/>
                            </p:stCondLst>
                            <p:childTnLst>
                              <p:par>
                                <p:cTn id="13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Prime Numbers</a:t>
            </a:r>
            <a:endParaRPr/>
          </a:p>
        </p:txBody>
      </p:sp>
      <p:sp>
        <p:nvSpPr>
          <p:cNvPr id="151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prime numbers only have divisors of 1 and self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they cannot be written as a product of other numbers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note: 1 is prime, but is generally not of interest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eg. 2,3,5,7 are prime, 4,6,8,9,10 are not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prime numbers are central to number theory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list of prime number less than 200 is: 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r>
              <a:rPr lang="en-AU" sz="2000">
                <a:latin typeface="Courier New"/>
              </a:rPr>
              <a:t>	</a:t>
            </a:r>
            <a:r>
              <a:rPr lang="en-AU" sz="2000">
                <a:latin typeface="Courier New"/>
              </a:rPr>
              <a:t>2 3 5 7 11 13 17 19 23 29 31 37 41 43 47 53 59 61 67 71 73 79 83 89 97 101 103 107 109 113 127 131 137 139 149 151 157 163 167 173 179 181 191 193 197 199</a:t>
            </a:r>
            <a:r>
              <a:rPr lang="en-AU" sz="2400">
                <a:latin typeface="Arial"/>
              </a:rPr>
              <a:t>  </a:t>
            </a:r>
            <a:endParaRPr/>
          </a:p>
        </p:txBody>
      </p:sp>
    </p:spTree>
  </p:cSld>
  <p:timing>
    <p:tnLst>
      <p:par>
        <p:cTn id="133" dur="indefinite" restart="never" nodeType="tmRoot">
          <p:childTnLst>
            <p:seq>
              <p:cTn id="134" nodeType="mainSeq">
                <p:childTnLst>
                  <p:par>
                    <p:cTn id="135" fill="freeze">
                      <p:stCondLst>
                        <p:cond delay="0"/>
                      </p:stCondLst>
                      <p:childTnLst>
                        <p:par>
                          <p:cTn id="136" fill="freeze">
                            <p:stCondLst>
                              <p:cond delay="0"/>
                            </p:stCondLst>
                            <p:childTnLst>
                              <p:par>
                                <p:cTn id="13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freeze">
                            <p:stCondLst>
                              <p:cond delay="500"/>
                            </p:stCondLst>
                            <p:childTnLst>
                              <p:par>
                                <p:cTn id="14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Prime Factorisation</a:t>
            </a:r>
            <a:endParaRPr/>
          </a:p>
        </p:txBody>
      </p:sp>
      <p:sp>
        <p:nvSpPr>
          <p:cNvPr id="153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to </a:t>
            </a:r>
            <a:r>
              <a:rPr b="1" lang="en-AU" sz="2800">
                <a:latin typeface="Arial"/>
              </a:rPr>
              <a:t>factor</a:t>
            </a:r>
            <a:r>
              <a:rPr lang="en-AU" sz="2800">
                <a:latin typeface="Arial"/>
              </a:rPr>
              <a:t> a number </a:t>
            </a:r>
            <a:r>
              <a:rPr lang="en-AU" sz="2800">
                <a:latin typeface="Courier New"/>
              </a:rPr>
              <a:t>n</a:t>
            </a:r>
            <a:r>
              <a:rPr lang="en-AU" sz="2800">
                <a:latin typeface="Arial"/>
              </a:rPr>
              <a:t> is to write it as a product of other numbers: </a:t>
            </a:r>
            <a:r>
              <a:rPr lang="en-AU" sz="2800">
                <a:latin typeface="Courier New"/>
              </a:rPr>
              <a:t>n=a × b × c</a:t>
            </a:r>
            <a:r>
              <a:rPr lang="en-AU" sz="2800">
                <a:latin typeface="Arial"/>
              </a:rPr>
              <a:t>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note that factoring a number is relatively hard compared to multiplying the factors together to generate the number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the</a:t>
            </a:r>
            <a:r>
              <a:rPr b="1" lang="en-AU" sz="2800">
                <a:latin typeface="Arial"/>
              </a:rPr>
              <a:t> prime factorisation</a:t>
            </a:r>
            <a:r>
              <a:rPr lang="en-AU" sz="2800">
                <a:latin typeface="Arial"/>
              </a:rPr>
              <a:t> of a number </a:t>
            </a:r>
            <a:r>
              <a:rPr lang="en-AU" sz="2800">
                <a:latin typeface="Courier New"/>
              </a:rPr>
              <a:t>n</a:t>
            </a:r>
            <a:r>
              <a:rPr lang="en-AU" sz="2800">
                <a:latin typeface="Arial"/>
              </a:rPr>
              <a:t> is when its written as a product of primes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eg. </a:t>
            </a:r>
            <a:r>
              <a:rPr lang="en-AU" sz="2400">
                <a:latin typeface="Courier New"/>
              </a:rPr>
              <a:t>91=7×13 ; 3600=2</a:t>
            </a:r>
            <a:r>
              <a:rPr lang="en-AU" sz="2400" baseline="30000">
                <a:latin typeface="Courier New"/>
              </a:rPr>
              <a:t>4</a:t>
            </a:r>
            <a:r>
              <a:rPr lang="en-AU" sz="2400">
                <a:latin typeface="Courier New"/>
              </a:rPr>
              <a:t>×3</a:t>
            </a:r>
            <a:r>
              <a:rPr lang="en-AU" sz="2400" baseline="30000">
                <a:latin typeface="Courier New"/>
              </a:rPr>
              <a:t>2</a:t>
            </a:r>
            <a:r>
              <a:rPr lang="en-AU" sz="2400">
                <a:latin typeface="Courier New"/>
              </a:rPr>
              <a:t>×5</a:t>
            </a:r>
            <a:r>
              <a:rPr lang="en-AU" sz="2400" baseline="30000">
                <a:latin typeface="Courier New"/>
              </a:rPr>
              <a:t>2</a:t>
            </a:r>
            <a:r>
              <a:rPr lang="en-AU" sz="2400">
                <a:latin typeface="Arial"/>
              </a:rPr>
              <a:t> </a:t>
            </a:r>
            <a:endParaRPr/>
          </a:p>
        </p:txBody>
      </p:sp>
      <p:pic>
        <p:nvPicPr>
          <p:cNvPr id="154" name="Picture 4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5929200" y="4500720"/>
            <a:ext cx="1908360" cy="1031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44" dur="indefinite" restart="never" nodeType="tmRoot">
          <p:childTnLst>
            <p:seq>
              <p:cTn id="145" nodeType="mainSeq">
                <p:childTnLst>
                  <p:par>
                    <p:cTn id="146" fill="freeze">
                      <p:stCondLst>
                        <p:cond delay="0"/>
                      </p:stCondLst>
                      <p:childTnLst>
                        <p:par>
                          <p:cTn id="147" fill="freeze">
                            <p:stCondLst>
                              <p:cond delay="0"/>
                            </p:stCondLst>
                            <p:childTnLst>
                              <p:par>
                                <p:cTn id="14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freeze">
                            <p:stCondLst>
                              <p:cond delay="500"/>
                            </p:stCondLst>
                            <p:childTnLst>
                              <p:par>
                                <p:cTn id="15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Relatively Prime Numbers &amp; GCD</a:t>
            </a:r>
            <a:endParaRPr/>
          </a:p>
        </p:txBody>
      </p:sp>
      <p:sp>
        <p:nvSpPr>
          <p:cNvPr id="156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two numbers </a:t>
            </a:r>
            <a:r>
              <a:rPr lang="en-AU" sz="2800">
                <a:latin typeface="Courier New"/>
              </a:rPr>
              <a:t>a, b</a:t>
            </a:r>
            <a:r>
              <a:rPr lang="en-AU" sz="2800">
                <a:latin typeface="Arial"/>
              </a:rPr>
              <a:t> are </a:t>
            </a:r>
            <a:r>
              <a:rPr b="1" lang="en-AU" sz="2800">
                <a:latin typeface="Arial"/>
              </a:rPr>
              <a:t>relatively prime</a:t>
            </a:r>
            <a:r>
              <a:rPr lang="en-AU" sz="2800">
                <a:latin typeface="Arial"/>
              </a:rPr>
              <a:t> if have </a:t>
            </a:r>
            <a:r>
              <a:rPr b="1" lang="en-AU" sz="2800">
                <a:latin typeface="Arial"/>
              </a:rPr>
              <a:t>no common divisors</a:t>
            </a:r>
            <a:r>
              <a:rPr lang="en-AU" sz="2800">
                <a:latin typeface="Arial"/>
              </a:rPr>
              <a:t> apart from 1 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AU" sz="2400">
                <a:latin typeface="Arial"/>
              </a:rPr>
              <a:t>eg. 8 &amp; 15 are relatively prime since factors of 8 are 1,2,4,8 and of 15 are 1,3,5,15 and 1 is the only common factor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US" sz="2800">
                <a:latin typeface="Arial"/>
              </a:rPr>
              <a:t>conversely can determine the greatest common divisor by comparing their prime factorizations and using least powers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eg. </a:t>
            </a:r>
            <a:r>
              <a:rPr lang="en-US" sz="2400">
                <a:latin typeface="Courier New"/>
              </a:rPr>
              <a:t>300</a:t>
            </a:r>
            <a:r>
              <a:rPr lang="en-AU" sz="2400">
                <a:latin typeface="Courier New"/>
              </a:rPr>
              <a:t>=2</a:t>
            </a:r>
            <a:r>
              <a:rPr lang="en-AU" sz="2400" baseline="30000">
                <a:latin typeface="Courier New"/>
              </a:rPr>
              <a:t>1</a:t>
            </a:r>
            <a:r>
              <a:rPr lang="en-AU" sz="2400">
                <a:latin typeface="Courier New"/>
              </a:rPr>
              <a:t>×3</a:t>
            </a:r>
            <a:r>
              <a:rPr lang="en-AU" sz="2400" baseline="30000">
                <a:latin typeface="Courier New"/>
              </a:rPr>
              <a:t>1</a:t>
            </a:r>
            <a:r>
              <a:rPr lang="en-AU" sz="2400">
                <a:latin typeface="Courier New"/>
              </a:rPr>
              <a:t>×5</a:t>
            </a:r>
            <a:r>
              <a:rPr lang="en-AU" sz="2400" baseline="30000">
                <a:latin typeface="Courier New"/>
              </a:rPr>
              <a:t>2</a:t>
            </a:r>
            <a:r>
              <a:rPr lang="en-AU" sz="2400">
                <a:latin typeface="Courier New"/>
              </a:rPr>
              <a:t> 18=2</a:t>
            </a:r>
            <a:r>
              <a:rPr lang="en-AU" sz="2400" baseline="30000">
                <a:latin typeface="Courier New"/>
              </a:rPr>
              <a:t>1</a:t>
            </a:r>
            <a:r>
              <a:rPr lang="en-AU" sz="2400">
                <a:latin typeface="Courier New"/>
              </a:rPr>
              <a:t>×3</a:t>
            </a:r>
            <a:r>
              <a:rPr lang="en-AU" sz="2400" baseline="30000">
                <a:latin typeface="Courier New"/>
              </a:rPr>
              <a:t>2</a:t>
            </a:r>
            <a:r>
              <a:rPr lang="en-AU" sz="2400">
                <a:latin typeface="Courier New"/>
              </a:rPr>
              <a:t> </a:t>
            </a:r>
            <a:r>
              <a:rPr lang="en-AU" sz="2400">
                <a:latin typeface="Arial"/>
              </a:rPr>
              <a:t>hence</a:t>
            </a:r>
            <a:r>
              <a:rPr lang="en-AU" sz="2400">
                <a:latin typeface="Courier New"/>
              </a:rPr>
              <a:t> GCD(18,300)=2</a:t>
            </a:r>
            <a:r>
              <a:rPr lang="en-AU" sz="2400" baseline="30000">
                <a:latin typeface="Courier New"/>
              </a:rPr>
              <a:t>1</a:t>
            </a:r>
            <a:r>
              <a:rPr lang="en-AU" sz="2400">
                <a:latin typeface="Courier New"/>
              </a:rPr>
              <a:t>×3</a:t>
            </a:r>
            <a:r>
              <a:rPr lang="en-AU" sz="2400" baseline="30000">
                <a:latin typeface="Courier New"/>
              </a:rPr>
              <a:t>1</a:t>
            </a:r>
            <a:r>
              <a:rPr lang="en-AU" sz="2400">
                <a:latin typeface="Courier New"/>
              </a:rPr>
              <a:t>×5</a:t>
            </a:r>
            <a:r>
              <a:rPr lang="en-AU" sz="2400" baseline="30000">
                <a:latin typeface="Courier New"/>
              </a:rPr>
              <a:t>0</a:t>
            </a:r>
            <a:r>
              <a:rPr lang="en-AU" sz="2400">
                <a:latin typeface="Courier New"/>
              </a:rPr>
              <a:t>=6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endParaRPr/>
          </a:p>
        </p:txBody>
      </p:sp>
    </p:spTree>
  </p:cSld>
  <p:timing>
    <p:tnLst>
      <p:par>
        <p:cTn id="155" dur="indefinite" restart="never" nodeType="tmRoot">
          <p:childTnLst>
            <p:seq>
              <p:cTn id="156" nodeType="mainSeq">
                <p:childTnLst>
                  <p:par>
                    <p:cTn id="157" fill="freeze">
                      <p:stCondLst>
                        <p:cond delay="0"/>
                      </p:stCondLst>
                      <p:childTnLst>
                        <p:par>
                          <p:cTn id="158" fill="freeze">
                            <p:stCondLst>
                              <p:cond delay="0"/>
                            </p:stCondLst>
                            <p:childTnLst>
                              <p:par>
                                <p:cTn id="15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6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freeze">
                            <p:stCondLst>
                              <p:cond delay="500"/>
                            </p:stCondLst>
                            <p:childTnLst>
                              <p:par>
                                <p:cTn id="16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6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Fermat's Theorem</a:t>
            </a:r>
            <a:endParaRPr/>
          </a:p>
        </p:txBody>
      </p:sp>
      <p:sp>
        <p:nvSpPr>
          <p:cNvPr id="158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AU" sz="2800">
                <a:latin typeface="Courier New"/>
              </a:rPr>
              <a:t>a</a:t>
            </a:r>
            <a:r>
              <a:rPr lang="en-AU" sz="2800" baseline="30000">
                <a:latin typeface="Courier New"/>
              </a:rPr>
              <a:t>p-1</a:t>
            </a:r>
            <a:r>
              <a:rPr lang="en-AU" sz="2800">
                <a:latin typeface="Courier New"/>
              </a:rPr>
              <a:t> mod p = 1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where </a:t>
            </a:r>
            <a:r>
              <a:rPr lang="en-AU" sz="2400">
                <a:latin typeface="Courier New"/>
              </a:rPr>
              <a:t>p</a:t>
            </a:r>
            <a:r>
              <a:rPr lang="en-AU" sz="2400">
                <a:latin typeface="Arial"/>
              </a:rPr>
              <a:t> is prime and </a:t>
            </a:r>
            <a:r>
              <a:rPr lang="en-AU" sz="2400">
                <a:latin typeface="Courier New"/>
              </a:rPr>
              <a:t>gcd(a,p)=1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also known as Fermat’s Little Theorem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useful in public key and primality testing</a:t>
            </a:r>
            <a:endParaRPr/>
          </a:p>
        </p:txBody>
      </p:sp>
    </p:spTree>
  </p:cSld>
  <p:timing>
    <p:tnLst>
      <p:par>
        <p:cTn id="166" dur="indefinite" restart="never" nodeType="tmRoot">
          <p:childTnLst>
            <p:seq>
              <p:cTn id="167" nodeType="mainSeq">
                <p:childTnLst>
                  <p:par>
                    <p:cTn id="168" fill="freeze">
                      <p:stCondLst>
                        <p:cond delay="0"/>
                      </p:stCondLst>
                      <p:childTnLst>
                        <p:par>
                          <p:cTn id="169" fill="freeze">
                            <p:stCondLst>
                              <p:cond delay="0"/>
                            </p:stCondLst>
                            <p:childTnLst>
                              <p:par>
                                <p:cTn id="17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freeze">
                            <p:stCondLst>
                              <p:cond delay="500"/>
                            </p:stCondLst>
                            <p:childTnLst>
                              <p:par>
                                <p:cTn id="17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Euler Totient Function </a:t>
            </a:r>
            <a:r>
              <a:rPr b="1" lang="en-AU" sz="3600">
                <a:latin typeface="Courier New"/>
              </a:rPr>
              <a:t>ø(n)</a:t>
            </a:r>
            <a:endParaRPr/>
          </a:p>
        </p:txBody>
      </p:sp>
      <p:sp>
        <p:nvSpPr>
          <p:cNvPr id="160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when doing arithmetic modulo n </a:t>
            </a:r>
            <a:endParaRPr/>
          </a:p>
          <a:p>
            <a:pPr>
              <a:buFont typeface="Wingdings" charset="2"/>
              <a:buChar char=""/>
            </a:pPr>
            <a:r>
              <a:rPr b="1" lang="en-AU" sz="2800">
                <a:latin typeface="Arial"/>
              </a:rPr>
              <a:t>complete set of residues</a:t>
            </a:r>
            <a:r>
              <a:rPr lang="en-AU" sz="2800">
                <a:latin typeface="Arial"/>
              </a:rPr>
              <a:t> is: </a:t>
            </a:r>
            <a:r>
              <a:rPr lang="en-AU" sz="2800">
                <a:latin typeface="Courier New"/>
              </a:rPr>
              <a:t>0..n-1</a:t>
            </a:r>
            <a:r>
              <a:rPr lang="en-AU" sz="2800">
                <a:latin typeface="Arial"/>
              </a:rPr>
              <a:t> </a:t>
            </a:r>
            <a:endParaRPr/>
          </a:p>
          <a:p>
            <a:pPr>
              <a:buFont typeface="Wingdings" charset="2"/>
              <a:buChar char=""/>
            </a:pPr>
            <a:r>
              <a:rPr b="1" lang="en-AU" sz="2800">
                <a:latin typeface="Arial"/>
              </a:rPr>
              <a:t>reduced set of residues</a:t>
            </a:r>
            <a:r>
              <a:rPr lang="en-AU" sz="2800">
                <a:latin typeface="Arial"/>
              </a:rPr>
              <a:t> is those numbers (residues) which are relatively prime to n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eg for n=10,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complete set of residues is {0,1,2,3,4,5,6,7,8,9}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reduced set of residues is {1,3,7,9}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number of elements in reduced set of residues is called the </a:t>
            </a:r>
            <a:r>
              <a:rPr b="1" lang="en-AU" sz="2800">
                <a:latin typeface="Arial"/>
              </a:rPr>
              <a:t>Euler Totient Function ø(n)</a:t>
            </a:r>
            <a:r>
              <a:rPr lang="en-AU" sz="2800">
                <a:latin typeface="Arial"/>
              </a:rPr>
              <a:t> </a:t>
            </a:r>
            <a:endParaRPr/>
          </a:p>
        </p:txBody>
      </p:sp>
    </p:spTree>
  </p:cSld>
  <p:timing>
    <p:tnLst>
      <p:par>
        <p:cTn id="177" dur="indefinite" restart="never" nodeType="tmRoot">
          <p:childTnLst>
            <p:seq>
              <p:cTn id="178" nodeType="mainSeq">
                <p:childTnLst>
                  <p:par>
                    <p:cTn id="179" fill="freeze">
                      <p:stCondLst>
                        <p:cond delay="0"/>
                      </p:stCondLst>
                      <p:childTnLst>
                        <p:par>
                          <p:cTn id="180" fill="freeze">
                            <p:stCondLst>
                              <p:cond delay="0"/>
                            </p:stCondLst>
                            <p:childTnLst>
                              <p:par>
                                <p:cTn id="18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freeze">
                            <p:stCondLst>
                              <p:cond delay="500"/>
                            </p:stCondLst>
                            <p:childTnLst>
                              <p:par>
                                <p:cTn id="18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Euler Totient Function </a:t>
            </a:r>
            <a:r>
              <a:rPr b="1" lang="en-AU" sz="3600">
                <a:latin typeface="Courier New"/>
              </a:rPr>
              <a:t>ø(n)</a:t>
            </a:r>
            <a:endParaRPr/>
          </a:p>
        </p:txBody>
      </p:sp>
      <p:sp>
        <p:nvSpPr>
          <p:cNvPr id="162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to compute ø(n) need to count number of elements to be excluded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in general need prime factorization, but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for p (p prime) </a:t>
            </a:r>
            <a:r>
              <a:rPr lang="en-AU" sz="2400">
                <a:latin typeface="Arial"/>
              </a:rPr>
              <a:t>	</a:t>
            </a:r>
            <a:r>
              <a:rPr lang="en-AU" sz="2400">
                <a:latin typeface="Courier New"/>
              </a:rPr>
              <a:t>ø(p) = p-1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for p.q (p,q prime)</a:t>
            </a:r>
            <a:r>
              <a:rPr lang="en-AU" sz="2400">
                <a:latin typeface="Arial"/>
              </a:rPr>
              <a:t>	</a:t>
            </a:r>
            <a:r>
              <a:rPr lang="en-AU" sz="2400">
                <a:latin typeface="Courier New"/>
              </a:rPr>
              <a:t>ø(p.q) = (p-1)(q-1)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eg.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r>
              <a:rPr lang="en-AU" sz="2400">
                <a:latin typeface="Courier New"/>
              </a:rPr>
              <a:t>ø(37) = 36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r>
              <a:rPr lang="en-AU" sz="2400">
                <a:latin typeface="Courier New"/>
              </a:rPr>
              <a:t>ø(21) = (3–1)×(7–1) = 2×6 = 12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endParaRPr/>
          </a:p>
        </p:txBody>
      </p:sp>
    </p:spTree>
  </p:cSld>
  <p:timing>
    <p:tnLst>
      <p:par>
        <p:cTn id="188" dur="indefinite" restart="never" nodeType="tmRoot">
          <p:childTnLst>
            <p:seq>
              <p:cTn id="189" nodeType="mainSeq">
                <p:childTnLst>
                  <p:par>
                    <p:cTn id="190" fill="freeze">
                      <p:stCondLst>
                        <p:cond delay="0"/>
                      </p:stCondLst>
                      <p:childTnLst>
                        <p:par>
                          <p:cTn id="191" fill="freeze">
                            <p:stCondLst>
                              <p:cond delay="0"/>
                            </p:stCondLst>
                            <p:childTnLst>
                              <p:par>
                                <p:cTn id="19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freeze">
                            <p:stCondLst>
                              <p:cond delay="500"/>
                            </p:stCondLst>
                            <p:childTnLst>
                              <p:par>
                                <p:cTn id="19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9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Euler's Theorem</a:t>
            </a:r>
            <a:endParaRPr/>
          </a:p>
        </p:txBody>
      </p:sp>
      <p:sp>
        <p:nvSpPr>
          <p:cNvPr id="164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a generalisation of Fermat's Theorem </a:t>
            </a:r>
            <a:endParaRPr/>
          </a:p>
          <a:p>
            <a:pPr>
              <a:lnSpc>
                <a:spcPct val="100000"/>
              </a:lnSpc>
              <a:buFont typeface="Wingdings" charset="2"/>
              <a:buChar char=""/>
            </a:pPr>
            <a:r>
              <a:rPr lang="en-AU" sz="2800">
                <a:latin typeface="Courier New"/>
              </a:rPr>
              <a:t>a</a:t>
            </a:r>
            <a:r>
              <a:rPr lang="en-AU" sz="2800" baseline="30000">
                <a:latin typeface="Courier New"/>
              </a:rPr>
              <a:t>ø(n)</a:t>
            </a:r>
            <a:r>
              <a:rPr lang="en-AU" sz="2800">
                <a:latin typeface="Courier New"/>
              </a:rPr>
              <a:t>mod N = 1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where </a:t>
            </a:r>
            <a:r>
              <a:rPr lang="en-AU" sz="2400">
                <a:latin typeface="Courier New"/>
              </a:rPr>
              <a:t>gcd(a,N)=1</a:t>
            </a:r>
            <a:endParaRPr/>
          </a:p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eg.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r>
              <a:rPr i="1" lang="en-AU" sz="2400">
                <a:latin typeface="Courier New"/>
              </a:rPr>
              <a:t>a</a:t>
            </a:r>
            <a:r>
              <a:rPr lang="en-AU" sz="2400">
                <a:latin typeface="Courier New"/>
              </a:rPr>
              <a:t>=3;</a:t>
            </a:r>
            <a:r>
              <a:rPr i="1" lang="en-AU" sz="2400">
                <a:latin typeface="Courier New"/>
              </a:rPr>
              <a:t>n</a:t>
            </a:r>
            <a:r>
              <a:rPr lang="en-AU" sz="2400">
                <a:latin typeface="Courier New"/>
              </a:rPr>
              <a:t>=10; ø(10)=4; 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r>
              <a:rPr lang="en-AU" sz="2400">
                <a:latin typeface="Courier New"/>
              </a:rPr>
              <a:t>hence 3</a:t>
            </a:r>
            <a:r>
              <a:rPr lang="en-AU" sz="2400" baseline="30000">
                <a:latin typeface="Courier New"/>
              </a:rPr>
              <a:t>4 </a:t>
            </a:r>
            <a:r>
              <a:rPr lang="en-AU" sz="2400">
                <a:latin typeface="Courier New"/>
              </a:rPr>
              <a:t>= 81 = 1 mod 10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r>
              <a:rPr i="1" lang="en-AU" sz="2400">
                <a:latin typeface="Courier New"/>
              </a:rPr>
              <a:t>a</a:t>
            </a:r>
            <a:r>
              <a:rPr lang="en-AU" sz="2400">
                <a:latin typeface="Courier New"/>
              </a:rPr>
              <a:t>=2;</a:t>
            </a:r>
            <a:r>
              <a:rPr i="1" lang="en-AU" sz="2400">
                <a:latin typeface="Courier New"/>
              </a:rPr>
              <a:t>n</a:t>
            </a:r>
            <a:r>
              <a:rPr lang="en-AU" sz="2400">
                <a:latin typeface="Courier New"/>
              </a:rPr>
              <a:t>=11; ø(11)=10;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r>
              <a:rPr lang="en-AU" sz="2400">
                <a:latin typeface="Courier New"/>
              </a:rPr>
              <a:t>hence 2</a:t>
            </a:r>
            <a:r>
              <a:rPr lang="en-AU" sz="2400" baseline="30000">
                <a:latin typeface="Courier New"/>
              </a:rPr>
              <a:t>10 </a:t>
            </a:r>
            <a:r>
              <a:rPr lang="en-AU" sz="2400">
                <a:latin typeface="Courier New"/>
              </a:rPr>
              <a:t>= 1024 = 1 mod 11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endParaRPr/>
          </a:p>
          <a:p>
            <a:pPr>
              <a:buFont typeface="Wingdings" charset="2"/>
              <a:buChar char=""/>
            </a:pPr>
            <a:endParaRPr/>
          </a:p>
          <a:p>
            <a:pPr>
              <a:buFont typeface="Wingdings" charset="2"/>
              <a:buChar char=""/>
            </a:pPr>
            <a:endParaRPr/>
          </a:p>
        </p:txBody>
      </p:sp>
    </p:spTree>
  </p:cSld>
  <p:timing>
    <p:tnLst>
      <p:par>
        <p:cTn id="199" dur="indefinite" restart="never" nodeType="tmRoot">
          <p:childTnLst>
            <p:seq>
              <p:cTn id="200" nodeType="mainSeq">
                <p:childTnLst>
                  <p:par>
                    <p:cTn id="201" fill="freeze">
                      <p:stCondLst>
                        <p:cond delay="0"/>
                      </p:stCondLst>
                      <p:childTnLst>
                        <p:par>
                          <p:cTn id="202" fill="freeze">
                            <p:stCondLst>
                              <p:cond delay="0"/>
                            </p:stCondLst>
                            <p:childTnLst>
                              <p:par>
                                <p:cTn id="20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freeze">
                            <p:stCondLst>
                              <p:cond delay="500"/>
                            </p:stCondLst>
                            <p:childTnLst>
                              <p:par>
                                <p:cTn id="20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0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US" sz="3600">
                <a:latin typeface="Arial"/>
              </a:rPr>
              <a:t>Why RSA Works</a:t>
            </a:r>
            <a:endParaRPr/>
          </a:p>
        </p:txBody>
      </p:sp>
      <p:sp>
        <p:nvSpPr>
          <p:cNvPr id="166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8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because of Euler's Theorem:</a:t>
            </a:r>
            <a:endParaRPr/>
          </a:p>
          <a:p>
            <a:pPr>
              <a:lnSpc>
                <a:spcPct val="80000"/>
              </a:lnSpc>
              <a:buFont typeface="Wingdings" charset="2"/>
              <a:buChar char=""/>
            </a:pPr>
            <a:r>
              <a:rPr lang="en-AU" sz="2800">
                <a:latin typeface="Courier New"/>
              </a:rPr>
              <a:t>a</a:t>
            </a:r>
            <a:r>
              <a:rPr lang="en-AU" sz="2800" baseline="30000">
                <a:latin typeface="Courier New"/>
              </a:rPr>
              <a:t>ø(n)</a:t>
            </a:r>
            <a:r>
              <a:rPr lang="en-AU" sz="2800">
                <a:latin typeface="Courier New"/>
              </a:rPr>
              <a:t>mod N = 1 </a:t>
            </a:r>
            <a:endParaRPr/>
          </a:p>
          <a:p>
            <a:pPr lvl="1">
              <a:lnSpc>
                <a:spcPct val="80000"/>
              </a:lnSpc>
              <a:buFont typeface="Arial"/>
              <a:buChar char="–"/>
            </a:pPr>
            <a:r>
              <a:rPr lang="en-AU" sz="2400">
                <a:latin typeface="Arial"/>
              </a:rPr>
              <a:t>where </a:t>
            </a:r>
            <a:r>
              <a:rPr lang="en-AU" sz="2400">
                <a:latin typeface="Courier New"/>
              </a:rPr>
              <a:t>gcd(a,N)=1</a:t>
            </a:r>
            <a:endParaRPr/>
          </a:p>
          <a:p>
            <a:pPr>
              <a:lnSpc>
                <a:spcPct val="8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in RSA have:</a:t>
            </a:r>
            <a:endParaRPr/>
          </a:p>
          <a:p>
            <a:pPr lvl="1">
              <a:lnSpc>
                <a:spcPct val="80000"/>
              </a:lnSpc>
              <a:buFont typeface="Courier New"/>
              <a:buChar char="–"/>
            </a:pPr>
            <a:r>
              <a:rPr lang="en-AU" sz="2400">
                <a:latin typeface="Courier New"/>
              </a:rPr>
              <a:t>N=p.q</a:t>
            </a:r>
            <a:endParaRPr/>
          </a:p>
          <a:p>
            <a:pPr lvl="1">
              <a:lnSpc>
                <a:spcPct val="80000"/>
              </a:lnSpc>
              <a:buFont typeface="Courier New"/>
              <a:buChar char="–"/>
            </a:pPr>
            <a:r>
              <a:rPr lang="en-AU" sz="2400">
                <a:latin typeface="Courier New"/>
              </a:rPr>
              <a:t>ø(N)=(p-1)(q-1)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 lvl="1">
              <a:lnSpc>
                <a:spcPct val="80000"/>
              </a:lnSpc>
              <a:buFont typeface="Arial"/>
              <a:buChar char="–"/>
            </a:pPr>
            <a:r>
              <a:rPr lang="en-AU" sz="2400">
                <a:latin typeface="Arial"/>
              </a:rPr>
              <a:t>carefully chosen e &amp; d to be inverses </a:t>
            </a:r>
            <a:r>
              <a:rPr lang="en-AU" sz="2400">
                <a:latin typeface="Courier New"/>
              </a:rPr>
              <a:t>mod ø(N)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 lvl="1">
              <a:lnSpc>
                <a:spcPct val="80000"/>
              </a:lnSpc>
              <a:buFont typeface="Arial"/>
              <a:buChar char="–"/>
            </a:pPr>
            <a:r>
              <a:rPr lang="en-AU" sz="2400">
                <a:latin typeface="Arial"/>
              </a:rPr>
              <a:t>hence </a:t>
            </a:r>
            <a:r>
              <a:rPr lang="en-AU" sz="2400">
                <a:latin typeface="Courier New"/>
              </a:rPr>
              <a:t>e.d=1+k.ø(N)</a:t>
            </a:r>
            <a:r>
              <a:rPr lang="en-AU" sz="2400">
                <a:latin typeface="Arial"/>
              </a:rPr>
              <a:t> for some k</a:t>
            </a:r>
            <a:endParaRPr/>
          </a:p>
          <a:p>
            <a:pPr>
              <a:lnSpc>
                <a:spcPct val="8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hence :</a:t>
            </a:r>
            <a:r>
              <a:rPr lang="en-AU" sz="2800">
                <a:latin typeface="Arial"/>
              </a:rPr>
              <a:t>
</a:t>
            </a:r>
            <a:r>
              <a:rPr lang="en-AU" sz="2800">
                <a:latin typeface="Courier New"/>
              </a:rPr>
              <a:t>C</a:t>
            </a:r>
            <a:r>
              <a:rPr lang="en-AU" sz="2800" baseline="30000">
                <a:latin typeface="Courier New"/>
              </a:rPr>
              <a:t>d</a:t>
            </a:r>
            <a:r>
              <a:rPr lang="en-AU" sz="2800">
                <a:latin typeface="Courier New"/>
              </a:rPr>
              <a:t> = (M</a:t>
            </a:r>
            <a:r>
              <a:rPr lang="en-AU" sz="2800" baseline="30000">
                <a:latin typeface="Courier New"/>
              </a:rPr>
              <a:t>e</a:t>
            </a:r>
            <a:r>
              <a:rPr lang="en-AU" sz="2800">
                <a:latin typeface="Courier New"/>
              </a:rPr>
              <a:t>)</a:t>
            </a:r>
            <a:r>
              <a:rPr lang="en-AU" sz="2800" baseline="30000">
                <a:latin typeface="Courier New"/>
              </a:rPr>
              <a:t>d </a:t>
            </a:r>
            <a:r>
              <a:rPr lang="en-AU" sz="2800">
                <a:latin typeface="Courier New"/>
              </a:rPr>
              <a:t>= M</a:t>
            </a:r>
            <a:r>
              <a:rPr lang="en-AU" sz="2800" baseline="30000">
                <a:latin typeface="Courier New"/>
              </a:rPr>
              <a:t>1+k.ø(N)</a:t>
            </a:r>
            <a:r>
              <a:rPr lang="en-AU" sz="2800">
                <a:latin typeface="Courier New"/>
              </a:rPr>
              <a:t> = M</a:t>
            </a:r>
            <a:r>
              <a:rPr lang="en-AU" sz="2800" baseline="30000">
                <a:latin typeface="Courier New"/>
              </a:rPr>
              <a:t>1</a:t>
            </a:r>
            <a:r>
              <a:rPr lang="en-AU" sz="2800">
                <a:latin typeface="Courier New"/>
              </a:rPr>
              <a:t>.(M</a:t>
            </a:r>
            <a:r>
              <a:rPr lang="en-AU" sz="2800" baseline="30000">
                <a:latin typeface="Courier New"/>
              </a:rPr>
              <a:t>ø(N)</a:t>
            </a:r>
            <a:r>
              <a:rPr lang="en-AU" sz="2800">
                <a:latin typeface="Courier New"/>
              </a:rPr>
              <a:t>)</a:t>
            </a:r>
            <a:r>
              <a:rPr lang="en-AU" sz="2800" baseline="30000">
                <a:latin typeface="Courier New"/>
              </a:rPr>
              <a:t>q</a:t>
            </a:r>
            <a:r>
              <a:rPr lang="en-AU" sz="2800">
                <a:latin typeface="Courier New"/>
              </a:rPr>
              <a:t> = M</a:t>
            </a:r>
            <a:r>
              <a:rPr lang="en-AU" sz="2800" baseline="30000">
                <a:latin typeface="Courier New"/>
              </a:rPr>
              <a:t>1</a:t>
            </a:r>
            <a:r>
              <a:rPr lang="en-AU" sz="2800">
                <a:latin typeface="Courier New"/>
              </a:rPr>
              <a:t>.(1)</a:t>
            </a:r>
            <a:r>
              <a:rPr lang="en-AU" sz="2800" baseline="30000">
                <a:latin typeface="Courier New"/>
              </a:rPr>
              <a:t>q</a:t>
            </a:r>
            <a:r>
              <a:rPr lang="en-AU" sz="2800">
                <a:latin typeface="Courier New"/>
              </a:rPr>
              <a:t> = M</a:t>
            </a:r>
            <a:r>
              <a:rPr lang="en-AU" sz="2800" baseline="30000">
                <a:latin typeface="Courier New"/>
              </a:rPr>
              <a:t>1</a:t>
            </a:r>
            <a:r>
              <a:rPr lang="en-AU" sz="2800">
                <a:latin typeface="Courier New"/>
              </a:rPr>
              <a:t> = M mod N</a:t>
            </a:r>
            <a:r>
              <a:rPr lang="en-AU" sz="2800">
                <a:latin typeface="Arial"/>
              </a:rPr>
              <a:t> </a:t>
            </a:r>
            <a:endParaRPr/>
          </a:p>
        </p:txBody>
      </p:sp>
    </p:spTree>
  </p:cSld>
  <p:timing>
    <p:tnLst>
      <p:par>
        <p:cTn id="210" dur="indefinite" restart="never" nodeType="tmRoot">
          <p:childTnLst>
            <p:seq>
              <p:cTn id="211" nodeType="mainSeq">
                <p:childTnLst>
                  <p:par>
                    <p:cTn id="212" fill="freeze">
                      <p:stCondLst>
                        <p:cond delay="0"/>
                      </p:stCondLst>
                      <p:childTnLst>
                        <p:par>
                          <p:cTn id="213" fill="freeze">
                            <p:stCondLst>
                              <p:cond delay="0"/>
                            </p:stCondLst>
                            <p:childTnLst>
                              <p:par>
                                <p:cTn id="21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1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freeze">
                            <p:stCondLst>
                              <p:cond delay="500"/>
                            </p:stCondLst>
                            <p:childTnLst>
                              <p:par>
                                <p:cTn id="21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2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RSA Example</a:t>
            </a:r>
            <a:endParaRPr/>
          </a:p>
        </p:txBody>
      </p:sp>
      <p:sp>
        <p:nvSpPr>
          <p:cNvPr id="168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AutoNum type="arabicPeriod"/>
            </a:pPr>
            <a:r>
              <a:rPr lang="en-AU" sz="2800">
                <a:latin typeface="Arial"/>
              </a:rPr>
              <a:t>Select primes: </a:t>
            </a:r>
            <a:r>
              <a:rPr i="1" lang="en-AU" sz="2800">
                <a:latin typeface="Courier New"/>
              </a:rPr>
              <a:t>p</a:t>
            </a:r>
            <a:r>
              <a:rPr lang="en-AU" sz="2800">
                <a:latin typeface="Courier New"/>
              </a:rPr>
              <a:t>=17 &amp; </a:t>
            </a:r>
            <a:r>
              <a:rPr i="1" lang="en-AU" sz="2800">
                <a:latin typeface="Courier New"/>
              </a:rPr>
              <a:t>q</a:t>
            </a:r>
            <a:r>
              <a:rPr lang="en-AU" sz="2800">
                <a:latin typeface="Courier New"/>
              </a:rPr>
              <a:t>=11</a:t>
            </a:r>
            <a:endParaRPr/>
          </a:p>
          <a:p>
            <a:pPr>
              <a:buFont typeface="Arial"/>
              <a:buAutoNum type="arabicPeriod"/>
            </a:pPr>
            <a:r>
              <a:rPr lang="en-AU" sz="2800">
                <a:latin typeface="Arial"/>
              </a:rPr>
              <a:t>Compute</a:t>
            </a:r>
            <a:r>
              <a:rPr lang="en-AU" sz="2800">
                <a:latin typeface="Courier New"/>
              </a:rPr>
              <a:t> </a:t>
            </a:r>
            <a:r>
              <a:rPr i="1" lang="en-AU" sz="2800">
                <a:latin typeface="Courier New"/>
              </a:rPr>
              <a:t>n </a:t>
            </a:r>
            <a:r>
              <a:rPr lang="en-AU" sz="2800">
                <a:latin typeface="Courier New"/>
              </a:rPr>
              <a:t>= </a:t>
            </a:r>
            <a:r>
              <a:rPr i="1" lang="en-AU" sz="2800">
                <a:latin typeface="Courier New"/>
              </a:rPr>
              <a:t>pq </a:t>
            </a:r>
            <a:r>
              <a:rPr lang="en-AU" sz="2800">
                <a:latin typeface="Courier New"/>
              </a:rPr>
              <a:t>=17</a:t>
            </a:r>
            <a:r>
              <a:rPr lang="en-US" sz="2800">
                <a:latin typeface="Courier New"/>
              </a:rPr>
              <a:t>×</a:t>
            </a:r>
            <a:r>
              <a:rPr lang="en-AU" sz="2800">
                <a:latin typeface="Courier New"/>
              </a:rPr>
              <a:t>11=187</a:t>
            </a:r>
            <a:endParaRPr/>
          </a:p>
          <a:p>
            <a:pPr>
              <a:buFont typeface="Arial"/>
              <a:buAutoNum type="arabicPeriod"/>
            </a:pPr>
            <a:r>
              <a:rPr lang="en-AU" sz="2800">
                <a:latin typeface="Arial"/>
              </a:rPr>
              <a:t>Compute</a:t>
            </a:r>
            <a:r>
              <a:rPr lang="en-AU" sz="2800">
                <a:latin typeface="Courier New"/>
              </a:rPr>
              <a:t> ø(</a:t>
            </a:r>
            <a:r>
              <a:rPr i="1" lang="en-AU" sz="2800">
                <a:latin typeface="Courier New"/>
              </a:rPr>
              <a:t>n</a:t>
            </a:r>
            <a:r>
              <a:rPr lang="en-AU" sz="2800">
                <a:latin typeface="Courier New"/>
              </a:rPr>
              <a:t>)=(</a:t>
            </a:r>
            <a:r>
              <a:rPr i="1" lang="en-AU" sz="2800">
                <a:latin typeface="Courier New"/>
              </a:rPr>
              <a:t>p–</a:t>
            </a:r>
            <a:r>
              <a:rPr lang="en-AU" sz="2800">
                <a:latin typeface="Courier New"/>
              </a:rPr>
              <a:t>1)(</a:t>
            </a:r>
            <a:r>
              <a:rPr i="1" lang="en-AU" sz="2800">
                <a:latin typeface="Courier New"/>
              </a:rPr>
              <a:t>q-</a:t>
            </a:r>
            <a:r>
              <a:rPr lang="en-AU" sz="2800">
                <a:latin typeface="Courier New"/>
              </a:rPr>
              <a:t>1)=16</a:t>
            </a:r>
            <a:r>
              <a:rPr lang="en-US" sz="2800">
                <a:latin typeface="Courier New"/>
              </a:rPr>
              <a:t>×</a:t>
            </a:r>
            <a:r>
              <a:rPr lang="en-AU" sz="2800">
                <a:latin typeface="Courier New"/>
              </a:rPr>
              <a:t>10=160</a:t>
            </a:r>
            <a:endParaRPr/>
          </a:p>
          <a:p>
            <a:pPr>
              <a:buFont typeface="Arial"/>
              <a:buAutoNum type="arabicPeriod"/>
            </a:pPr>
            <a:r>
              <a:rPr lang="en-AU" sz="2800">
                <a:latin typeface="Arial"/>
              </a:rPr>
              <a:t>Select </a:t>
            </a:r>
            <a:r>
              <a:rPr lang="en-AU" sz="2800">
                <a:latin typeface="Courier New"/>
              </a:rPr>
              <a:t>e</a:t>
            </a:r>
            <a:r>
              <a:rPr i="1" lang="en-AU" sz="2800">
                <a:latin typeface="Arial"/>
              </a:rPr>
              <a:t> : </a:t>
            </a:r>
            <a:r>
              <a:rPr lang="en-AU" sz="2800">
                <a:latin typeface="Courier New"/>
              </a:rPr>
              <a:t>gcd(e,160)=1; </a:t>
            </a:r>
            <a:r>
              <a:rPr lang="en-AU" sz="2800">
                <a:latin typeface="Arial"/>
              </a:rPr>
              <a:t>choose </a:t>
            </a:r>
            <a:r>
              <a:rPr i="1" lang="en-AU" sz="2800">
                <a:latin typeface="Courier New"/>
              </a:rPr>
              <a:t>e</a:t>
            </a:r>
            <a:r>
              <a:rPr lang="en-AU" sz="2800">
                <a:latin typeface="Courier New"/>
              </a:rPr>
              <a:t>=7</a:t>
            </a:r>
            <a:endParaRPr/>
          </a:p>
          <a:p>
            <a:pPr>
              <a:buFont typeface="Arial"/>
              <a:buAutoNum type="arabicPeriod"/>
            </a:pPr>
            <a:r>
              <a:rPr lang="en-AU" sz="2800">
                <a:latin typeface="Arial"/>
              </a:rPr>
              <a:t>Determine </a:t>
            </a:r>
            <a:r>
              <a:rPr lang="en-AU" sz="2800">
                <a:latin typeface="Courier New"/>
              </a:rPr>
              <a:t>d</a:t>
            </a:r>
            <a:r>
              <a:rPr i="1" lang="en-AU" sz="2800">
                <a:latin typeface="Arial"/>
              </a:rPr>
              <a:t>: </a:t>
            </a:r>
            <a:r>
              <a:rPr i="1" lang="en-AU" sz="2800">
                <a:latin typeface="Courier New"/>
              </a:rPr>
              <a:t>de=</a:t>
            </a:r>
            <a:r>
              <a:rPr lang="en-AU" sz="2800">
                <a:latin typeface="Courier New"/>
              </a:rPr>
              <a:t>1 mod 160</a:t>
            </a:r>
            <a:r>
              <a:rPr lang="en-AU" sz="2800">
                <a:latin typeface="Arial"/>
              </a:rPr>
              <a:t> and </a:t>
            </a:r>
            <a:r>
              <a:rPr i="1" lang="en-AU" sz="2800">
                <a:latin typeface="Courier New"/>
              </a:rPr>
              <a:t>d </a:t>
            </a:r>
            <a:r>
              <a:rPr lang="en-AU" sz="2800">
                <a:latin typeface="Courier New"/>
              </a:rPr>
              <a:t>&lt; 160</a:t>
            </a:r>
            <a:r>
              <a:rPr lang="en-AU" sz="2800">
                <a:latin typeface="Arial"/>
              </a:rPr>
              <a:t> Value is </a:t>
            </a:r>
            <a:r>
              <a:rPr lang="en-AU" sz="2800">
                <a:latin typeface="Courier New"/>
              </a:rPr>
              <a:t>d=23</a:t>
            </a:r>
            <a:r>
              <a:rPr lang="en-AU" sz="2800">
                <a:latin typeface="Arial"/>
              </a:rPr>
              <a:t> since </a:t>
            </a:r>
            <a:r>
              <a:rPr lang="en-AU" sz="2800">
                <a:latin typeface="Courier New"/>
              </a:rPr>
              <a:t>23</a:t>
            </a:r>
            <a:r>
              <a:rPr lang="en-US" sz="2800">
                <a:latin typeface="Courier New"/>
              </a:rPr>
              <a:t>×</a:t>
            </a:r>
            <a:r>
              <a:rPr lang="en-AU" sz="2800">
                <a:latin typeface="Courier New"/>
              </a:rPr>
              <a:t>7=161= 10</a:t>
            </a:r>
            <a:r>
              <a:rPr lang="en-US" sz="2800">
                <a:latin typeface="Courier New"/>
              </a:rPr>
              <a:t>×</a:t>
            </a:r>
            <a:r>
              <a:rPr lang="en-AU" sz="2800">
                <a:latin typeface="Courier New"/>
              </a:rPr>
              <a:t>160+1</a:t>
            </a:r>
            <a:endParaRPr/>
          </a:p>
          <a:p>
            <a:pPr>
              <a:buFont typeface="Arial"/>
              <a:buAutoNum type="arabicPeriod"/>
            </a:pPr>
            <a:r>
              <a:rPr lang="en-US" sz="2800">
                <a:latin typeface="Arial"/>
              </a:rPr>
              <a:t>Publish public key </a:t>
            </a:r>
            <a:r>
              <a:rPr lang="en-US" sz="2800">
                <a:latin typeface="Courier New"/>
              </a:rPr>
              <a:t>KU={7,187}</a:t>
            </a:r>
            <a:endParaRPr/>
          </a:p>
          <a:p>
            <a:pPr>
              <a:buFont typeface="Arial"/>
              <a:buAutoNum type="arabicPeriod"/>
            </a:pPr>
            <a:r>
              <a:rPr lang="en-US" sz="2800">
                <a:latin typeface="Arial"/>
              </a:rPr>
              <a:t>Keep secret private key </a:t>
            </a:r>
            <a:r>
              <a:rPr lang="en-US" sz="2800">
                <a:latin typeface="Courier New"/>
              </a:rPr>
              <a:t>KR={23,</a:t>
            </a:r>
            <a:r>
              <a:rPr lang="en-AU" sz="2800">
                <a:latin typeface="Courier New"/>
              </a:rPr>
              <a:t>17</a:t>
            </a:r>
            <a:r>
              <a:rPr lang="en-US" sz="2800">
                <a:latin typeface="Courier New"/>
              </a:rPr>
              <a:t>,</a:t>
            </a:r>
            <a:r>
              <a:rPr lang="en-AU" sz="2800">
                <a:latin typeface="Courier New"/>
              </a:rPr>
              <a:t>11}</a:t>
            </a:r>
            <a:endParaRPr/>
          </a:p>
          <a:p>
            <a:pPr>
              <a:lnSpc>
                <a:spcPct val="100000"/>
              </a:lnSpc>
              <a:buFont typeface="Wingdings" charset="2"/>
              <a:buChar char=""/>
            </a:pPr>
            <a:endParaRPr/>
          </a:p>
        </p:txBody>
      </p:sp>
    </p:spTree>
  </p:cSld>
  <p:timing>
    <p:tnLst>
      <p:par>
        <p:cTn id="221" dur="indefinite" restart="never" nodeType="tmRoot">
          <p:childTnLst>
            <p:seq>
              <p:cTn id="222" nodeType="mainSeq">
                <p:childTnLst>
                  <p:par>
                    <p:cTn id="223" fill="freeze">
                      <p:stCondLst>
                        <p:cond delay="0"/>
                      </p:stCondLst>
                      <p:childTnLst>
                        <p:par>
                          <p:cTn id="224" fill="freeze">
                            <p:stCondLst>
                              <p:cond delay="0"/>
                            </p:stCondLst>
                            <p:childTnLst>
                              <p:par>
                                <p:cTn id="22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2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freeze">
                            <p:stCondLst>
                              <p:cond delay="500"/>
                            </p:stCondLst>
                            <p:childTnLst>
                              <p:par>
                                <p:cTn id="22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RSA Example cont</a:t>
            </a:r>
            <a:endParaRPr/>
          </a:p>
        </p:txBody>
      </p:sp>
      <p:sp>
        <p:nvSpPr>
          <p:cNvPr id="170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sample RSA encryption/decryption is: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given message </a:t>
            </a:r>
            <a:r>
              <a:rPr lang="en-AU" sz="2800">
                <a:latin typeface="Courier New"/>
              </a:rPr>
              <a:t>M = 88</a:t>
            </a:r>
            <a:r>
              <a:rPr lang="en-AU" sz="2800">
                <a:latin typeface="Arial"/>
              </a:rPr>
              <a:t> (nb. </a:t>
            </a:r>
            <a:r>
              <a:rPr lang="en-AU" sz="2800">
                <a:latin typeface="Courier New"/>
              </a:rPr>
              <a:t>88&lt;187</a:t>
            </a:r>
            <a:r>
              <a:rPr lang="en-AU" sz="2800">
                <a:latin typeface="Arial"/>
              </a:rPr>
              <a:t>)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encryption: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r>
              <a:rPr lang="en-AU" sz="2400">
                <a:latin typeface="Courier New"/>
              </a:rPr>
              <a:t>C = 88</a:t>
            </a:r>
            <a:r>
              <a:rPr lang="en-AU" sz="2400" baseline="30000">
                <a:latin typeface="Courier New"/>
              </a:rPr>
              <a:t>7</a:t>
            </a:r>
            <a:r>
              <a:rPr lang="en-AU" sz="2400">
                <a:latin typeface="Courier New"/>
              </a:rPr>
              <a:t> mod 187 = 11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decryption:</a:t>
            </a:r>
            <a:endParaRPr/>
          </a:p>
          <a:p>
            <a:pPr lvl="1">
              <a:lnSpc>
                <a:spcPct val="100000"/>
              </a:lnSpc>
              <a:buFont typeface="Courier New"/>
              <a:buChar char="–"/>
            </a:pPr>
            <a:r>
              <a:rPr lang="en-AU" sz="2400">
                <a:latin typeface="Courier New"/>
              </a:rPr>
              <a:t>M = 11</a:t>
            </a:r>
            <a:r>
              <a:rPr lang="en-AU" sz="2400" baseline="30000">
                <a:latin typeface="Courier New"/>
              </a:rPr>
              <a:t>23</a:t>
            </a:r>
            <a:r>
              <a:rPr lang="en-AU" sz="2400">
                <a:latin typeface="Courier New"/>
              </a:rPr>
              <a:t> mod 187 = 88</a:t>
            </a:r>
            <a:r>
              <a:rPr lang="en-AU" sz="2400">
                <a:latin typeface="Arial"/>
              </a:rPr>
              <a:t> </a:t>
            </a:r>
            <a:endParaRPr/>
          </a:p>
        </p:txBody>
      </p:sp>
    </p:spTree>
  </p:cSld>
  <p:timing>
    <p:tnLst>
      <p:par>
        <p:cTn id="232" dur="indefinite" restart="never" nodeType="tmRoot">
          <p:childTnLst>
            <p:seq>
              <p:cTn id="233" nodeType="mainSeq">
                <p:childTnLst>
                  <p:par>
                    <p:cTn id="234" fill="freeze">
                      <p:stCondLst>
                        <p:cond delay="0"/>
                      </p:stCondLst>
                      <p:childTnLst>
                        <p:par>
                          <p:cTn id="235" fill="freeze">
                            <p:stCondLst>
                              <p:cond delay="0"/>
                            </p:stCondLst>
                            <p:childTnLst>
                              <p:par>
                                <p:cTn id="23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3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freeze">
                            <p:stCondLst>
                              <p:cond delay="500"/>
                            </p:stCondLst>
                            <p:childTnLst>
                              <p:par>
                                <p:cTn id="24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Exponentiation</a:t>
            </a:r>
            <a:endParaRPr/>
          </a:p>
        </p:txBody>
      </p:sp>
      <p:sp>
        <p:nvSpPr>
          <p:cNvPr id="172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can use the Square and Multiply Algorithm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a fast, efficient algorithm for exponentiation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concept is based on repeatedly squaring base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and multiplying in the ones that are needed to compute the result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look at binary representation of exponent </a:t>
            </a:r>
            <a:endParaRPr/>
          </a:p>
          <a:p>
            <a:pPr>
              <a:buFont typeface="Wingdings" charset="2"/>
              <a:buChar char=""/>
            </a:pPr>
            <a:r>
              <a:rPr lang="en-AU" sz="2800">
                <a:latin typeface="Arial"/>
              </a:rPr>
              <a:t>only takes O(log</a:t>
            </a:r>
            <a:r>
              <a:rPr lang="en-AU" sz="2800" baseline="-25000">
                <a:latin typeface="Arial"/>
              </a:rPr>
              <a:t>2</a:t>
            </a:r>
            <a:r>
              <a:rPr lang="en-AU" sz="2800">
                <a:latin typeface="Arial"/>
              </a:rPr>
              <a:t> n) multiples for number n 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eg. </a:t>
            </a:r>
            <a:r>
              <a:rPr lang="en-AU" sz="2400">
                <a:latin typeface="Courier New"/>
              </a:rPr>
              <a:t>7</a:t>
            </a:r>
            <a:r>
              <a:rPr lang="en-AU" sz="2400" baseline="30000">
                <a:latin typeface="Courier New"/>
              </a:rPr>
              <a:t>5</a:t>
            </a:r>
            <a:r>
              <a:rPr lang="en-AU" sz="2400">
                <a:latin typeface="Courier New"/>
              </a:rPr>
              <a:t> = 7</a:t>
            </a:r>
            <a:r>
              <a:rPr lang="en-AU" sz="2400" baseline="30000">
                <a:latin typeface="Courier New"/>
              </a:rPr>
              <a:t>4</a:t>
            </a:r>
            <a:r>
              <a:rPr lang="en-AU" sz="2400">
                <a:latin typeface="Courier New"/>
              </a:rPr>
              <a:t>.7</a:t>
            </a:r>
            <a:r>
              <a:rPr lang="en-AU" sz="2400" baseline="30000">
                <a:latin typeface="Courier New"/>
              </a:rPr>
              <a:t>1</a:t>
            </a:r>
            <a:r>
              <a:rPr lang="en-AU" sz="2400">
                <a:latin typeface="Courier New"/>
              </a:rPr>
              <a:t> = 3.7 = 10 mod 11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eg. </a:t>
            </a:r>
            <a:r>
              <a:rPr lang="en-AU" sz="2400">
                <a:latin typeface="Courier New"/>
              </a:rPr>
              <a:t>3</a:t>
            </a:r>
            <a:r>
              <a:rPr lang="en-AU" sz="2400" baseline="30000">
                <a:latin typeface="Courier New"/>
              </a:rPr>
              <a:t>129</a:t>
            </a:r>
            <a:r>
              <a:rPr lang="en-AU" sz="2400">
                <a:latin typeface="Courier New"/>
              </a:rPr>
              <a:t> = 3</a:t>
            </a:r>
            <a:r>
              <a:rPr lang="en-AU" sz="2400" baseline="30000">
                <a:latin typeface="Courier New"/>
              </a:rPr>
              <a:t>128</a:t>
            </a:r>
            <a:r>
              <a:rPr lang="en-AU" sz="2400">
                <a:latin typeface="Courier New"/>
              </a:rPr>
              <a:t>.3</a:t>
            </a:r>
            <a:r>
              <a:rPr lang="en-AU" sz="2400" baseline="30000">
                <a:latin typeface="Courier New"/>
              </a:rPr>
              <a:t>1</a:t>
            </a:r>
            <a:r>
              <a:rPr lang="en-AU" sz="2400">
                <a:latin typeface="Courier New"/>
              </a:rPr>
              <a:t> = 5.3 = 4 mod 11</a:t>
            </a:r>
            <a:endParaRPr/>
          </a:p>
        </p:txBody>
      </p:sp>
    </p:spTree>
  </p:cSld>
  <p:timing>
    <p:tnLst>
      <p:par>
        <p:cTn id="243" dur="indefinite" restart="never" nodeType="tmRoot">
          <p:childTnLst>
            <p:seq>
              <p:cTn id="244" nodeType="mainSeq">
                <p:childTnLst>
                  <p:par>
                    <p:cTn id="245" fill="freeze">
                      <p:stCondLst>
                        <p:cond delay="0"/>
                      </p:stCondLst>
                      <p:childTnLst>
                        <p:par>
                          <p:cTn id="246" fill="freeze">
                            <p:stCondLst>
                              <p:cond delay="0"/>
                            </p:stCondLst>
                            <p:childTnLst>
                              <p:par>
                                <p:cTn id="24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freeze">
                            <p:stCondLst>
                              <p:cond delay="500"/>
                            </p:stCondLst>
                            <p:childTnLst>
                              <p:par>
                                <p:cTn id="25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Exponentiation</a:t>
            </a:r>
            <a:endParaRPr/>
          </a:p>
        </p:txBody>
      </p:sp>
      <p:pic>
        <p:nvPicPr>
          <p:cNvPr id="174" name="Picture 3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826920" y="1844640"/>
            <a:ext cx="7345440" cy="42814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4" dur="indefinite" restart="never" nodeType="tmRoot">
          <p:childTnLst>
            <p:seq>
              <p:cTn id="255" nodeType="mainSeq">
                <p:childTnLst>
                  <p:par>
                    <p:cTn id="256" fill="freeze">
                      <p:stCondLst>
                        <p:cond delay="0"/>
                      </p:stCondLst>
                      <p:childTnLst>
                        <p:par>
                          <p:cTn id="257" fill="freeze">
                            <p:stCondLst>
                              <p:cond delay="0"/>
                            </p:stCondLst>
                            <p:childTnLst>
                              <p:par>
                                <p:cTn id="25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freeze">
                            <p:stCondLst>
                              <p:cond delay="500"/>
                            </p:stCondLst>
                            <p:childTnLst>
                              <p:par>
                                <p:cTn id="26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6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US" sz="3600">
                <a:latin typeface="Arial"/>
              </a:rPr>
              <a:t>RSA Key Generation</a:t>
            </a:r>
            <a:endParaRPr/>
          </a:p>
        </p:txBody>
      </p:sp>
      <p:sp>
        <p:nvSpPr>
          <p:cNvPr id="176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US" sz="2800">
                <a:latin typeface="Arial"/>
              </a:rPr>
              <a:t>users of RSA must: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determine two primes </a:t>
            </a:r>
            <a:r>
              <a:rPr lang="en-AU" sz="2400">
                <a:latin typeface="Arial"/>
              </a:rPr>
              <a:t>at random - </a:t>
            </a:r>
            <a:r>
              <a:rPr lang="en-AU" sz="2400">
                <a:latin typeface="Courier New"/>
              </a:rPr>
              <a:t>p, q</a:t>
            </a:r>
            <a:r>
              <a:rPr lang="en-AU" sz="2400">
                <a:latin typeface="Arial"/>
              </a:rPr>
              <a:t> 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select either </a:t>
            </a:r>
            <a:r>
              <a:rPr lang="en-US" sz="2400">
                <a:latin typeface="Courier New"/>
              </a:rPr>
              <a:t>e</a:t>
            </a:r>
            <a:r>
              <a:rPr lang="en-US" sz="2400">
                <a:latin typeface="Arial"/>
              </a:rPr>
              <a:t> or </a:t>
            </a:r>
            <a:r>
              <a:rPr lang="en-US" sz="2400">
                <a:latin typeface="Courier New"/>
              </a:rPr>
              <a:t>d</a:t>
            </a:r>
            <a:r>
              <a:rPr lang="en-US" sz="2400">
                <a:latin typeface="Arial"/>
              </a:rPr>
              <a:t> and compute the other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US" sz="2800">
                <a:latin typeface="Arial"/>
              </a:rPr>
              <a:t>primes </a:t>
            </a:r>
            <a:r>
              <a:rPr lang="en-AU" sz="2800">
                <a:latin typeface="Courier New"/>
              </a:rPr>
              <a:t>p,q</a:t>
            </a:r>
            <a:r>
              <a:rPr lang="en-AU" sz="2800">
                <a:latin typeface="Arial"/>
              </a:rPr>
              <a:t> </a:t>
            </a:r>
            <a:r>
              <a:rPr lang="en-US" sz="2800">
                <a:latin typeface="Arial"/>
              </a:rPr>
              <a:t>must not be easily derived from modulus </a:t>
            </a:r>
            <a:r>
              <a:rPr lang="en-AU" sz="2800">
                <a:latin typeface="Courier New"/>
              </a:rPr>
              <a:t>N=p.q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means must be sufficiently large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typically guess and use probabilistic test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US" sz="2800">
                <a:latin typeface="Arial"/>
              </a:rPr>
              <a:t>exponents </a:t>
            </a:r>
            <a:r>
              <a:rPr lang="en-US" sz="2800">
                <a:latin typeface="Courier New"/>
              </a:rPr>
              <a:t>e</a:t>
            </a:r>
            <a:r>
              <a:rPr lang="en-US" sz="2800">
                <a:latin typeface="Arial"/>
              </a:rPr>
              <a:t>, </a:t>
            </a:r>
            <a:r>
              <a:rPr lang="en-US" sz="2800">
                <a:latin typeface="Courier New"/>
              </a:rPr>
              <a:t>d</a:t>
            </a:r>
            <a:r>
              <a:rPr lang="en-US" sz="2800">
                <a:latin typeface="Arial"/>
              </a:rPr>
              <a:t>  are inverses, so use Inverse algorithm to compute the other</a:t>
            </a:r>
            <a:endParaRPr/>
          </a:p>
        </p:txBody>
      </p:sp>
    </p:spTree>
  </p:cSld>
  <p:timing>
    <p:tnLst>
      <p:par>
        <p:cTn id="265" dur="indefinite" restart="never" nodeType="tmRoot">
          <p:childTnLst>
            <p:seq>
              <p:cTn id="266" nodeType="mainSeq">
                <p:childTnLst>
                  <p:par>
                    <p:cTn id="267" fill="freeze">
                      <p:stCondLst>
                        <p:cond delay="0"/>
                      </p:stCondLst>
                      <p:childTnLst>
                        <p:par>
                          <p:cTn id="268" fill="freeze">
                            <p:stCondLst>
                              <p:cond delay="0"/>
                            </p:stCondLst>
                            <p:childTnLst>
                              <p:par>
                                <p:cTn id="26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7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freeze">
                            <p:stCondLst>
                              <p:cond delay="500"/>
                            </p:stCondLst>
                            <p:childTnLst>
                              <p:par>
                                <p:cTn id="27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7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RSA Security</a:t>
            </a:r>
            <a:endParaRPr/>
          </a:p>
        </p:txBody>
      </p:sp>
      <p:sp>
        <p:nvSpPr>
          <p:cNvPr id="178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three approaches to attacking RSA: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latin typeface="Arial"/>
              </a:rPr>
              <a:t>brute force key search (infeasible given size of numbers)</a:t>
            </a:r>
            <a:endParaRPr/>
          </a:p>
          <a:p>
            <a:pPr lvl="1">
              <a:buFont typeface="Arial"/>
              <a:buChar char="–"/>
            </a:pPr>
            <a:r>
              <a:rPr lang="en-AU" sz="2400">
                <a:latin typeface="Arial"/>
              </a:rPr>
              <a:t>mathematical attacks (based on difficulty of computing ø(N), by factoring modulus N)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latin typeface="Arial"/>
              </a:rPr>
              <a:t>timing attacks (on running of decryption)</a:t>
            </a:r>
            <a:endParaRPr/>
          </a:p>
        </p:txBody>
      </p:sp>
    </p:spTree>
  </p:cSld>
  <p:timing>
    <p:tnLst>
      <p:par>
        <p:cTn id="276" dur="indefinite" restart="never" nodeType="tmRoot">
          <p:childTnLst>
            <p:seq>
              <p:cTn id="277" nodeType="mainSeq">
                <p:childTnLst>
                  <p:par>
                    <p:cTn id="278" fill="freeze">
                      <p:stCondLst>
                        <p:cond delay="0"/>
                      </p:stCondLst>
                      <p:childTnLst>
                        <p:par>
                          <p:cTn id="279" fill="freeze">
                            <p:stCondLst>
                              <p:cond delay="0"/>
                            </p:stCondLst>
                            <p:childTnLst>
                              <p:par>
                                <p:cTn id="28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8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freeze">
                            <p:stCondLst>
                              <p:cond delay="500"/>
                            </p:stCondLst>
                            <p:childTnLst>
                              <p:par>
                                <p:cTn id="28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8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AU" sz="3600">
                <a:latin typeface="Arial"/>
              </a:rPr>
              <a:t>Factoring Problem</a:t>
            </a:r>
            <a:endParaRPr/>
          </a:p>
        </p:txBody>
      </p:sp>
      <p:sp>
        <p:nvSpPr>
          <p:cNvPr id="180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US" sz="2800">
                <a:latin typeface="Arial"/>
              </a:rPr>
              <a:t>mathematical approach takes 3 forms: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factor </a:t>
            </a:r>
            <a:r>
              <a:rPr lang="en-AU" sz="2400">
                <a:latin typeface="Courier New"/>
              </a:rPr>
              <a:t>N=p.q</a:t>
            </a:r>
            <a:r>
              <a:rPr lang="en-AU" sz="2400">
                <a:latin typeface="Arial"/>
              </a:rPr>
              <a:t>, hence find </a:t>
            </a:r>
            <a:r>
              <a:rPr lang="en-AU" sz="2400">
                <a:latin typeface="Courier New"/>
              </a:rPr>
              <a:t>ø(N)</a:t>
            </a:r>
            <a:r>
              <a:rPr lang="en-AU" sz="2400">
                <a:latin typeface="Arial"/>
              </a:rPr>
              <a:t> and then d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determine </a:t>
            </a:r>
            <a:r>
              <a:rPr lang="en-AU" sz="2400">
                <a:latin typeface="Courier New"/>
              </a:rPr>
              <a:t>ø(N)</a:t>
            </a:r>
            <a:r>
              <a:rPr lang="en-US" sz="2400">
                <a:latin typeface="Arial"/>
              </a:rPr>
              <a:t> directly and find d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find d directly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US" sz="2800">
                <a:latin typeface="Arial"/>
              </a:rPr>
              <a:t>currently believe all equivalent to factoring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AU" sz="2400">
                <a:latin typeface="Arial"/>
              </a:rPr>
              <a:t>have seen slow improvements over the years </a:t>
            </a:r>
            <a:endParaRPr/>
          </a:p>
          <a:p>
            <a:pPr lvl="2">
              <a:lnSpc>
                <a:spcPct val="90000"/>
              </a:lnSpc>
              <a:buFont typeface="Wingdings" charset="2"/>
              <a:buChar char=""/>
            </a:pPr>
            <a:r>
              <a:rPr lang="en-AU" sz="2000">
                <a:latin typeface="Arial"/>
              </a:rPr>
              <a:t>as of Aug-99 best is 130 decimal digits (512) bit with GNFS 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AU" sz="2400">
                <a:latin typeface="Arial"/>
              </a:rPr>
              <a:t>biggest improvement comes from improved algorithm</a:t>
            </a:r>
            <a:endParaRPr/>
          </a:p>
          <a:p>
            <a:pPr lvl="2">
              <a:lnSpc>
                <a:spcPct val="90000"/>
              </a:lnSpc>
              <a:buFont typeface="Wingdings" charset="2"/>
              <a:buChar char=""/>
            </a:pPr>
            <a:r>
              <a:rPr lang="en-US" sz="2000">
                <a:latin typeface="Arial"/>
              </a:rPr>
              <a:t>cf “Quadratic Sieve” to “Generalized Number Field Sieve”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AU" sz="2400">
                <a:latin typeface="Arial"/>
              </a:rPr>
              <a:t>barring dramatic breakthrough 1024+ bit RSA secure</a:t>
            </a:r>
            <a:endParaRPr/>
          </a:p>
          <a:p>
            <a:pPr lvl="2">
              <a:lnSpc>
                <a:spcPct val="90000"/>
              </a:lnSpc>
              <a:buFont typeface="Wingdings" charset="2"/>
              <a:buChar char=""/>
            </a:pPr>
            <a:r>
              <a:rPr lang="en-US" sz="2000">
                <a:latin typeface="Arial"/>
              </a:rPr>
              <a:t>ensure p, q of similar size and matching other constraints</a:t>
            </a:r>
            <a:endParaRPr/>
          </a:p>
        </p:txBody>
      </p:sp>
    </p:spTree>
  </p:cSld>
  <p:timing>
    <p:tnLst>
      <p:par>
        <p:cTn id="287" dur="indefinite" restart="never" nodeType="tmRoot">
          <p:childTnLst>
            <p:seq>
              <p:cTn id="288" nodeType="mainSeq">
                <p:childTnLst>
                  <p:par>
                    <p:cTn id="289" fill="freeze">
                      <p:stCondLst>
                        <p:cond delay="0"/>
                      </p:stCondLst>
                      <p:childTnLst>
                        <p:par>
                          <p:cTn id="290" fill="freeze">
                            <p:stCondLst>
                              <p:cond delay="0"/>
                            </p:stCondLst>
                            <p:childTnLst>
                              <p:par>
                                <p:cTn id="29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freeze">
                            <p:stCondLst>
                              <p:cond delay="500"/>
                            </p:stCondLst>
                            <p:childTnLst>
                              <p:par>
                                <p:cTn id="29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US" sz="3600">
                <a:latin typeface="Arial"/>
              </a:rPr>
              <a:t>Timing Attacks</a:t>
            </a:r>
            <a:endParaRPr/>
          </a:p>
        </p:txBody>
      </p:sp>
      <p:sp>
        <p:nvSpPr>
          <p:cNvPr id="182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US" sz="2800">
                <a:latin typeface="Arial"/>
              </a:rPr>
              <a:t>developed in mid-1990’s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exploit timing variations in operations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AU" sz="2400">
                <a:latin typeface="Arial"/>
              </a:rPr>
              <a:t>eg. multiplying by small vs large number 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AU" sz="2400">
                <a:latin typeface="Arial"/>
              </a:rPr>
              <a:t>or IF's varying which instructions executed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AU" sz="2800">
                <a:latin typeface="Arial"/>
              </a:rPr>
              <a:t>infer operand size based on time taken 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US" sz="2800">
                <a:latin typeface="Arial"/>
              </a:rPr>
              <a:t>RSA exploits time taken in exponentiation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r>
              <a:rPr lang="en-US" sz="2800">
                <a:latin typeface="Arial"/>
              </a:rPr>
              <a:t>countermeasures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use constant exponentiation time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add random delays</a:t>
            </a:r>
            <a:endParaRPr/>
          </a:p>
          <a:p>
            <a:pPr lvl="1">
              <a:lnSpc>
                <a:spcPct val="90000"/>
              </a:lnSpc>
              <a:buFont typeface="Arial"/>
              <a:buChar char="–"/>
            </a:pPr>
            <a:r>
              <a:rPr lang="en-US" sz="2400">
                <a:latin typeface="Arial"/>
              </a:rPr>
              <a:t>blind values used in calculations</a:t>
            </a:r>
            <a:endParaRPr/>
          </a:p>
          <a:p>
            <a:pPr>
              <a:lnSpc>
                <a:spcPct val="90000"/>
              </a:lnSpc>
              <a:buFont typeface="Wingdings" charset="2"/>
              <a:buChar char=""/>
            </a:pPr>
            <a:endParaRPr/>
          </a:p>
        </p:txBody>
      </p:sp>
    </p:spTree>
  </p:cSld>
  <p:timing>
    <p:tnLst>
      <p:par>
        <p:cTn id="298" dur="indefinite" restart="never" nodeType="tmRoot">
          <p:childTnLst>
            <p:seq>
              <p:cTn id="299" nodeType="mainSeq">
                <p:childTnLst>
                  <p:par>
                    <p:cTn id="300" fill="freeze">
                      <p:stCondLst>
                        <p:cond delay="0"/>
                      </p:stCondLst>
                      <p:childTnLst>
                        <p:par>
                          <p:cTn id="301" fill="freeze">
                            <p:stCondLst>
                              <p:cond delay="0"/>
                            </p:stCondLst>
                            <p:childTnLst>
                              <p:par>
                                <p:cTn id="30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0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freeze">
                            <p:stCondLst>
                              <p:cond delay="500"/>
                            </p:stCondLst>
                            <p:childTnLst>
                              <p:par>
                                <p:cTn id="30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0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US" sz="3600">
                <a:latin typeface="Arial"/>
              </a:rPr>
              <a:t>Summary</a:t>
            </a:r>
            <a:endParaRPr/>
          </a:p>
        </p:txBody>
      </p:sp>
      <p:sp>
        <p:nvSpPr>
          <p:cNvPr id="184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Wingdings" charset="2"/>
              <a:buChar char=""/>
            </a:pPr>
            <a:r>
              <a:rPr lang="en-US" sz="2800">
                <a:latin typeface="Arial"/>
              </a:rPr>
              <a:t>have considered: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latin typeface="Arial"/>
              </a:rPr>
              <a:t>prime numbers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latin typeface="Arial"/>
              </a:rPr>
              <a:t>Fermat’s and Euler’s Theorems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latin typeface="Arial"/>
              </a:rPr>
              <a:t>Primality Testing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latin typeface="Arial"/>
              </a:rPr>
              <a:t>Chinese Remainder Theorem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latin typeface="Arial"/>
              </a:rPr>
              <a:t>Discrete Logarithms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latin typeface="Arial"/>
              </a:rPr>
              <a:t>principles of public-key cryptography</a:t>
            </a:r>
            <a:endParaRPr/>
          </a:p>
          <a:p>
            <a:pPr lvl="1">
              <a:buFont typeface="Arial"/>
              <a:buChar char="–"/>
            </a:pPr>
            <a:r>
              <a:rPr lang="en-US" sz="2400">
                <a:latin typeface="Arial"/>
              </a:rPr>
              <a:t>RSA algorithm, implementation, security</a:t>
            </a:r>
            <a:endParaRPr/>
          </a:p>
          <a:p>
            <a:pPr lvl="1">
              <a:buFont typeface="Arial"/>
              <a:buChar char="–"/>
            </a:pPr>
            <a:endParaRPr/>
          </a:p>
          <a:p>
            <a:pPr lvl="1">
              <a:buFont typeface="Arial"/>
              <a:buChar char="–"/>
            </a:pPr>
            <a:endParaRPr/>
          </a:p>
        </p:txBody>
      </p:sp>
    </p:spTree>
  </p:cSld>
  <p:timing>
    <p:tnLst>
      <p:par>
        <p:cTn id="309" dur="indefinite" restart="never" nodeType="tmRoot">
          <p:childTnLst>
            <p:seq>
              <p:cTn id="310" nodeType="mainSeq">
                <p:childTnLst>
                  <p:par>
                    <p:cTn id="311" fill="freeze">
                      <p:stCondLst>
                        <p:cond delay="0"/>
                      </p:stCondLst>
                      <p:childTnLst>
                        <p:par>
                          <p:cTn id="312" fill="freeze">
                            <p:stCondLst>
                              <p:cond delay="0"/>
                            </p:stCondLst>
                            <p:childTnLst>
                              <p:par>
                                <p:cTn id="31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1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freeze">
                            <p:stCondLst>
                              <p:cond delay="500"/>
                            </p:stCondLst>
                            <p:childTnLst>
                              <p:par>
                                <p:cTn id="31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1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444600" y="510840"/>
            <a:ext cx="8300880" cy="52380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Char char="•"/>
            </a:pPr>
            <a:r>
              <a:rPr b="1" lang="en-US" sz="3600">
                <a:latin typeface="Arial"/>
              </a:rPr>
              <a:t>Assignments</a:t>
            </a:r>
            <a:endParaRPr/>
          </a:p>
        </p:txBody>
      </p:sp>
      <p:sp>
        <p:nvSpPr>
          <p:cNvPr id="186" name="TextShape 2"/>
          <p:cNvSpPr txBox="1"/>
          <p:nvPr/>
        </p:nvSpPr>
        <p:spPr>
          <a:xfrm>
            <a:off x="444240" y="1281240"/>
            <a:ext cx="8243640" cy="5021280"/>
          </a:xfrm>
          <a:prstGeom prst="rect">
            <a:avLst/>
          </a:prstGeom>
        </p:spPr>
        <p:txBody>
          <a:bodyPr lIns="0" rIns="0" tIns="0" bIns="0"/>
          <a:p>
            <a:pPr>
              <a:buFont typeface="Arial"/>
              <a:buAutoNum type="arabicPeriod"/>
            </a:pPr>
            <a:r>
              <a:rPr lang="en-US" sz="2800">
                <a:latin typeface="Arial"/>
              </a:rPr>
              <a:t>Perform encryption and decryption using RSA algorithm, as in Figure 1, for the following:</a:t>
            </a:r>
            <a:endParaRPr/>
          </a:p>
          <a:p>
            <a:pPr lvl="1">
              <a:buFont typeface="굴림"/>
              <a:buChar char="–"/>
            </a:pPr>
            <a:r>
              <a:rPr lang="en-US" sz="2400">
                <a:latin typeface="Arial"/>
              </a:rPr>
              <a:t>p = 3; q = 11, e = 7; M = 5</a:t>
            </a:r>
            <a:endParaRPr/>
          </a:p>
          <a:p>
            <a:pPr lvl="1">
              <a:buFont typeface="굴림"/>
              <a:buChar char="–"/>
            </a:pPr>
            <a:r>
              <a:rPr lang="en-US" sz="2400">
                <a:latin typeface="Arial"/>
              </a:rPr>
              <a:t>p = 5; q = 11, e = 3; M = 9</a:t>
            </a:r>
            <a:endParaRPr/>
          </a:p>
          <a:p>
            <a:pPr lvl="1">
              <a:lnSpc>
                <a:spcPct val="150000"/>
              </a:lnSpc>
              <a:buFont typeface="굴림"/>
              <a:buChar char="–"/>
            </a:pPr>
            <a:endParaRPr/>
          </a:p>
          <a:p>
            <a:pPr lvl="1">
              <a:buFont typeface="굴림"/>
              <a:buChar char="–"/>
            </a:pPr>
            <a:endParaRPr/>
          </a:p>
          <a:p>
            <a:pPr lvl="1">
              <a:buFont typeface="굴림"/>
              <a:buChar char="–"/>
            </a:pPr>
            <a:endParaRPr/>
          </a:p>
          <a:p>
            <a:pPr lvl="1">
              <a:buFont typeface="굴림"/>
              <a:buChar char="–"/>
            </a:pPr>
            <a:endParaRPr/>
          </a:p>
          <a:p>
            <a:pPr>
              <a:buFont typeface="Arial"/>
              <a:buAutoNum type="arabicPeriod"/>
            </a:pPr>
            <a:r>
              <a:rPr lang="en-US" sz="2800">
                <a:latin typeface="Arial"/>
              </a:rPr>
              <a:t>In a public-key system using RSA, you intercept the ciphertext C = 10 sent to a user whose public key is e = 5, n = 35. What is the plaintext M?</a:t>
            </a:r>
            <a:endParaRPr/>
          </a:p>
        </p:txBody>
      </p:sp>
      <p:sp>
        <p:nvSpPr>
          <p:cNvPr id="187" name="CustomShape 3"/>
          <p:cNvSpPr/>
          <p:nvPr/>
        </p:nvSpPr>
        <p:spPr>
          <a:xfrm>
            <a:off x="3124080" y="6553080"/>
            <a:ext cx="1828800" cy="3049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/>
          <a:p>
            <a:pPr algn="r">
              <a:buFont typeface="굴림"/>
              <a:buChar char="•"/>
            </a:pPr>
            <a:fld id="{44492AE3-6275-4AEF-842D-B67690AC421A}" type="slidenum">
              <a:rPr lang="en-US" sz="1000">
                <a:latin typeface="굴림"/>
              </a:rPr>
              <a:t>&lt;number&gt;</a:t>
            </a:fld>
            <a:endParaRPr/>
          </a:p>
        </p:txBody>
      </p:sp>
      <p:sp>
        <p:nvSpPr>
          <p:cNvPr id="188" name="CustomShape 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CustomShap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CustomShape 6"/>
          <p:cNvSpPr/>
          <p:nvPr/>
        </p:nvSpPr>
        <p:spPr>
          <a:xfrm>
            <a:off x="295200" y="2873520"/>
            <a:ext cx="8491680" cy="250668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CustomShape 7"/>
          <p:cNvSpPr/>
          <p:nvPr/>
        </p:nvSpPr>
        <p:spPr>
          <a:xfrm>
            <a:off x="1790640" y="3257640"/>
            <a:ext cx="2198520" cy="110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2" name="CustomShape 8"/>
          <p:cNvSpPr/>
          <p:nvPr/>
        </p:nvSpPr>
        <p:spPr>
          <a:xfrm>
            <a:off x="1790640" y="3257640"/>
            <a:ext cx="2198520" cy="11001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193" name="CustomShape 9"/>
          <p:cNvSpPr/>
          <p:nvPr/>
        </p:nvSpPr>
        <p:spPr>
          <a:xfrm>
            <a:off x="5091120" y="3257640"/>
            <a:ext cx="2198520" cy="110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4" name="CustomShape 10"/>
          <p:cNvSpPr/>
          <p:nvPr/>
        </p:nvSpPr>
        <p:spPr>
          <a:xfrm>
            <a:off x="5091120" y="3257640"/>
            <a:ext cx="2198520" cy="11001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</p:sp>
      <p:sp>
        <p:nvSpPr>
          <p:cNvPr id="195" name="Line 11"/>
          <p:cNvSpPr/>
          <p:nvPr/>
        </p:nvSpPr>
        <p:spPr>
          <a:xfrm>
            <a:off x="1239480" y="3807000"/>
            <a:ext cx="715680" cy="1440"/>
          </a:xfrm>
          <a:prstGeom prst="line">
            <a:avLst/>
          </a:prstGeom>
          <a:ln>
            <a:solidFill>
              <a:srgbClr val="000000"/>
            </a:solidFill>
          </a:ln>
        </p:spPr>
      </p:sp>
      <p:sp>
        <p:nvSpPr>
          <p:cNvPr id="196" name="CustomShape 12"/>
          <p:cNvSpPr/>
          <p:nvPr/>
        </p:nvSpPr>
        <p:spPr>
          <a:xfrm>
            <a:off x="1919160" y="3735360"/>
            <a:ext cx="145800" cy="144360"/>
          </a:xfrm>
          <a:prstGeom prst="pi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7" name="Line 13"/>
          <p:cNvSpPr/>
          <p:nvPr/>
        </p:nvSpPr>
        <p:spPr>
          <a:xfrm>
            <a:off x="3716280" y="3808440"/>
            <a:ext cx="1539720" cy="1440"/>
          </a:xfrm>
          <a:prstGeom prst="line">
            <a:avLst/>
          </a:prstGeom>
          <a:ln>
            <a:solidFill>
              <a:srgbClr val="000000"/>
            </a:solidFill>
          </a:ln>
        </p:spPr>
      </p:sp>
      <p:sp>
        <p:nvSpPr>
          <p:cNvPr id="198" name="CustomShape 14"/>
          <p:cNvSpPr/>
          <p:nvPr/>
        </p:nvSpPr>
        <p:spPr>
          <a:xfrm>
            <a:off x="5221080" y="3735360"/>
            <a:ext cx="142560" cy="144360"/>
          </a:xfrm>
          <a:prstGeom prst="pi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9" name="Line 15"/>
          <p:cNvSpPr/>
          <p:nvPr/>
        </p:nvSpPr>
        <p:spPr>
          <a:xfrm>
            <a:off x="7014960" y="3808440"/>
            <a:ext cx="715680" cy="1440"/>
          </a:xfrm>
          <a:prstGeom prst="line">
            <a:avLst/>
          </a:prstGeom>
          <a:ln>
            <a:solidFill>
              <a:srgbClr val="000000"/>
            </a:solidFill>
          </a:ln>
        </p:spPr>
      </p:sp>
      <p:sp>
        <p:nvSpPr>
          <p:cNvPr id="200" name="CustomShape 16"/>
          <p:cNvSpPr/>
          <p:nvPr/>
        </p:nvSpPr>
        <p:spPr>
          <a:xfrm>
            <a:off x="7696080" y="3735360"/>
            <a:ext cx="144360" cy="144360"/>
          </a:xfrm>
          <a:prstGeom prst="pi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1" name="CustomShape 17"/>
          <p:cNvSpPr/>
          <p:nvPr/>
        </p:nvSpPr>
        <p:spPr>
          <a:xfrm>
            <a:off x="2431800" y="3005280"/>
            <a:ext cx="90612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Encryption</a:t>
            </a:r>
            <a:endParaRPr/>
          </a:p>
        </p:txBody>
      </p:sp>
      <p:sp>
        <p:nvSpPr>
          <p:cNvPr id="202" name="CustomShape 18"/>
          <p:cNvSpPr/>
          <p:nvPr/>
        </p:nvSpPr>
        <p:spPr>
          <a:xfrm>
            <a:off x="5727600" y="3005280"/>
            <a:ext cx="91656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Decryption</a:t>
            </a:r>
            <a:endParaRPr/>
          </a:p>
        </p:txBody>
      </p:sp>
      <p:sp>
        <p:nvSpPr>
          <p:cNvPr id="203" name="CustomShape 19"/>
          <p:cNvSpPr/>
          <p:nvPr/>
        </p:nvSpPr>
        <p:spPr>
          <a:xfrm>
            <a:off x="317160" y="3575160"/>
            <a:ext cx="73512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Plaintext</a:t>
            </a:r>
            <a:endParaRPr/>
          </a:p>
        </p:txBody>
      </p:sp>
      <p:sp>
        <p:nvSpPr>
          <p:cNvPr id="204" name="CustomShape 20"/>
          <p:cNvSpPr/>
          <p:nvPr/>
        </p:nvSpPr>
        <p:spPr>
          <a:xfrm>
            <a:off x="582480" y="3808440"/>
            <a:ext cx="214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88</a:t>
            </a:r>
            <a:endParaRPr/>
          </a:p>
        </p:txBody>
      </p:sp>
      <p:sp>
        <p:nvSpPr>
          <p:cNvPr id="205" name="CustomShape 21"/>
          <p:cNvSpPr/>
          <p:nvPr/>
        </p:nvSpPr>
        <p:spPr>
          <a:xfrm>
            <a:off x="4098960" y="3300480"/>
            <a:ext cx="8740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Ciphertext</a:t>
            </a:r>
            <a:endParaRPr/>
          </a:p>
        </p:txBody>
      </p:sp>
      <p:sp>
        <p:nvSpPr>
          <p:cNvPr id="206" name="CustomShape 22"/>
          <p:cNvSpPr/>
          <p:nvPr/>
        </p:nvSpPr>
        <p:spPr>
          <a:xfrm>
            <a:off x="4432320" y="3533760"/>
            <a:ext cx="214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11</a:t>
            </a:r>
            <a:endParaRPr/>
          </a:p>
        </p:txBody>
      </p:sp>
      <p:sp>
        <p:nvSpPr>
          <p:cNvPr id="207" name="CustomShape 23"/>
          <p:cNvSpPr/>
          <p:nvPr/>
        </p:nvSpPr>
        <p:spPr>
          <a:xfrm>
            <a:off x="8018280" y="3575160"/>
            <a:ext cx="73512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Plaintext</a:t>
            </a:r>
            <a:endParaRPr/>
          </a:p>
        </p:txBody>
      </p:sp>
      <p:sp>
        <p:nvSpPr>
          <p:cNvPr id="208" name="CustomShape 24"/>
          <p:cNvSpPr/>
          <p:nvPr/>
        </p:nvSpPr>
        <p:spPr>
          <a:xfrm>
            <a:off x="8283600" y="3808440"/>
            <a:ext cx="214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88</a:t>
            </a:r>
            <a:endParaRPr/>
          </a:p>
        </p:txBody>
      </p:sp>
      <p:sp>
        <p:nvSpPr>
          <p:cNvPr id="209" name="CustomShape 25"/>
          <p:cNvSpPr/>
          <p:nvPr/>
        </p:nvSpPr>
        <p:spPr>
          <a:xfrm>
            <a:off x="2124000" y="3692520"/>
            <a:ext cx="214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88</a:t>
            </a:r>
            <a:endParaRPr/>
          </a:p>
        </p:txBody>
      </p:sp>
      <p:sp>
        <p:nvSpPr>
          <p:cNvPr id="210" name="CustomShape 26"/>
          <p:cNvSpPr/>
          <p:nvPr/>
        </p:nvSpPr>
        <p:spPr>
          <a:xfrm>
            <a:off x="2339640" y="3660840"/>
            <a:ext cx="70920" cy="15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000">
                <a:solidFill>
                  <a:srgbClr val="000000"/>
                </a:solidFill>
                <a:latin typeface="Arial"/>
              </a:rPr>
              <a:t>7</a:t>
            </a:r>
            <a:endParaRPr/>
          </a:p>
        </p:txBody>
      </p:sp>
      <p:sp>
        <p:nvSpPr>
          <p:cNvPr id="211" name="CustomShape 27"/>
          <p:cNvSpPr/>
          <p:nvPr/>
        </p:nvSpPr>
        <p:spPr>
          <a:xfrm>
            <a:off x="2409480" y="3692520"/>
            <a:ext cx="5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 </a:t>
            </a:r>
            <a:endParaRPr/>
          </a:p>
        </p:txBody>
      </p:sp>
      <p:sp>
        <p:nvSpPr>
          <p:cNvPr id="212" name="CustomShape 28"/>
          <p:cNvSpPr/>
          <p:nvPr/>
        </p:nvSpPr>
        <p:spPr>
          <a:xfrm>
            <a:off x="2463480" y="3692520"/>
            <a:ext cx="425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mod </a:t>
            </a:r>
            <a:endParaRPr/>
          </a:p>
        </p:txBody>
      </p:sp>
      <p:sp>
        <p:nvSpPr>
          <p:cNvPr id="213" name="CustomShape 29"/>
          <p:cNvSpPr/>
          <p:nvPr/>
        </p:nvSpPr>
        <p:spPr>
          <a:xfrm>
            <a:off x="2895480" y="3692520"/>
            <a:ext cx="37404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187 </a:t>
            </a:r>
            <a:endParaRPr/>
          </a:p>
        </p:txBody>
      </p:sp>
      <p:sp>
        <p:nvSpPr>
          <p:cNvPr id="214" name="CustomShape 30"/>
          <p:cNvSpPr/>
          <p:nvPr/>
        </p:nvSpPr>
        <p:spPr>
          <a:xfrm>
            <a:off x="3273120" y="3692520"/>
            <a:ext cx="16524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= </a:t>
            </a:r>
            <a:endParaRPr/>
          </a:p>
        </p:txBody>
      </p:sp>
      <p:sp>
        <p:nvSpPr>
          <p:cNvPr id="215" name="CustomShape 31"/>
          <p:cNvSpPr/>
          <p:nvPr/>
        </p:nvSpPr>
        <p:spPr>
          <a:xfrm>
            <a:off x="3439800" y="3692520"/>
            <a:ext cx="214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11</a:t>
            </a:r>
            <a:endParaRPr/>
          </a:p>
        </p:txBody>
      </p:sp>
      <p:sp>
        <p:nvSpPr>
          <p:cNvPr id="216" name="CustomShape 32"/>
          <p:cNvSpPr/>
          <p:nvPr/>
        </p:nvSpPr>
        <p:spPr>
          <a:xfrm>
            <a:off x="5389560" y="3692520"/>
            <a:ext cx="214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11</a:t>
            </a:r>
            <a:endParaRPr/>
          </a:p>
        </p:txBody>
      </p:sp>
      <p:sp>
        <p:nvSpPr>
          <p:cNvPr id="217" name="CustomShape 33"/>
          <p:cNvSpPr/>
          <p:nvPr/>
        </p:nvSpPr>
        <p:spPr>
          <a:xfrm>
            <a:off x="5605200" y="3660840"/>
            <a:ext cx="140760" cy="15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000">
                <a:solidFill>
                  <a:srgbClr val="000000"/>
                </a:solidFill>
                <a:latin typeface="Arial"/>
              </a:rPr>
              <a:t>23</a:t>
            </a:r>
            <a:endParaRPr/>
          </a:p>
        </p:txBody>
      </p:sp>
      <p:sp>
        <p:nvSpPr>
          <p:cNvPr id="218" name="CustomShape 34"/>
          <p:cNvSpPr/>
          <p:nvPr/>
        </p:nvSpPr>
        <p:spPr>
          <a:xfrm>
            <a:off x="5746680" y="3692520"/>
            <a:ext cx="5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 </a:t>
            </a:r>
            <a:endParaRPr/>
          </a:p>
        </p:txBody>
      </p:sp>
      <p:sp>
        <p:nvSpPr>
          <p:cNvPr id="219" name="CustomShape 35"/>
          <p:cNvSpPr/>
          <p:nvPr/>
        </p:nvSpPr>
        <p:spPr>
          <a:xfrm>
            <a:off x="5800680" y="3692520"/>
            <a:ext cx="425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mod </a:t>
            </a:r>
            <a:endParaRPr/>
          </a:p>
        </p:txBody>
      </p:sp>
      <p:sp>
        <p:nvSpPr>
          <p:cNvPr id="220" name="CustomShape 36"/>
          <p:cNvSpPr/>
          <p:nvPr/>
        </p:nvSpPr>
        <p:spPr>
          <a:xfrm>
            <a:off x="6230880" y="3692520"/>
            <a:ext cx="37404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187 </a:t>
            </a:r>
            <a:endParaRPr/>
          </a:p>
        </p:txBody>
      </p:sp>
      <p:sp>
        <p:nvSpPr>
          <p:cNvPr id="221" name="CustomShape 37"/>
          <p:cNvSpPr/>
          <p:nvPr/>
        </p:nvSpPr>
        <p:spPr>
          <a:xfrm>
            <a:off x="6608880" y="3692520"/>
            <a:ext cx="16524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= </a:t>
            </a:r>
            <a:endParaRPr/>
          </a:p>
        </p:txBody>
      </p:sp>
      <p:sp>
        <p:nvSpPr>
          <p:cNvPr id="222" name="CustomShape 38"/>
          <p:cNvSpPr/>
          <p:nvPr/>
        </p:nvSpPr>
        <p:spPr>
          <a:xfrm>
            <a:off x="6775560" y="3692520"/>
            <a:ext cx="214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88</a:t>
            </a:r>
            <a:endParaRPr/>
          </a:p>
        </p:txBody>
      </p:sp>
      <p:sp>
        <p:nvSpPr>
          <p:cNvPr id="223" name="CustomShape 39"/>
          <p:cNvSpPr/>
          <p:nvPr/>
        </p:nvSpPr>
        <p:spPr>
          <a:xfrm>
            <a:off x="2374560" y="4654800"/>
            <a:ext cx="317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KU </a:t>
            </a:r>
            <a:endParaRPr/>
          </a:p>
        </p:txBody>
      </p:sp>
      <p:sp>
        <p:nvSpPr>
          <p:cNvPr id="224" name="CustomShape 40"/>
          <p:cNvSpPr/>
          <p:nvPr/>
        </p:nvSpPr>
        <p:spPr>
          <a:xfrm>
            <a:off x="2698560" y="4654800"/>
            <a:ext cx="16524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= </a:t>
            </a:r>
            <a:endParaRPr/>
          </a:p>
        </p:txBody>
      </p:sp>
      <p:sp>
        <p:nvSpPr>
          <p:cNvPr id="225" name="CustomShape 41"/>
          <p:cNvSpPr/>
          <p:nvPr/>
        </p:nvSpPr>
        <p:spPr>
          <a:xfrm>
            <a:off x="2865240" y="4654800"/>
            <a:ext cx="1072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7</a:t>
            </a:r>
            <a:endParaRPr/>
          </a:p>
        </p:txBody>
      </p:sp>
      <p:sp>
        <p:nvSpPr>
          <p:cNvPr id="226" name="CustomShape 42"/>
          <p:cNvSpPr/>
          <p:nvPr/>
        </p:nvSpPr>
        <p:spPr>
          <a:xfrm>
            <a:off x="2973240" y="4654800"/>
            <a:ext cx="1072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, </a:t>
            </a:r>
            <a:endParaRPr/>
          </a:p>
        </p:txBody>
      </p:sp>
      <p:sp>
        <p:nvSpPr>
          <p:cNvPr id="227" name="CustomShape 43"/>
          <p:cNvSpPr/>
          <p:nvPr/>
        </p:nvSpPr>
        <p:spPr>
          <a:xfrm>
            <a:off x="3081240" y="4654800"/>
            <a:ext cx="32076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187</a:t>
            </a:r>
            <a:endParaRPr/>
          </a:p>
        </p:txBody>
      </p:sp>
      <p:sp>
        <p:nvSpPr>
          <p:cNvPr id="228" name="CustomShape 44"/>
          <p:cNvSpPr/>
          <p:nvPr/>
        </p:nvSpPr>
        <p:spPr>
          <a:xfrm>
            <a:off x="5621400" y="4654800"/>
            <a:ext cx="317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KR </a:t>
            </a:r>
            <a:endParaRPr/>
          </a:p>
        </p:txBody>
      </p:sp>
      <p:sp>
        <p:nvSpPr>
          <p:cNvPr id="229" name="CustomShape 45"/>
          <p:cNvSpPr/>
          <p:nvPr/>
        </p:nvSpPr>
        <p:spPr>
          <a:xfrm>
            <a:off x="5945040" y="4654800"/>
            <a:ext cx="16524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= </a:t>
            </a:r>
            <a:endParaRPr/>
          </a:p>
        </p:txBody>
      </p:sp>
      <p:sp>
        <p:nvSpPr>
          <p:cNvPr id="230" name="CustomShape 46"/>
          <p:cNvSpPr/>
          <p:nvPr/>
        </p:nvSpPr>
        <p:spPr>
          <a:xfrm>
            <a:off x="6111720" y="4654800"/>
            <a:ext cx="214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23</a:t>
            </a:r>
            <a:endParaRPr/>
          </a:p>
        </p:txBody>
      </p:sp>
      <p:sp>
        <p:nvSpPr>
          <p:cNvPr id="231" name="CustomShape 47"/>
          <p:cNvSpPr/>
          <p:nvPr/>
        </p:nvSpPr>
        <p:spPr>
          <a:xfrm>
            <a:off x="6327720" y="4654800"/>
            <a:ext cx="1072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, </a:t>
            </a:r>
            <a:endParaRPr/>
          </a:p>
        </p:txBody>
      </p:sp>
      <p:sp>
        <p:nvSpPr>
          <p:cNvPr id="232" name="CustomShape 48"/>
          <p:cNvSpPr/>
          <p:nvPr/>
        </p:nvSpPr>
        <p:spPr>
          <a:xfrm>
            <a:off x="6435720" y="4654800"/>
            <a:ext cx="32076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187</a:t>
            </a:r>
            <a:endParaRPr/>
          </a:p>
        </p:txBody>
      </p:sp>
      <p:sp>
        <p:nvSpPr>
          <p:cNvPr id="233" name="Line 49"/>
          <p:cNvSpPr/>
          <p:nvPr/>
        </p:nvSpPr>
        <p:spPr>
          <a:xfrm>
            <a:off x="2374560" y="3861000"/>
            <a:ext cx="515880" cy="771480"/>
          </a:xfrm>
          <a:prstGeom prst="line">
            <a:avLst/>
          </a:prstGeom>
          <a:ln>
            <a:solidFill>
              <a:srgbClr val="000000"/>
            </a:solidFill>
          </a:ln>
        </p:spPr>
      </p:sp>
      <p:sp>
        <p:nvSpPr>
          <p:cNvPr id="234" name="CustomShape 50"/>
          <p:cNvSpPr/>
          <p:nvPr/>
        </p:nvSpPr>
        <p:spPr>
          <a:xfrm>
            <a:off x="2339640" y="3807000"/>
            <a:ext cx="80640" cy="93600"/>
          </a:xfrm>
          <a:prstGeom prst="pi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35" name="Line 51"/>
          <p:cNvSpPr/>
          <p:nvPr/>
        </p:nvSpPr>
        <p:spPr>
          <a:xfrm>
            <a:off x="5676840" y="3861000"/>
            <a:ext cx="512640" cy="771480"/>
          </a:xfrm>
          <a:prstGeom prst="line">
            <a:avLst/>
          </a:prstGeom>
          <a:ln>
            <a:solidFill>
              <a:srgbClr val="000000"/>
            </a:solidFill>
          </a:ln>
        </p:spPr>
      </p:sp>
      <p:sp>
        <p:nvSpPr>
          <p:cNvPr id="236" name="CustomShape 52"/>
          <p:cNvSpPr/>
          <p:nvPr/>
        </p:nvSpPr>
        <p:spPr>
          <a:xfrm>
            <a:off x="5640480" y="3808440"/>
            <a:ext cx="80640" cy="91800"/>
          </a:xfrm>
          <a:prstGeom prst="pi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37" name="Line 53"/>
          <p:cNvSpPr/>
          <p:nvPr/>
        </p:nvSpPr>
        <p:spPr>
          <a:xfrm>
            <a:off x="6380280" y="4030920"/>
            <a:ext cx="250560" cy="601560"/>
          </a:xfrm>
          <a:prstGeom prst="line">
            <a:avLst/>
          </a:prstGeom>
          <a:ln>
            <a:solidFill>
              <a:srgbClr val="000000"/>
            </a:solidFill>
          </a:ln>
        </p:spPr>
      </p:sp>
      <p:sp>
        <p:nvSpPr>
          <p:cNvPr id="238" name="CustomShape 54"/>
          <p:cNvSpPr/>
          <p:nvPr/>
        </p:nvSpPr>
        <p:spPr>
          <a:xfrm>
            <a:off x="6348240" y="3971880"/>
            <a:ext cx="79200" cy="93600"/>
          </a:xfrm>
          <a:prstGeom prst="pi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39" name="Line 55"/>
          <p:cNvSpPr/>
          <p:nvPr/>
        </p:nvSpPr>
        <p:spPr>
          <a:xfrm>
            <a:off x="3079440" y="4030920"/>
            <a:ext cx="250560" cy="601560"/>
          </a:xfrm>
          <a:prstGeom prst="line">
            <a:avLst/>
          </a:prstGeom>
          <a:ln>
            <a:solidFill>
              <a:srgbClr val="000000"/>
            </a:solidFill>
          </a:ln>
        </p:spPr>
      </p:sp>
      <p:sp>
        <p:nvSpPr>
          <p:cNvPr id="240" name="CustomShape 56"/>
          <p:cNvSpPr/>
          <p:nvPr/>
        </p:nvSpPr>
        <p:spPr>
          <a:xfrm>
            <a:off x="3047760" y="3971880"/>
            <a:ext cx="77760" cy="93600"/>
          </a:xfrm>
          <a:prstGeom prst="pi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1" name="CustomShape 57"/>
          <p:cNvSpPr/>
          <p:nvPr/>
        </p:nvSpPr>
        <p:spPr>
          <a:xfrm>
            <a:off x="2960640" y="4866120"/>
            <a:ext cx="63612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b="1" lang="en-IN" sz="1500">
                <a:solidFill>
                  <a:srgbClr val="000000"/>
                </a:solidFill>
                <a:latin typeface="Arial"/>
              </a:rPr>
              <a:t>Figure </a:t>
            </a:r>
            <a:endParaRPr/>
          </a:p>
        </p:txBody>
      </p:sp>
      <p:sp>
        <p:nvSpPr>
          <p:cNvPr id="242" name="CustomShape 58"/>
          <p:cNvSpPr/>
          <p:nvPr/>
        </p:nvSpPr>
        <p:spPr>
          <a:xfrm>
            <a:off x="3606480" y="4866120"/>
            <a:ext cx="1072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b="1" lang="en-IN" sz="1500">
                <a:solidFill>
                  <a:srgbClr val="000000"/>
                </a:solidFill>
                <a:latin typeface="Arial"/>
              </a:rPr>
              <a:t>1</a:t>
            </a:r>
            <a:endParaRPr/>
          </a:p>
        </p:txBody>
      </p:sp>
      <p:sp>
        <p:nvSpPr>
          <p:cNvPr id="243" name="CustomShape 59"/>
          <p:cNvSpPr/>
          <p:nvPr/>
        </p:nvSpPr>
        <p:spPr>
          <a:xfrm>
            <a:off x="3714480" y="4866120"/>
            <a:ext cx="5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b="1" lang="en-IN" sz="1500">
                <a:solidFill>
                  <a:srgbClr val="000000"/>
                </a:solidFill>
                <a:latin typeface="Arial"/>
              </a:rPr>
              <a:t>.</a:t>
            </a:r>
            <a:endParaRPr/>
          </a:p>
        </p:txBody>
      </p:sp>
      <p:sp>
        <p:nvSpPr>
          <p:cNvPr id="244" name="CustomShape 60"/>
          <p:cNvSpPr/>
          <p:nvPr/>
        </p:nvSpPr>
        <p:spPr>
          <a:xfrm>
            <a:off x="3768480" y="4872240"/>
            <a:ext cx="5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 </a:t>
            </a:r>
            <a:endParaRPr/>
          </a:p>
        </p:txBody>
      </p:sp>
      <p:sp>
        <p:nvSpPr>
          <p:cNvPr id="245" name="CustomShape 61"/>
          <p:cNvSpPr/>
          <p:nvPr/>
        </p:nvSpPr>
        <p:spPr>
          <a:xfrm>
            <a:off x="3822480" y="4872240"/>
            <a:ext cx="224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</a:rPr>
              <a:t>Example of RSA Algorithm</a:t>
            </a:r>
            <a:endParaRPr/>
          </a:p>
        </p:txBody>
      </p:sp>
    </p:spTree>
  </p:cSld>
  <p:timing>
    <p:tnLst>
      <p:par>
        <p:cTn id="320" dur="indefinite" restart="never" nodeType="tmRoot">
          <p:childTnLst>
            <p:seq>
              <p:cTn id="321" nodeType="mainSeq">
                <p:childTnLst>
                  <p:par>
                    <p:cTn id="322" fill="freeze">
                      <p:stCondLst>
                        <p:cond delay="0"/>
                      </p:stCondLst>
                      <p:childTnLst>
                        <p:par>
                          <p:cTn id="323" fill="freeze">
                            <p:stCondLst>
                              <p:cond delay="0"/>
                            </p:stCondLst>
                            <p:childTnLst>
                              <p:par>
                                <p:cTn id="32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2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freeze">
                            <p:stCondLst>
                              <p:cond delay="500"/>
                            </p:stCondLst>
                            <p:childTnLst>
                              <p:par>
                                <p:cTn id="32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3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