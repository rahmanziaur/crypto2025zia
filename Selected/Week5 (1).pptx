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89" r:id="rId2"/>
    <p:sldId id="257" r:id="rId3"/>
    <p:sldId id="258" r:id="rId4"/>
    <p:sldId id="259" r:id="rId5"/>
    <p:sldId id="260" r:id="rId6"/>
    <p:sldId id="261" r:id="rId7"/>
    <p:sldId id="262" r:id="rId8"/>
    <p:sldId id="263" r:id="rId9"/>
    <p:sldId id="290" r:id="rId10"/>
    <p:sldId id="264" r:id="rId11"/>
    <p:sldId id="265" r:id="rId12"/>
    <p:sldId id="266" r:id="rId13"/>
    <p:sldId id="292" r:id="rId14"/>
    <p:sldId id="267" r:id="rId15"/>
    <p:sldId id="268" r:id="rId16"/>
    <p:sldId id="270" r:id="rId17"/>
    <p:sldId id="291" r:id="rId18"/>
    <p:sldId id="271" r:id="rId19"/>
    <p:sldId id="277" r:id="rId20"/>
    <p:sldId id="281" r:id="rId21"/>
    <p:sldId id="298" r:id="rId22"/>
    <p:sldId id="299" r:id="rId23"/>
    <p:sldId id="284" r:id="rId24"/>
    <p:sldId id="285" r:id="rId25"/>
    <p:sldId id="297" r:id="rId26"/>
    <p:sldId id="286" r:id="rId27"/>
    <p:sldId id="293" r:id="rId28"/>
    <p:sldId id="294" r:id="rId29"/>
    <p:sldId id="295" r:id="rId30"/>
    <p:sldId id="296" r:id="rId31"/>
    <p:sldId id="288"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7"/>
    <p:restoredTop sz="94645"/>
  </p:normalViewPr>
  <p:slideViewPr>
    <p:cSldViewPr snapToGrid="0" snapToObjects="1">
      <p:cViewPr varScale="1">
        <p:scale>
          <a:sx n="63" d="100"/>
          <a:sy n="63" d="100"/>
        </p:scale>
        <p:origin x="1308"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wmf"/><Relationship Id="rId4"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10.wmf"/><Relationship Id="rId7" Type="http://schemas.openxmlformats.org/officeDocument/2006/relationships/image" Target="../media/image14.emf"/><Relationship Id="rId2" Type="http://schemas.openxmlformats.org/officeDocument/2006/relationships/image" Target="../media/image9.wmf"/><Relationship Id="rId1" Type="http://schemas.openxmlformats.org/officeDocument/2006/relationships/image" Target="../media/image5.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28.wmf"/><Relationship Id="rId6" Type="http://schemas.openxmlformats.org/officeDocument/2006/relationships/image" Target="../media/image39.emf"/><Relationship Id="rId5" Type="http://schemas.openxmlformats.org/officeDocument/2006/relationships/image" Target="../media/image38.wmf"/><Relationship Id="rId4"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image" Target="../media/image40.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357E9B-1767-C54A-811C-6D73F9C0B2D8}" type="datetimeFigureOut">
              <a:rPr lang="en-US" smtClean="0"/>
              <a:t>8/29/2019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3DD1F0-C073-4C4C-8E80-239D375B364B}" type="slidenum">
              <a:rPr lang="en-US" smtClean="0"/>
              <a:t>‹#›</a:t>
            </a:fld>
            <a:endParaRPr lang="en-US"/>
          </a:p>
        </p:txBody>
      </p:sp>
    </p:spTree>
    <p:extLst>
      <p:ext uri="{BB962C8B-B14F-4D97-AF65-F5344CB8AC3E}">
        <p14:creationId xmlns:p14="http://schemas.microsoft.com/office/powerpoint/2010/main" val="2050810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p:cNvSpPr>
          <p:nvPr>
            <p:ph type="sldImg"/>
          </p:nvPr>
        </p:nvSpPr>
        <p:spPr>
          <a:ln/>
        </p:spPr>
      </p:sp>
      <p:sp>
        <p:nvSpPr>
          <p:cNvPr id="22531"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dirty="0" err="1" smtClean="0">
                <a:ea typeface="ＭＳ Ｐゴシック" charset="0"/>
                <a:cs typeface="ＭＳ Ｐゴシック" charset="0"/>
              </a:rPr>
              <a:t>Diffie</a:t>
            </a:r>
            <a:r>
              <a:rPr lang="en-US" dirty="0" smtClean="0">
                <a:ea typeface="ＭＳ Ｐゴシック" charset="0"/>
                <a:cs typeface="ＭＳ Ｐゴシック" charset="0"/>
              </a:rPr>
              <a:t>-Hellman public key cryptography. </a:t>
            </a:r>
          </a:p>
          <a:p>
            <a:pPr eaLnBrk="1" hangingPunct="1"/>
            <a:endParaRPr lang="en-US" dirty="0" smtClean="0">
              <a:ea typeface="ＭＳ Ｐゴシック" charset="0"/>
              <a:cs typeface="ＭＳ Ｐゴシック" charset="0"/>
            </a:endParaRPr>
          </a:p>
          <a:p>
            <a:pPr eaLnBrk="1" hangingPunct="1"/>
            <a:endParaRPr lang="en-US" dirty="0" smtClean="0">
              <a:ea typeface="ＭＳ Ｐゴシック" charset="0"/>
              <a:cs typeface="ＭＳ Ｐゴシック" charset="0"/>
            </a:endParaRPr>
          </a:p>
          <a:p>
            <a:pPr eaLnBrk="1" hangingPunct="1"/>
            <a:r>
              <a:rPr lang="en-US" dirty="0" smtClean="0">
                <a:ea typeface="ＭＳ Ｐゴシック" charset="0"/>
                <a:cs typeface="ＭＳ Ｐゴシック" charset="0"/>
              </a:rPr>
              <a:t>This is</a:t>
            </a:r>
            <a:r>
              <a:rPr lang="en-US" baseline="0" dirty="0" smtClean="0">
                <a:ea typeface="ＭＳ Ｐゴシック" charset="0"/>
                <a:cs typeface="ＭＳ Ｐゴシック" charset="0"/>
              </a:rPr>
              <a:t> </a:t>
            </a:r>
            <a:r>
              <a:rPr lang="en-US" dirty="0" smtClean="0">
                <a:ea typeface="ＭＳ Ｐゴシック" charset="0"/>
                <a:cs typeface="ＭＳ Ｐゴシック" charset="0"/>
              </a:rPr>
              <a:t>a </a:t>
            </a:r>
            <a:r>
              <a:rPr lang="en-US" dirty="0">
                <a:ea typeface="ＭＳ Ｐゴシック" charset="0"/>
                <a:cs typeface="ＭＳ Ｐゴシック" charset="0"/>
              </a:rPr>
              <a:t>generic model of the process of making and using digital signatures. Bob can sign a message using a digital signature generation algorithm. The inputs to the algorithm are the message and Bob's private key. Any other user, say Alice, can verify the signature using a verification algorithm, whose inputs are the message, the signature, and Bob's public key. </a:t>
            </a:r>
          </a:p>
        </p:txBody>
      </p:sp>
      <p:sp>
        <p:nvSpPr>
          <p:cNvPr id="22532"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189BB363-619C-5642-ABAC-055FC66F5908}" type="slidenum">
              <a:rPr lang="en-AU" sz="1200"/>
              <a:pPr eaLnBrk="1" hangingPunct="1"/>
              <a:t>21</a:t>
            </a:fld>
            <a:endParaRPr lang="en-AU" sz="1200"/>
          </a:p>
        </p:txBody>
      </p:sp>
    </p:spTree>
    <p:extLst>
      <p:ext uri="{BB962C8B-B14F-4D97-AF65-F5344CB8AC3E}">
        <p14:creationId xmlns:p14="http://schemas.microsoft.com/office/powerpoint/2010/main" val="532429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p:cNvSpPr>
          <p:nvPr>
            <p:ph type="sldImg"/>
          </p:nvPr>
        </p:nvSpPr>
        <p:spPr>
          <a:ln/>
        </p:spPr>
      </p:sp>
      <p:sp>
        <p:nvSpPr>
          <p:cNvPr id="2457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dirty="0">
              <a:ea typeface="ＭＳ Ｐゴシック" charset="0"/>
              <a:cs typeface="ＭＳ Ｐゴシック" charset="0"/>
            </a:endParaRPr>
          </a:p>
        </p:txBody>
      </p:sp>
      <p:sp>
        <p:nvSpPr>
          <p:cNvPr id="24580"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36E3A9B-928C-E847-AC04-760C8BBDC0B7}" type="slidenum">
              <a:rPr lang="en-AU" sz="1200"/>
              <a:pPr eaLnBrk="1" hangingPunct="1"/>
              <a:t>22</a:t>
            </a:fld>
            <a:endParaRPr lang="en-AU" sz="1200"/>
          </a:p>
        </p:txBody>
      </p:sp>
    </p:spTree>
    <p:extLst>
      <p:ext uri="{BB962C8B-B14F-4D97-AF65-F5344CB8AC3E}">
        <p14:creationId xmlns:p14="http://schemas.microsoft.com/office/powerpoint/2010/main" val="1869428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D2AFED22-876B-E248-81DB-136227B93591}" type="slidenum">
              <a:rPr lang="en-AU" sz="1200"/>
              <a:pPr eaLnBrk="1" hangingPunct="1"/>
              <a:t>27</a:t>
            </a:fld>
            <a:endParaRPr lang="en-AU" sz="120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AU" dirty="0">
                <a:ea typeface="ＭＳ Ｐゴシック" charset="0"/>
                <a:cs typeface="ＭＳ Ｐゴシック" charset="0"/>
              </a:rPr>
              <a:t>RSA is the best known, and by far the most widely used general public key encryption algorithm, and was first published by </a:t>
            </a:r>
            <a:r>
              <a:rPr lang="en-AU" dirty="0" err="1">
                <a:ea typeface="ＭＳ Ｐゴシック" charset="0"/>
                <a:cs typeface="ＭＳ Ｐゴシック" charset="0"/>
              </a:rPr>
              <a:t>Rivest</a:t>
            </a:r>
            <a:r>
              <a:rPr lang="en-AU" dirty="0">
                <a:ea typeface="ＭＳ Ｐゴシック" charset="0"/>
                <a:cs typeface="ＭＳ Ｐゴシック" charset="0"/>
              </a:rPr>
              <a:t>, Shamir &amp; </a:t>
            </a:r>
            <a:r>
              <a:rPr lang="en-AU" dirty="0" err="1">
                <a:ea typeface="ＭＳ Ｐゴシック" charset="0"/>
                <a:cs typeface="ＭＳ Ｐゴシック" charset="0"/>
              </a:rPr>
              <a:t>Adleman</a:t>
            </a:r>
            <a:r>
              <a:rPr lang="en-AU" dirty="0">
                <a:ea typeface="ＭＳ Ｐゴシック" charset="0"/>
                <a:cs typeface="ＭＳ Ｐゴシック" charset="0"/>
              </a:rPr>
              <a:t> of MIT in 1978 [RIVE78]. </a:t>
            </a:r>
            <a:r>
              <a:rPr lang="en-US" dirty="0">
                <a:ea typeface="ＭＳ Ｐゴシック" charset="0"/>
                <a:cs typeface="ＭＳ Ｐゴシック" charset="0"/>
              </a:rPr>
              <a:t>The </a:t>
            </a:r>
            <a:r>
              <a:rPr lang="en-US" dirty="0" err="1">
                <a:ea typeface="ＭＳ Ｐゴシック" charset="0"/>
                <a:cs typeface="ＭＳ Ｐゴシック" charset="0"/>
              </a:rPr>
              <a:t>Rivest</a:t>
            </a:r>
            <a:r>
              <a:rPr lang="en-US" dirty="0">
                <a:ea typeface="ＭＳ Ｐゴシック" charset="0"/>
                <a:cs typeface="ＭＳ Ｐゴシック" charset="0"/>
              </a:rPr>
              <a:t>-Shamir-</a:t>
            </a:r>
            <a:r>
              <a:rPr lang="en-US" dirty="0" err="1">
                <a:ea typeface="ＭＳ Ｐゴシック" charset="0"/>
                <a:cs typeface="ＭＳ Ｐゴシック" charset="0"/>
              </a:rPr>
              <a:t>Adleman</a:t>
            </a:r>
            <a:r>
              <a:rPr lang="en-US" dirty="0">
                <a:ea typeface="ＭＳ Ｐゴシック" charset="0"/>
                <a:cs typeface="ＭＳ Ｐゴシック" charset="0"/>
              </a:rPr>
              <a:t> (RSA) scheme has since that time reigned supreme as the most widely accepted and implemented general-purpose approach to public-key encryption. </a:t>
            </a:r>
            <a:r>
              <a:rPr lang="en-US" dirty="0">
                <a:latin typeface="Times-Roman" charset="0"/>
                <a:ea typeface="ＭＳ Ｐゴシック" charset="0"/>
                <a:cs typeface="ＭＳ Ｐゴシック" charset="0"/>
              </a:rPr>
              <a:t>It is </a:t>
            </a:r>
            <a:r>
              <a:rPr lang="en-AU" dirty="0">
                <a:ea typeface="ＭＳ Ｐゴシック" charset="0"/>
                <a:cs typeface="ＭＳ Ｐゴシック" charset="0"/>
              </a:rPr>
              <a:t>based on exponentiation in a finite (Galois) field over integers modulo a prime, using </a:t>
            </a:r>
            <a:r>
              <a:rPr lang="en-US" dirty="0">
                <a:ea typeface="ＭＳ Ｐゴシック" charset="0"/>
                <a:cs typeface="ＭＳ Ｐゴシック" charset="0"/>
              </a:rPr>
              <a:t>large integers (</a:t>
            </a:r>
            <a:r>
              <a:rPr lang="en-US" dirty="0" err="1">
                <a:ea typeface="ＭＳ Ｐゴシック" charset="0"/>
                <a:cs typeface="ＭＳ Ｐゴシック" charset="0"/>
              </a:rPr>
              <a:t>eg</a:t>
            </a:r>
            <a:r>
              <a:rPr lang="en-US" dirty="0">
                <a:ea typeface="ＭＳ Ｐゴシック" charset="0"/>
                <a:cs typeface="ＭＳ Ｐゴシック" charset="0"/>
              </a:rPr>
              <a:t>. 1024 bits)</a:t>
            </a:r>
            <a:r>
              <a:rPr lang="en-AU" dirty="0">
                <a:ea typeface="ＭＳ Ｐゴシック" charset="0"/>
                <a:cs typeface="ＭＳ Ｐゴシック" charset="0"/>
              </a:rPr>
              <a:t>. Its security is due to the cost of factoring large numbers</a:t>
            </a:r>
            <a:r>
              <a:rPr lang="en-AU" dirty="0" smtClean="0">
                <a:ea typeface="ＭＳ Ｐゴシック" charset="0"/>
                <a:cs typeface="ＭＳ Ｐゴシック" charset="0"/>
              </a:rPr>
              <a:t>.</a:t>
            </a:r>
          </a:p>
          <a:p>
            <a:pPr eaLnBrk="1" hangingPunct="1"/>
            <a:endParaRPr lang="en-AU" dirty="0" smtClean="0">
              <a:ea typeface="ＭＳ Ｐゴシック" charset="0"/>
              <a:cs typeface="ＭＳ Ｐゴシック" charset="0"/>
            </a:endParaRPr>
          </a:p>
          <a:p>
            <a:pPr eaLnBrk="1" hangingPunct="1"/>
            <a:endParaRPr lang="en-AU" dirty="0">
              <a:ea typeface="ＭＳ Ｐゴシック" charset="0"/>
              <a:cs typeface="ＭＳ Ｐゴシック" charset="0"/>
            </a:endParaRPr>
          </a:p>
        </p:txBody>
      </p:sp>
    </p:spTree>
    <p:extLst>
      <p:ext uri="{BB962C8B-B14F-4D97-AF65-F5344CB8AC3E}">
        <p14:creationId xmlns:p14="http://schemas.microsoft.com/office/powerpoint/2010/main" val="780996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23AB15E1-A1C5-7F49-BF0B-5EA8E29C7C74}" type="slidenum">
              <a:rPr lang="en-AU" sz="1200"/>
              <a:pPr eaLnBrk="1" hangingPunct="1"/>
              <a:t>28</a:t>
            </a:fld>
            <a:endParaRPr lang="en-AU" sz="120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ea typeface="ＭＳ Ｐゴシック" charset="0"/>
                <a:cs typeface="ＭＳ Ｐゴシック" charset="0"/>
              </a:rPr>
              <a:t>The scheme developed by Rivest, Shamir, and Adleman makes use of an expression with exponentials. Plaintext is encrypted in blocks, with each block having a binary value less than some number n. The actual RSA encryption and decryption computations are each simply a single exponentiation mod (n). Both sender and receiver must know the value of n. The sender knows the value of e, and only the receiver knows the value of d. Thus, this is a public-key encryption algorithm with a public key of PU = {e, n} and a private key of PR = {d, n}.  Note that the message must be smaller than the modulus. The “magic” is in the choice of the modulus and exponents which makes the system work.</a:t>
            </a:r>
          </a:p>
        </p:txBody>
      </p:sp>
    </p:spTree>
    <p:extLst>
      <p:ext uri="{BB962C8B-B14F-4D97-AF65-F5344CB8AC3E}">
        <p14:creationId xmlns:p14="http://schemas.microsoft.com/office/powerpoint/2010/main" val="19585644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94FEF00-DA1F-3445-901D-5383C35C2986}" type="slidenum">
              <a:rPr lang="en-AU" sz="1200"/>
              <a:pPr eaLnBrk="1" hangingPunct="1"/>
              <a:t>29</a:t>
            </a:fld>
            <a:endParaRPr lang="en-AU" sz="120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ea typeface="ＭＳ Ｐゴシック" charset="0"/>
                <a:cs typeface="ＭＳ Ｐゴシック" charset="0"/>
              </a:rPr>
              <a:t>Stallings provides an example of RSA key generation using “trivial” sized numbers.</a:t>
            </a:r>
          </a:p>
          <a:p>
            <a:pPr eaLnBrk="1" hangingPunct="1"/>
            <a:r>
              <a:rPr lang="en-US">
                <a:ea typeface="ＭＳ Ｐゴシック" charset="0"/>
                <a:cs typeface="ＭＳ Ｐゴシック" charset="0"/>
              </a:rPr>
              <a:t>Selecting primes requires the use of a primality test.</a:t>
            </a:r>
          </a:p>
          <a:p>
            <a:pPr eaLnBrk="1" hangingPunct="1"/>
            <a:r>
              <a:rPr lang="en-US">
                <a:ea typeface="ＭＳ Ｐゴシック" charset="0"/>
                <a:cs typeface="ＭＳ Ｐゴシック" charset="0"/>
              </a:rPr>
              <a:t>Finding d as inverse of e mod </a:t>
            </a:r>
            <a:r>
              <a:rPr lang="en-AU">
                <a:latin typeface="Courier New" charset="0"/>
                <a:ea typeface="ＭＳ Ｐゴシック" charset="0"/>
                <a:cs typeface="ＭＳ Ｐゴシック" charset="0"/>
              </a:rPr>
              <a:t>ø(</a:t>
            </a:r>
            <a:r>
              <a:rPr lang="en-AU" i="1">
                <a:latin typeface="Courier New" charset="0"/>
                <a:ea typeface="ＭＳ Ｐゴシック" charset="0"/>
                <a:cs typeface="ＭＳ Ｐゴシック" charset="0"/>
              </a:rPr>
              <a:t>n) </a:t>
            </a:r>
            <a:r>
              <a:rPr lang="en-AU">
                <a:ea typeface="ＭＳ Ｐゴシック" charset="0"/>
                <a:cs typeface="Arial" charset="0"/>
              </a:rPr>
              <a:t>requires use of Euclid</a:t>
            </a:r>
            <a:r>
              <a:rPr lang="ja-JP" altLang="en-AU">
                <a:ea typeface="ＭＳ Ｐゴシック" charset="0"/>
                <a:cs typeface="Arial" charset="0"/>
              </a:rPr>
              <a:t>’</a:t>
            </a:r>
            <a:r>
              <a:rPr lang="en-AU">
                <a:ea typeface="ＭＳ Ｐゴシック" charset="0"/>
                <a:cs typeface="Arial" charset="0"/>
              </a:rPr>
              <a:t>s Inverse algorithm (see Ch4)</a:t>
            </a:r>
          </a:p>
        </p:txBody>
      </p:sp>
    </p:spTree>
    <p:extLst>
      <p:ext uri="{BB962C8B-B14F-4D97-AF65-F5344CB8AC3E}">
        <p14:creationId xmlns:p14="http://schemas.microsoft.com/office/powerpoint/2010/main" val="784851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2317AD9-14F5-B049-B328-CE2BA801F9F4}" type="slidenum">
              <a:rPr lang="en-AU" sz="1200"/>
              <a:pPr eaLnBrk="1" hangingPunct="1"/>
              <a:t>30</a:t>
            </a:fld>
            <a:endParaRPr lang="en-AU" sz="120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AU">
                <a:ea typeface="ＭＳ Ｐゴシック" charset="0"/>
                <a:cs typeface="ＭＳ Ｐゴシック" charset="0"/>
              </a:rPr>
              <a:t>Then show that the encryption and decryption operations are simple exponentiations mod 187.</a:t>
            </a:r>
          </a:p>
          <a:p>
            <a:pPr eaLnBrk="1" hangingPunct="1"/>
            <a:r>
              <a:rPr lang="en-AU">
                <a:ea typeface="ＭＳ Ｐゴシック" charset="0"/>
                <a:cs typeface="ＭＳ Ｐゴシック" charset="0"/>
              </a:rPr>
              <a:t>Rather than having to laborious repeatedly multiply, can use the "square and multiply" algorithm with modulo reductions to implement all exponentiations quickly and efficiently (see next).</a:t>
            </a:r>
          </a:p>
        </p:txBody>
      </p:sp>
    </p:spTree>
    <p:extLst>
      <p:ext uri="{BB962C8B-B14F-4D97-AF65-F5344CB8AC3E}">
        <p14:creationId xmlns:p14="http://schemas.microsoft.com/office/powerpoint/2010/main" val="189200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p>
            <a:fld id="{AC8DF48C-70BA-9347-AC56-2F6BE64449E2}" type="datetimeFigureOut">
              <a:rPr lang="en-US" smtClean="0"/>
              <a:t>8/29/2019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98297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AC8DF48C-70BA-9347-AC56-2F6BE64449E2}" type="datetimeFigureOut">
              <a:rPr lang="en-US" smtClean="0"/>
              <a:t>8/29/2019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3607780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p>
            <a:fld id="{AC8DF48C-70BA-9347-AC56-2F6BE64449E2}" type="datetimeFigureOut">
              <a:rPr lang="en-US" smtClean="0"/>
              <a:t>8/29/2019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2232125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4"/>
          <p:cNvSpPr>
            <a:spLocks noGrp="1"/>
          </p:cNvSpPr>
          <p:nvPr>
            <p:ph type="dt" sz="half" idx="10"/>
          </p:nvPr>
        </p:nvSpPr>
        <p:spPr/>
        <p:txBody>
          <a:bodyPr/>
          <a:lstStyle/>
          <a:p>
            <a:fld id="{AC8DF48C-70BA-9347-AC56-2F6BE64449E2}" type="datetimeFigureOut">
              <a:rPr lang="en-US" smtClean="0"/>
              <a:t>8/29/2019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1343426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6"/>
          <p:cNvSpPr>
            <a:spLocks noGrp="1"/>
          </p:cNvSpPr>
          <p:nvPr>
            <p:ph type="dt" sz="half" idx="10"/>
          </p:nvPr>
        </p:nvSpPr>
        <p:spPr/>
        <p:txBody>
          <a:bodyPr/>
          <a:lstStyle/>
          <a:p>
            <a:fld id="{AC8DF48C-70BA-9347-AC56-2F6BE64449E2}" type="datetimeFigureOut">
              <a:rPr lang="en-US" smtClean="0"/>
              <a:t>8/29/2019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4015580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2"/>
          <p:cNvSpPr>
            <a:spLocks noGrp="1"/>
          </p:cNvSpPr>
          <p:nvPr>
            <p:ph type="dt" sz="half" idx="10"/>
          </p:nvPr>
        </p:nvSpPr>
        <p:spPr/>
        <p:txBody>
          <a:bodyPr/>
          <a:lstStyle/>
          <a:p>
            <a:fld id="{AC8DF48C-70BA-9347-AC56-2F6BE64449E2}" type="datetimeFigureOut">
              <a:rPr lang="en-US" smtClean="0"/>
              <a:t>8/29/2019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1399179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8DF48C-70BA-9347-AC56-2F6BE64449E2}" type="datetimeFigureOut">
              <a:rPr lang="en-US" smtClean="0"/>
              <a:t>8/29/2019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964473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AC8DF48C-70BA-9347-AC56-2F6BE64449E2}" type="datetimeFigureOut">
              <a:rPr lang="en-US" smtClean="0"/>
              <a:t>8/29/2019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237843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AC8DF48C-70BA-9347-AC56-2F6BE64449E2}" type="datetimeFigureOut">
              <a:rPr lang="en-US" smtClean="0"/>
              <a:t>8/29/2019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3570995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AC8DF48C-70BA-9347-AC56-2F6BE64449E2}" type="datetimeFigureOut">
              <a:rPr lang="en-US" smtClean="0"/>
              <a:t>8/29/2019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2734054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AC8DF48C-70BA-9347-AC56-2F6BE64449E2}" type="datetimeFigureOut">
              <a:rPr lang="en-US" smtClean="0"/>
              <a:t>8/29/2019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1B23F5-2C9E-034F-AB61-F514B4E4AA62}" type="slidenum">
              <a:rPr lang="en-US" smtClean="0"/>
              <a:t>‹#›</a:t>
            </a:fld>
            <a:endParaRPr lang="en-US"/>
          </a:p>
        </p:txBody>
      </p:sp>
    </p:spTree>
    <p:extLst>
      <p:ext uri="{BB962C8B-B14F-4D97-AF65-F5344CB8AC3E}">
        <p14:creationId xmlns:p14="http://schemas.microsoft.com/office/powerpoint/2010/main" val="331169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AU"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8DF48C-70BA-9347-AC56-2F6BE64449E2}" type="datetimeFigureOut">
              <a:rPr lang="en-US" smtClean="0"/>
              <a:t>8/29/2019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1B23F5-2C9E-034F-AB61-F514B4E4AA62}" type="slidenum">
              <a:rPr lang="en-US" smtClean="0"/>
              <a:t>‹#›</a:t>
            </a:fld>
            <a:endParaRPr lang="en-US"/>
          </a:p>
        </p:txBody>
      </p:sp>
    </p:spTree>
    <p:extLst>
      <p:ext uri="{BB962C8B-B14F-4D97-AF65-F5344CB8AC3E}">
        <p14:creationId xmlns:p14="http://schemas.microsoft.com/office/powerpoint/2010/main" val="3397395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10" Type="http://schemas.openxmlformats.org/officeDocument/2006/relationships/image" Target="../media/image4.e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6.bin"/><Relationship Id="rId10" Type="http://schemas.openxmlformats.org/officeDocument/2006/relationships/image" Target="../media/image8.emf"/><Relationship Id="rId4" Type="http://schemas.openxmlformats.org/officeDocument/2006/relationships/image" Target="../media/image5.wmf"/><Relationship Id="rId9" Type="http://schemas.openxmlformats.org/officeDocument/2006/relationships/oleObject" Target="../embeddings/oleObject8.bin"/></Relationships>
</file>

<file path=ppt/slides/_rels/slide5.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oleObject" Target="../embeddings/oleObject14.bin"/><Relationship Id="rId18" Type="http://schemas.openxmlformats.org/officeDocument/2006/relationships/image" Target="../media/image15.e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2.wmf"/><Relationship Id="rId17" Type="http://schemas.openxmlformats.org/officeDocument/2006/relationships/oleObject" Target="../embeddings/oleObject16.bin"/><Relationship Id="rId2" Type="http://schemas.openxmlformats.org/officeDocument/2006/relationships/slideLayout" Target="../slideLayouts/slideLayout2.xml"/><Relationship Id="rId16" Type="http://schemas.openxmlformats.org/officeDocument/2006/relationships/image" Target="../media/image14.emf"/><Relationship Id="rId1" Type="http://schemas.openxmlformats.org/officeDocument/2006/relationships/vmlDrawing" Target="../drawings/vmlDrawing3.vml"/><Relationship Id="rId6" Type="http://schemas.openxmlformats.org/officeDocument/2006/relationships/image" Target="../media/image9.wmf"/><Relationship Id="rId11" Type="http://schemas.openxmlformats.org/officeDocument/2006/relationships/oleObject" Target="../embeddings/oleObject13.bin"/><Relationship Id="rId5" Type="http://schemas.openxmlformats.org/officeDocument/2006/relationships/oleObject" Target="../embeddings/oleObject10.bin"/><Relationship Id="rId15" Type="http://schemas.openxmlformats.org/officeDocument/2006/relationships/oleObject" Target="../embeddings/oleObject15.bin"/><Relationship Id="rId10" Type="http://schemas.openxmlformats.org/officeDocument/2006/relationships/image" Target="../media/image11.wmf"/><Relationship Id="rId4" Type="http://schemas.openxmlformats.org/officeDocument/2006/relationships/image" Target="../media/image5.wmf"/><Relationship Id="rId9" Type="http://schemas.openxmlformats.org/officeDocument/2006/relationships/oleObject" Target="../embeddings/oleObject12.bin"/><Relationship Id="rId14" Type="http://schemas.openxmlformats.org/officeDocument/2006/relationships/image" Target="../media/image13.wmf"/></Relationships>
</file>

<file path=ppt/slides/_rels/slide6.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18.bin"/><Relationship Id="rId4" Type="http://schemas.openxmlformats.org/officeDocument/2006/relationships/image" Target="../media/image16.wmf"/></Relationships>
</file>

<file path=ppt/slides/_rels/slide7.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0.wmf"/><Relationship Id="rId5" Type="http://schemas.openxmlformats.org/officeDocument/2006/relationships/oleObject" Target="../embeddings/oleObject21.bin"/><Relationship Id="rId4" Type="http://schemas.openxmlformats.org/officeDocument/2006/relationships/image" Target="../media/image19.wmf"/></Relationships>
</file>

<file path=ppt/slides/_rels/slide8.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23.wmf"/><Relationship Id="rId5" Type="http://schemas.openxmlformats.org/officeDocument/2006/relationships/oleObject" Target="../embeddings/oleObject24.bin"/><Relationship Id="rId4" Type="http://schemas.openxmlformats.org/officeDocument/2006/relationships/image" Target="../media/image22.emf"/><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7.wmf"/><Relationship Id="rId5" Type="http://schemas.openxmlformats.org/officeDocument/2006/relationships/oleObject" Target="../embeddings/oleObject27.bin"/><Relationship Id="rId4" Type="http://schemas.openxmlformats.org/officeDocument/2006/relationships/image" Target="../media/image26.wmf"/></Relationships>
</file>

<file path=ppt/slides/_rels/slide11.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9.wmf"/><Relationship Id="rId5" Type="http://schemas.openxmlformats.org/officeDocument/2006/relationships/oleObject" Target="../embeddings/oleObject29.bin"/><Relationship Id="rId4" Type="http://schemas.openxmlformats.org/officeDocument/2006/relationships/image" Target="../media/image28.wmf"/></Relationships>
</file>

<file path=ppt/slides/_rels/slide12.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2.wmf"/><Relationship Id="rId5" Type="http://schemas.openxmlformats.org/officeDocument/2006/relationships/oleObject" Target="../embeddings/oleObject32.bin"/><Relationship Id="rId4" Type="http://schemas.openxmlformats.org/officeDocument/2006/relationships/image" Target="../media/image31.wmf"/></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6.emf"/><Relationship Id="rId13" Type="http://schemas.openxmlformats.org/officeDocument/2006/relationships/oleObject" Target="../embeddings/oleObject39.bin"/><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5.e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37.wmf"/><Relationship Id="rId4" Type="http://schemas.openxmlformats.org/officeDocument/2006/relationships/image" Target="../media/image28.wmf"/><Relationship Id="rId9" Type="http://schemas.openxmlformats.org/officeDocument/2006/relationships/oleObject" Target="../embeddings/oleObject37.bin"/><Relationship Id="rId14" Type="http://schemas.openxmlformats.org/officeDocument/2006/relationships/image" Target="../media/image39.emf"/></Relationships>
</file>

<file path=ppt/slides/_rels/slide15.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1.emf"/><Relationship Id="rId5" Type="http://schemas.openxmlformats.org/officeDocument/2006/relationships/oleObject" Target="../embeddings/oleObject41.bin"/><Relationship Id="rId4" Type="http://schemas.openxmlformats.org/officeDocument/2006/relationships/image" Target="../media/image40.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4.emf"/><Relationship Id="rId5" Type="http://schemas.openxmlformats.org/officeDocument/2006/relationships/oleObject" Target="../embeddings/oleObject44.bin"/><Relationship Id="rId4" Type="http://schemas.openxmlformats.org/officeDocument/2006/relationships/image" Target="../media/image43.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45.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46.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ams.org/notices/200307/comm-turing.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t>Chapter 2: Cryptography Basics</a:t>
            </a:r>
            <a:br>
              <a:rPr lang="en-US" b="1" dirty="0" smtClean="0"/>
            </a:br>
            <a:r>
              <a:rPr lang="en-US" b="1" dirty="0" smtClean="0"/>
              <a:t>2.3. Elliptic Curve Cryptography</a:t>
            </a:r>
            <a:endParaRPr lang="en-US" b="1" dirty="0"/>
          </a:p>
        </p:txBody>
      </p:sp>
      <p:sp>
        <p:nvSpPr>
          <p:cNvPr id="4" name="Subtitle 2"/>
          <p:cNvSpPr txBox="1">
            <a:spLocks/>
          </p:cNvSpPr>
          <p:nvPr/>
        </p:nvSpPr>
        <p:spPr>
          <a:xfrm>
            <a:off x="1275809" y="4128551"/>
            <a:ext cx="6806272" cy="2329513"/>
          </a:xfrm>
          <a:prstGeom prst="rect">
            <a:avLst/>
          </a:prstGeom>
        </p:spPr>
        <p:txBody>
          <a:bodyPr vert="horz" lIns="91440" tIns="45720" rIns="91440" bIns="45720" rtlCol="0">
            <a:normAutofit lnSpcReduction="1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smtClean="0">
                <a:solidFill>
                  <a:schemeClr val="tx1"/>
                </a:solidFill>
              </a:rPr>
              <a:t>Dr. Xun Yi</a:t>
            </a:r>
          </a:p>
          <a:p>
            <a:r>
              <a:rPr lang="en-US" dirty="0" smtClean="0">
                <a:solidFill>
                  <a:schemeClr val="tx1"/>
                </a:solidFill>
              </a:rPr>
              <a:t>Room 14-11-21</a:t>
            </a:r>
          </a:p>
          <a:p>
            <a:r>
              <a:rPr lang="en-US" dirty="0" smtClean="0">
                <a:solidFill>
                  <a:schemeClr val="tx1"/>
                </a:solidFill>
              </a:rPr>
              <a:t>Tel: 99251902</a:t>
            </a:r>
          </a:p>
          <a:p>
            <a:r>
              <a:rPr lang="en-US" dirty="0" smtClean="0">
                <a:solidFill>
                  <a:schemeClr val="tx1"/>
                </a:solidFill>
              </a:rPr>
              <a:t>Email: </a:t>
            </a:r>
            <a:r>
              <a:rPr lang="en-US" dirty="0" err="1" smtClean="0">
                <a:solidFill>
                  <a:schemeClr val="tx1"/>
                </a:solidFill>
              </a:rPr>
              <a:t>xun.yi@rmit.edu.au</a:t>
            </a:r>
            <a:endParaRPr lang="en-US" dirty="0">
              <a:solidFill>
                <a:schemeClr val="tx1"/>
              </a:solidFill>
            </a:endParaRPr>
          </a:p>
        </p:txBody>
      </p:sp>
    </p:spTree>
    <p:extLst>
      <p:ext uri="{BB962C8B-B14F-4D97-AF65-F5344CB8AC3E}">
        <p14:creationId xmlns:p14="http://schemas.microsoft.com/office/powerpoint/2010/main" val="34575970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TW" dirty="0">
                <a:latin typeface="Arial" charset="0"/>
                <a:ea typeface="標楷體" charset="0"/>
              </a:rPr>
              <a:t>Outline</a:t>
            </a:r>
          </a:p>
        </p:txBody>
      </p:sp>
      <p:sp>
        <p:nvSpPr>
          <p:cNvPr id="23555" name="Rectangle 3"/>
          <p:cNvSpPr>
            <a:spLocks noGrp="1" noChangeArrowheads="1"/>
          </p:cNvSpPr>
          <p:nvPr>
            <p:ph type="body" idx="1"/>
          </p:nvPr>
        </p:nvSpPr>
        <p:spPr/>
        <p:txBody>
          <a:bodyPr>
            <a:normAutofit fontScale="92500"/>
          </a:bodyPr>
          <a:lstStyle/>
          <a:p>
            <a:pPr eaLnBrk="1" hangingPunct="1">
              <a:lnSpc>
                <a:spcPct val="150000"/>
              </a:lnSpc>
            </a:pPr>
            <a:r>
              <a:rPr lang="en-US" altLang="zh-TW" dirty="0" smtClean="0">
                <a:latin typeface="Arial" charset="0"/>
                <a:ea typeface="標楷體" charset="0"/>
              </a:rPr>
              <a:t>Elliptic </a:t>
            </a:r>
            <a:r>
              <a:rPr lang="en-US" altLang="zh-TW" dirty="0">
                <a:latin typeface="Arial" charset="0"/>
                <a:ea typeface="標楷體" charset="0"/>
              </a:rPr>
              <a:t>Curves over R</a:t>
            </a:r>
          </a:p>
          <a:p>
            <a:pPr eaLnBrk="1" hangingPunct="1">
              <a:lnSpc>
                <a:spcPct val="150000"/>
              </a:lnSpc>
            </a:pPr>
            <a:r>
              <a:rPr lang="en-US" altLang="zh-TW" dirty="0" smtClean="0">
                <a:latin typeface="Arial" charset="0"/>
                <a:ea typeface="標楷體" charset="0"/>
              </a:rPr>
              <a:t>Elliptic </a:t>
            </a:r>
            <a:r>
              <a:rPr lang="en-US" altLang="zh-TW" dirty="0">
                <a:latin typeface="Arial" charset="0"/>
                <a:ea typeface="標楷體" charset="0"/>
              </a:rPr>
              <a:t>Curves over GF(p)</a:t>
            </a:r>
          </a:p>
          <a:p>
            <a:pPr eaLnBrk="1" hangingPunct="1">
              <a:lnSpc>
                <a:spcPct val="150000"/>
              </a:lnSpc>
            </a:pPr>
            <a:r>
              <a:rPr lang="en-US" altLang="zh-TW" dirty="0" smtClean="0">
                <a:latin typeface="Arial" charset="0"/>
                <a:ea typeface="標楷體" charset="0"/>
              </a:rPr>
              <a:t>Computing </a:t>
            </a:r>
            <a:r>
              <a:rPr lang="en-US" altLang="zh-TW" dirty="0">
                <a:latin typeface="Arial" charset="0"/>
                <a:ea typeface="標楷體" charset="0"/>
              </a:rPr>
              <a:t>Point Multiples on Elliptic Curves</a:t>
            </a:r>
          </a:p>
          <a:p>
            <a:pPr eaLnBrk="1" hangingPunct="1">
              <a:lnSpc>
                <a:spcPct val="150000"/>
              </a:lnSpc>
            </a:pPr>
            <a:r>
              <a:rPr lang="en-US" altLang="zh-TW" dirty="0" smtClean="0">
                <a:latin typeface="Arial" charset="0"/>
                <a:ea typeface="標楷體" charset="0"/>
              </a:rPr>
              <a:t>ECDLP</a:t>
            </a:r>
            <a:endParaRPr lang="en-US" altLang="zh-TW" dirty="0">
              <a:latin typeface="Arial" charset="0"/>
              <a:ea typeface="標楷體" charset="0"/>
            </a:endParaRPr>
          </a:p>
          <a:p>
            <a:pPr eaLnBrk="1" hangingPunct="1">
              <a:lnSpc>
                <a:spcPct val="150000"/>
              </a:lnSpc>
            </a:pPr>
            <a:r>
              <a:rPr lang="en-US" altLang="zh-TW" dirty="0" smtClean="0">
                <a:latin typeface="Arial" charset="0"/>
                <a:ea typeface="標楷體" charset="0"/>
              </a:rPr>
              <a:t>ECDSA</a:t>
            </a:r>
            <a:endParaRPr lang="en-US" altLang="zh-TW" dirty="0">
              <a:latin typeface="Arial" charset="0"/>
              <a:ea typeface="標楷體" charset="0"/>
            </a:endParaRPr>
          </a:p>
        </p:txBody>
      </p:sp>
    </p:spTree>
    <p:extLst>
      <p:ext uri="{BB962C8B-B14F-4D97-AF65-F5344CB8AC3E}">
        <p14:creationId xmlns:p14="http://schemas.microsoft.com/office/powerpoint/2010/main" val="216910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p:cNvSpPr>
            <a:spLocks noGrp="1" noChangeArrowheads="1"/>
          </p:cNvSpPr>
          <p:nvPr>
            <p:ph type="title"/>
          </p:nvPr>
        </p:nvSpPr>
        <p:spPr/>
        <p:txBody>
          <a:bodyPr/>
          <a:lstStyle/>
          <a:p>
            <a:pPr eaLnBrk="1" hangingPunct="1"/>
            <a:r>
              <a:rPr lang="en-US" altLang="zh-TW" dirty="0" smtClean="0">
                <a:latin typeface="Arial" charset="0"/>
                <a:ea typeface="標楷體" charset="0"/>
              </a:rPr>
              <a:t>Elliptic </a:t>
            </a:r>
            <a:r>
              <a:rPr lang="en-US" altLang="zh-TW" dirty="0">
                <a:latin typeface="Arial" charset="0"/>
                <a:ea typeface="標楷體" charset="0"/>
              </a:rPr>
              <a:t>curves over R</a:t>
            </a:r>
          </a:p>
        </p:txBody>
      </p:sp>
      <p:sp>
        <p:nvSpPr>
          <p:cNvPr id="1031" name="Rectangle 3"/>
          <p:cNvSpPr>
            <a:spLocks noGrp="1" noChangeArrowheads="1"/>
          </p:cNvSpPr>
          <p:nvPr>
            <p:ph type="body" idx="1"/>
          </p:nvPr>
        </p:nvSpPr>
        <p:spPr/>
        <p:txBody>
          <a:bodyPr/>
          <a:lstStyle/>
          <a:p>
            <a:pPr eaLnBrk="1" hangingPunct="1"/>
            <a:r>
              <a:rPr lang="en-US" altLang="zh-TW" dirty="0">
                <a:solidFill>
                  <a:srgbClr val="000099"/>
                </a:solidFill>
                <a:latin typeface="Arial" charset="0"/>
                <a:ea typeface="標楷體" charset="0"/>
              </a:rPr>
              <a:t>Definition</a:t>
            </a:r>
            <a:r>
              <a:rPr lang="en-US" altLang="zh-TW" dirty="0">
                <a:latin typeface="Arial" charset="0"/>
                <a:ea typeface="標楷體" charset="0"/>
              </a:rPr>
              <a:t/>
            </a:r>
            <a:br>
              <a:rPr lang="en-US" altLang="zh-TW" dirty="0">
                <a:latin typeface="Arial" charset="0"/>
                <a:ea typeface="標楷體" charset="0"/>
              </a:rPr>
            </a:br>
            <a:r>
              <a:rPr lang="en-US" altLang="zh-TW" sz="2400" dirty="0">
                <a:latin typeface="Arial" charset="0"/>
                <a:ea typeface="標楷體" charset="0"/>
              </a:rPr>
              <a:t>Let</a:t>
            </a:r>
            <a:r>
              <a:rPr lang="en-US" altLang="zh-TW" dirty="0">
                <a:latin typeface="Arial" charset="0"/>
                <a:ea typeface="標楷體" charset="0"/>
              </a:rPr>
              <a:t/>
            </a:r>
            <a:br>
              <a:rPr lang="en-US" altLang="zh-TW" dirty="0">
                <a:latin typeface="Arial" charset="0"/>
                <a:ea typeface="標楷體" charset="0"/>
              </a:rPr>
            </a:br>
            <a:r>
              <a:rPr lang="en-US" altLang="zh-TW" dirty="0">
                <a:latin typeface="Arial" charset="0"/>
                <a:ea typeface="標楷體" charset="0"/>
              </a:rPr>
              <a:t/>
            </a:r>
            <a:br>
              <a:rPr lang="en-US" altLang="zh-TW" dirty="0">
                <a:latin typeface="Arial" charset="0"/>
                <a:ea typeface="標楷體" charset="0"/>
              </a:rPr>
            </a:br>
            <a:endParaRPr lang="en-US" altLang="zh-TW" dirty="0">
              <a:latin typeface="Arial" charset="0"/>
              <a:ea typeface="標楷體" charset="0"/>
            </a:endParaRPr>
          </a:p>
          <a:p>
            <a:pPr eaLnBrk="1" hangingPunct="1"/>
            <a:r>
              <a:rPr lang="en-US" altLang="zh-TW" dirty="0">
                <a:latin typeface="Arial" charset="0"/>
                <a:ea typeface="標楷體" charset="0"/>
              </a:rPr>
              <a:t>Example:</a:t>
            </a:r>
          </a:p>
        </p:txBody>
      </p:sp>
      <p:graphicFrame>
        <p:nvGraphicFramePr>
          <p:cNvPr id="1026" name="Object 4"/>
          <p:cNvGraphicFramePr>
            <a:graphicFrameLocks noChangeAspect="1"/>
          </p:cNvGraphicFramePr>
          <p:nvPr>
            <p:extLst>
              <p:ext uri="{D42A27DB-BD31-4B8C-83A1-F6EECF244321}">
                <p14:modId xmlns:p14="http://schemas.microsoft.com/office/powerpoint/2010/main" val="4094302721"/>
              </p:ext>
            </p:extLst>
          </p:nvPr>
        </p:nvGraphicFramePr>
        <p:xfrm>
          <a:off x="1758950" y="2943225"/>
          <a:ext cx="5089525" cy="528638"/>
        </p:xfrm>
        <a:graphic>
          <a:graphicData uri="http://schemas.openxmlformats.org/presentationml/2006/ole">
            <mc:AlternateContent xmlns:mc="http://schemas.openxmlformats.org/markup-compatibility/2006">
              <mc:Choice xmlns:v="urn:schemas-microsoft-com:vml" Requires="v">
                <p:oleObj spid="_x0000_s2140" name="Equation" r:id="rId3" imgW="2692080" imgH="279360" progId="Equation.3">
                  <p:embed/>
                </p:oleObj>
              </mc:Choice>
              <mc:Fallback>
                <p:oleObj name="Equation" r:id="rId3" imgW="2692080" imgH="279360" progId="Equation.3">
                  <p:embed/>
                  <p:pic>
                    <p:nvPicPr>
                      <p:cNvPr id="0" name=""/>
                      <p:cNvPicPr>
                        <a:picLocks noChangeAspect="1" noChangeArrowheads="1"/>
                      </p:cNvPicPr>
                      <p:nvPr/>
                    </p:nvPicPr>
                    <p:blipFill>
                      <a:blip r:embed="rId4"/>
                      <a:srcRect/>
                      <a:stretch>
                        <a:fillRect/>
                      </a:stretch>
                    </p:blipFill>
                    <p:spPr bwMode="auto">
                      <a:xfrm>
                        <a:off x="1758950" y="2943225"/>
                        <a:ext cx="5089525" cy="5286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027" name="Object 5"/>
          <p:cNvGraphicFramePr>
            <a:graphicFrameLocks noChangeAspect="1"/>
          </p:cNvGraphicFramePr>
          <p:nvPr>
            <p:extLst>
              <p:ext uri="{D42A27DB-BD31-4B8C-83A1-F6EECF244321}">
                <p14:modId xmlns:p14="http://schemas.microsoft.com/office/powerpoint/2010/main" val="2540115546"/>
              </p:ext>
            </p:extLst>
          </p:nvPr>
        </p:nvGraphicFramePr>
        <p:xfrm>
          <a:off x="1547541" y="2248685"/>
          <a:ext cx="2546350" cy="387350"/>
        </p:xfrm>
        <a:graphic>
          <a:graphicData uri="http://schemas.openxmlformats.org/presentationml/2006/ole">
            <mc:AlternateContent xmlns:mc="http://schemas.openxmlformats.org/markup-compatibility/2006">
              <mc:Choice xmlns:v="urn:schemas-microsoft-com:vml" Requires="v">
                <p:oleObj spid="_x0000_s2141" name="方程式" r:id="rId5" imgW="1498320" imgH="228600" progId="Equation.3">
                  <p:embed/>
                </p:oleObj>
              </mc:Choice>
              <mc:Fallback>
                <p:oleObj name="方程式" r:id="rId5" imgW="149832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541" y="2248685"/>
                        <a:ext cx="2546350" cy="3873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028" name="Object 6"/>
          <p:cNvGraphicFramePr>
            <a:graphicFrameLocks noChangeAspect="1"/>
          </p:cNvGraphicFramePr>
          <p:nvPr>
            <p:extLst>
              <p:ext uri="{D42A27DB-BD31-4B8C-83A1-F6EECF244321}">
                <p14:modId xmlns:p14="http://schemas.microsoft.com/office/powerpoint/2010/main" val="3403740792"/>
              </p:ext>
            </p:extLst>
          </p:nvPr>
        </p:nvGraphicFramePr>
        <p:xfrm>
          <a:off x="834788" y="4434870"/>
          <a:ext cx="1847850" cy="431800"/>
        </p:xfrm>
        <a:graphic>
          <a:graphicData uri="http://schemas.openxmlformats.org/presentationml/2006/ole">
            <mc:AlternateContent xmlns:mc="http://schemas.openxmlformats.org/markup-compatibility/2006">
              <mc:Choice xmlns:v="urn:schemas-microsoft-com:vml" Requires="v">
                <p:oleObj spid="_x0000_s2142" name="方程式" r:id="rId7" imgW="977760" imgH="228600" progId="Equation.3">
                  <p:embed/>
                </p:oleObj>
              </mc:Choice>
              <mc:Fallback>
                <p:oleObj name="方程式" r:id="rId7" imgW="97776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4788" y="4434870"/>
                        <a:ext cx="1847850" cy="431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029" name="Object 7"/>
          <p:cNvGraphicFramePr>
            <a:graphicFrameLocks noChangeAspect="1"/>
          </p:cNvGraphicFramePr>
          <p:nvPr/>
        </p:nvGraphicFramePr>
        <p:xfrm>
          <a:off x="2987675" y="3683000"/>
          <a:ext cx="3313113" cy="1978025"/>
        </p:xfrm>
        <a:graphic>
          <a:graphicData uri="http://schemas.openxmlformats.org/presentationml/2006/ole">
            <mc:AlternateContent xmlns:mc="http://schemas.openxmlformats.org/markup-compatibility/2006">
              <mc:Choice xmlns:v="urn:schemas-microsoft-com:vml" Requires="v">
                <p:oleObj spid="_x0000_s2143" name="Visio" r:id="rId9" imgW="2563906" imgH="1530231" progId="Visio.Drawing.11">
                  <p:embed/>
                </p:oleObj>
              </mc:Choice>
              <mc:Fallback>
                <p:oleObj name="Visio" r:id="rId9" imgW="2563906" imgH="1530231" progId="Visio.Drawing.1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87675" y="3683000"/>
                        <a:ext cx="3313113" cy="19780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521055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2"/>
          <p:cNvSpPr>
            <a:spLocks noGrp="1" noChangeArrowheads="1"/>
          </p:cNvSpPr>
          <p:nvPr>
            <p:ph type="title"/>
          </p:nvPr>
        </p:nvSpPr>
        <p:spPr/>
        <p:txBody>
          <a:bodyPr/>
          <a:lstStyle/>
          <a:p>
            <a:pPr eaLnBrk="1" hangingPunct="1"/>
            <a:r>
              <a:rPr lang="en-AU" altLang="zh-TW" dirty="0" smtClean="0">
                <a:latin typeface="Arial" charset="0"/>
                <a:ea typeface="標楷體" charset="0"/>
              </a:rPr>
              <a:t>Group Operation +</a:t>
            </a:r>
            <a:endParaRPr lang="zh-TW" dirty="0">
              <a:latin typeface="Arial" charset="0"/>
              <a:ea typeface="標楷體" charset="0"/>
            </a:endParaRPr>
          </a:p>
        </p:txBody>
      </p:sp>
      <p:sp>
        <p:nvSpPr>
          <p:cNvPr id="2055" name="Rectangle 3"/>
          <p:cNvSpPr>
            <a:spLocks noGrp="1" noChangeArrowheads="1"/>
          </p:cNvSpPr>
          <p:nvPr>
            <p:ph type="body" idx="1"/>
          </p:nvPr>
        </p:nvSpPr>
        <p:spPr/>
        <p:txBody>
          <a:bodyPr/>
          <a:lstStyle/>
          <a:p>
            <a:pPr eaLnBrk="1" hangingPunct="1"/>
            <a:r>
              <a:rPr lang="en-US" altLang="zh-TW" sz="2400" dirty="0" smtClean="0">
                <a:latin typeface="Arial" charset="0"/>
                <a:ea typeface="標楷體" charset="0"/>
              </a:rPr>
              <a:t>The </a:t>
            </a:r>
            <a:r>
              <a:rPr lang="en-US" altLang="zh-TW" sz="2400" dirty="0">
                <a:latin typeface="Arial" charset="0"/>
                <a:ea typeface="標楷體" charset="0"/>
              </a:rPr>
              <a:t>point of infinity, </a:t>
            </a:r>
            <a:r>
              <a:rPr lang="en-US" altLang="zh-TW" sz="2400" dirty="0">
                <a:latin typeface="Euclid Math One" charset="0"/>
                <a:ea typeface="標楷體" charset="0"/>
              </a:rPr>
              <a:t>O</a:t>
            </a:r>
            <a:r>
              <a:rPr lang="en-US" altLang="zh-TW" sz="2400" dirty="0">
                <a:latin typeface="Arial" charset="0"/>
                <a:ea typeface="標楷體" charset="0"/>
              </a:rPr>
              <a:t>, will be the identity element</a:t>
            </a:r>
            <a:br>
              <a:rPr lang="en-US" altLang="zh-TW" sz="2400" dirty="0">
                <a:latin typeface="Arial" charset="0"/>
                <a:ea typeface="標楷體" charset="0"/>
              </a:rPr>
            </a:br>
            <a:r>
              <a:rPr lang="en-US" altLang="zh-TW" sz="2400" dirty="0">
                <a:latin typeface="Arial" charset="0"/>
                <a:ea typeface="標楷體" charset="0"/>
              </a:rPr>
              <a:t>Given</a:t>
            </a:r>
          </a:p>
        </p:txBody>
      </p:sp>
      <p:graphicFrame>
        <p:nvGraphicFramePr>
          <p:cNvPr id="2050" name="Object 4"/>
          <p:cNvGraphicFramePr>
            <a:graphicFrameLocks noChangeAspect="1"/>
          </p:cNvGraphicFramePr>
          <p:nvPr>
            <p:extLst>
              <p:ext uri="{D42A27DB-BD31-4B8C-83A1-F6EECF244321}">
                <p14:modId xmlns:p14="http://schemas.microsoft.com/office/powerpoint/2010/main" val="1170107450"/>
              </p:ext>
            </p:extLst>
          </p:nvPr>
        </p:nvGraphicFramePr>
        <p:xfrm>
          <a:off x="1711558" y="2934859"/>
          <a:ext cx="4032250" cy="425450"/>
        </p:xfrm>
        <a:graphic>
          <a:graphicData uri="http://schemas.openxmlformats.org/presentationml/2006/ole">
            <mc:AlternateContent xmlns:mc="http://schemas.openxmlformats.org/markup-compatibility/2006">
              <mc:Choice xmlns:v="urn:schemas-microsoft-com:vml" Requires="v">
                <p:oleObj spid="_x0000_s3164" name="方程式" r:id="rId3" imgW="2044440" imgH="215640" progId="Equation.3">
                  <p:embed/>
                </p:oleObj>
              </mc:Choice>
              <mc:Fallback>
                <p:oleObj name="方程式" r:id="rId3" imgW="204444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1558" y="2934859"/>
                        <a:ext cx="4032250" cy="4254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51" name="Object 5"/>
          <p:cNvGraphicFramePr>
            <a:graphicFrameLocks noChangeAspect="1"/>
          </p:cNvGraphicFramePr>
          <p:nvPr>
            <p:extLst>
              <p:ext uri="{D42A27DB-BD31-4B8C-83A1-F6EECF244321}">
                <p14:modId xmlns:p14="http://schemas.microsoft.com/office/powerpoint/2010/main" val="589426522"/>
              </p:ext>
            </p:extLst>
          </p:nvPr>
        </p:nvGraphicFramePr>
        <p:xfrm>
          <a:off x="720725" y="3694113"/>
          <a:ext cx="4494213" cy="806450"/>
        </p:xfrm>
        <a:graphic>
          <a:graphicData uri="http://schemas.openxmlformats.org/presentationml/2006/ole">
            <mc:AlternateContent xmlns:mc="http://schemas.openxmlformats.org/markup-compatibility/2006">
              <mc:Choice xmlns:v="urn:schemas-microsoft-com:vml" Requires="v">
                <p:oleObj spid="_x0000_s3165" name="Equation" r:id="rId5" imgW="2476500" imgH="444500" progId="Equation.3">
                  <p:embed/>
                </p:oleObj>
              </mc:Choice>
              <mc:Fallback>
                <p:oleObj name="Equation" r:id="rId5" imgW="2476500" imgH="444500" progId="Equation.3">
                  <p:embed/>
                  <p:pic>
                    <p:nvPicPr>
                      <p:cNvPr id="0" name=""/>
                      <p:cNvPicPr>
                        <a:picLocks noChangeAspect="1" noChangeArrowheads="1"/>
                      </p:cNvPicPr>
                      <p:nvPr/>
                    </p:nvPicPr>
                    <p:blipFill>
                      <a:blip r:embed="rId6"/>
                      <a:srcRect/>
                      <a:stretch>
                        <a:fillRect/>
                      </a:stretch>
                    </p:blipFill>
                    <p:spPr bwMode="auto">
                      <a:xfrm>
                        <a:off x="720725" y="3694113"/>
                        <a:ext cx="4494213" cy="8064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52" name="Object 6"/>
          <p:cNvGraphicFramePr>
            <a:graphicFrameLocks noChangeAspect="1"/>
          </p:cNvGraphicFramePr>
          <p:nvPr>
            <p:extLst>
              <p:ext uri="{D42A27DB-BD31-4B8C-83A1-F6EECF244321}">
                <p14:modId xmlns:p14="http://schemas.microsoft.com/office/powerpoint/2010/main" val="1494185692"/>
              </p:ext>
            </p:extLst>
          </p:nvPr>
        </p:nvGraphicFramePr>
        <p:xfrm>
          <a:off x="1711558" y="2434991"/>
          <a:ext cx="1847850" cy="363537"/>
        </p:xfrm>
        <a:graphic>
          <a:graphicData uri="http://schemas.openxmlformats.org/presentationml/2006/ole">
            <mc:AlternateContent xmlns:mc="http://schemas.openxmlformats.org/markup-compatibility/2006">
              <mc:Choice xmlns:v="urn:schemas-microsoft-com:vml" Requires="v">
                <p:oleObj spid="_x0000_s3166" name="Equation" r:id="rId7" imgW="901700" imgH="177800" progId="Equation.3">
                  <p:embed/>
                </p:oleObj>
              </mc:Choice>
              <mc:Fallback>
                <p:oleObj name="Equation" r:id="rId7" imgW="901700" imgH="177800" progId="Equation.3">
                  <p:embed/>
                  <p:pic>
                    <p:nvPicPr>
                      <p:cNvPr id="0" name=""/>
                      <p:cNvPicPr>
                        <a:picLocks noChangeAspect="1" noChangeArrowheads="1"/>
                      </p:cNvPicPr>
                      <p:nvPr/>
                    </p:nvPicPr>
                    <p:blipFill>
                      <a:blip r:embed="rId8"/>
                      <a:srcRect/>
                      <a:stretch>
                        <a:fillRect/>
                      </a:stretch>
                    </p:blipFill>
                    <p:spPr bwMode="auto">
                      <a:xfrm>
                        <a:off x="1711558" y="2434991"/>
                        <a:ext cx="1847850" cy="36353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053" name="Object 7"/>
          <p:cNvGraphicFramePr>
            <a:graphicFrameLocks noChangeAspect="1"/>
          </p:cNvGraphicFramePr>
          <p:nvPr>
            <p:extLst>
              <p:ext uri="{D42A27DB-BD31-4B8C-83A1-F6EECF244321}">
                <p14:modId xmlns:p14="http://schemas.microsoft.com/office/powerpoint/2010/main" val="1150269859"/>
              </p:ext>
            </p:extLst>
          </p:nvPr>
        </p:nvGraphicFramePr>
        <p:xfrm>
          <a:off x="5238980" y="3536488"/>
          <a:ext cx="2808288" cy="2500313"/>
        </p:xfrm>
        <a:graphic>
          <a:graphicData uri="http://schemas.openxmlformats.org/presentationml/2006/ole">
            <mc:AlternateContent xmlns:mc="http://schemas.openxmlformats.org/markup-compatibility/2006">
              <mc:Choice xmlns:v="urn:schemas-microsoft-com:vml" Requires="v">
                <p:oleObj spid="_x0000_s3167" name="Visio" r:id="rId9" imgW="2698735" imgH="2403721" progId="Visio.Drawing.11">
                  <p:embed/>
                </p:oleObj>
              </mc:Choice>
              <mc:Fallback>
                <p:oleObj name="Visio" r:id="rId9" imgW="2698735" imgH="2403721" progId="Visio.Drawing.1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38980" y="3536488"/>
                        <a:ext cx="2808288" cy="2500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016141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 name="Rectangle 2"/>
          <p:cNvSpPr>
            <a:spLocks noGrp="1" noChangeArrowheads="1"/>
          </p:cNvSpPr>
          <p:nvPr>
            <p:ph type="title"/>
          </p:nvPr>
        </p:nvSpPr>
        <p:spPr/>
        <p:txBody>
          <a:bodyPr>
            <a:normAutofit/>
          </a:bodyPr>
          <a:lstStyle/>
          <a:p>
            <a:r>
              <a:rPr lang="en-US" altLang="zh-TW" dirty="0">
                <a:solidFill>
                  <a:srgbClr val="000099"/>
                </a:solidFill>
                <a:latin typeface="Arial" charset="0"/>
                <a:ea typeface="標楷體" charset="0"/>
              </a:rPr>
              <a:t>Group operation </a:t>
            </a:r>
            <a:r>
              <a:rPr lang="en-US" altLang="zh-TW" dirty="0" smtClean="0">
                <a:solidFill>
                  <a:srgbClr val="000099"/>
                </a:solidFill>
                <a:latin typeface="Arial" charset="0"/>
                <a:ea typeface="標楷體" charset="0"/>
              </a:rPr>
              <a:t>+</a:t>
            </a:r>
            <a:endParaRPr lang="zh-TW" dirty="0">
              <a:latin typeface="Arial" charset="0"/>
              <a:ea typeface="標楷體" charset="0"/>
            </a:endParaRPr>
          </a:p>
        </p:txBody>
      </p:sp>
      <p:sp>
        <p:nvSpPr>
          <p:cNvPr id="3083" name="Rectangle 3"/>
          <p:cNvSpPr>
            <a:spLocks noGrp="1" noChangeArrowheads="1"/>
          </p:cNvSpPr>
          <p:nvPr>
            <p:ph type="body" idx="1"/>
          </p:nvPr>
        </p:nvSpPr>
        <p:spPr>
          <a:xfrm>
            <a:off x="516981" y="1268412"/>
            <a:ext cx="8229600" cy="4525963"/>
          </a:xfrm>
        </p:spPr>
        <p:txBody>
          <a:bodyPr/>
          <a:lstStyle/>
          <a:p>
            <a:pPr marL="0" indent="0" eaLnBrk="1" hangingPunct="1">
              <a:buNone/>
            </a:pPr>
            <a:r>
              <a:rPr lang="en-US" altLang="zh-TW" dirty="0">
                <a:latin typeface="Arial" charset="0"/>
                <a:ea typeface="標楷體" charset="0"/>
              </a:rPr>
              <a:t/>
            </a:r>
            <a:br>
              <a:rPr lang="en-US" altLang="zh-TW" dirty="0">
                <a:latin typeface="Arial" charset="0"/>
                <a:ea typeface="標楷體" charset="0"/>
              </a:rPr>
            </a:br>
            <a:r>
              <a:rPr lang="en-US" altLang="zh-TW" sz="2400" dirty="0" smtClean="0">
                <a:latin typeface="Arial" charset="0"/>
                <a:ea typeface="標楷體" charset="0"/>
              </a:rPr>
              <a:t>Given</a:t>
            </a: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Compute</a:t>
            </a:r>
          </a:p>
          <a:p>
            <a:pPr lvl="1" eaLnBrk="1" hangingPunct="1"/>
            <a:r>
              <a:rPr lang="en-US" altLang="zh-TW" dirty="0">
                <a:latin typeface="Arial" charset="0"/>
                <a:ea typeface="標楷體" charset="0"/>
              </a:rPr>
              <a:t>Addition</a:t>
            </a:r>
            <a:br>
              <a:rPr lang="en-US" altLang="zh-TW" dirty="0">
                <a:latin typeface="Arial" charset="0"/>
                <a:ea typeface="標楷體" charset="0"/>
              </a:rPr>
            </a:br>
            <a:r>
              <a:rPr lang="en-US" altLang="zh-TW" dirty="0">
                <a:latin typeface="Arial" charset="0"/>
                <a:ea typeface="標楷體" charset="0"/>
              </a:rPr>
              <a:t/>
            </a:r>
            <a:br>
              <a:rPr lang="en-US" altLang="zh-TW" dirty="0">
                <a:latin typeface="Arial" charset="0"/>
                <a:ea typeface="標楷體" charset="0"/>
              </a:rPr>
            </a:br>
            <a:r>
              <a:rPr lang="en-US" altLang="zh-TW" dirty="0">
                <a:latin typeface="Arial" charset="0"/>
                <a:ea typeface="標楷體" charset="0"/>
              </a:rPr>
              <a:t/>
            </a:r>
            <a:br>
              <a:rPr lang="en-US" altLang="zh-TW" dirty="0">
                <a:latin typeface="Arial" charset="0"/>
                <a:ea typeface="標楷體" charset="0"/>
              </a:rPr>
            </a:br>
            <a:r>
              <a:rPr lang="en-US" altLang="zh-TW" dirty="0">
                <a:latin typeface="Arial" charset="0"/>
                <a:ea typeface="標楷體" charset="0"/>
              </a:rPr>
              <a:t/>
            </a:r>
            <a:br>
              <a:rPr lang="en-US" altLang="zh-TW" dirty="0">
                <a:latin typeface="Arial" charset="0"/>
                <a:ea typeface="標楷體" charset="0"/>
              </a:rPr>
            </a:br>
            <a:endParaRPr lang="en-US" altLang="zh-TW" dirty="0">
              <a:latin typeface="Arial" charset="0"/>
              <a:ea typeface="標楷體" charset="0"/>
            </a:endParaRPr>
          </a:p>
          <a:p>
            <a:pPr lvl="1" eaLnBrk="1" hangingPunct="1"/>
            <a:r>
              <a:rPr lang="en-US" altLang="zh-TW" dirty="0">
                <a:latin typeface="Arial" charset="0"/>
                <a:ea typeface="標楷體" charset="0"/>
              </a:rPr>
              <a:t>Doubling</a:t>
            </a:r>
          </a:p>
        </p:txBody>
      </p:sp>
      <p:graphicFrame>
        <p:nvGraphicFramePr>
          <p:cNvPr id="3074" name="Object 4"/>
          <p:cNvGraphicFramePr>
            <a:graphicFrameLocks noChangeAspect="1"/>
          </p:cNvGraphicFramePr>
          <p:nvPr>
            <p:extLst>
              <p:ext uri="{D42A27DB-BD31-4B8C-83A1-F6EECF244321}">
                <p14:modId xmlns:p14="http://schemas.microsoft.com/office/powerpoint/2010/main" val="3839209016"/>
              </p:ext>
            </p:extLst>
          </p:nvPr>
        </p:nvGraphicFramePr>
        <p:xfrm>
          <a:off x="1625550" y="1652449"/>
          <a:ext cx="4032250" cy="425450"/>
        </p:xfrm>
        <a:graphic>
          <a:graphicData uri="http://schemas.openxmlformats.org/presentationml/2006/ole">
            <mc:AlternateContent xmlns:mc="http://schemas.openxmlformats.org/markup-compatibility/2006">
              <mc:Choice xmlns:v="urn:schemas-microsoft-com:vml" Requires="v">
                <p:oleObj spid="_x0000_s4264" name="方程式" r:id="rId3" imgW="2044440" imgH="215640" progId="Equation.3">
                  <p:embed/>
                </p:oleObj>
              </mc:Choice>
              <mc:Fallback>
                <p:oleObj name="方程式" r:id="rId3" imgW="204444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5550" y="1652449"/>
                        <a:ext cx="4032250" cy="4254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075" name="Object 5"/>
          <p:cNvGraphicFramePr>
            <a:graphicFrameLocks noChangeAspect="1"/>
          </p:cNvGraphicFramePr>
          <p:nvPr>
            <p:extLst>
              <p:ext uri="{D42A27DB-BD31-4B8C-83A1-F6EECF244321}">
                <p14:modId xmlns:p14="http://schemas.microsoft.com/office/powerpoint/2010/main" val="1426612756"/>
              </p:ext>
            </p:extLst>
          </p:nvPr>
        </p:nvGraphicFramePr>
        <p:xfrm>
          <a:off x="2183856" y="2110808"/>
          <a:ext cx="2447925" cy="454025"/>
        </p:xfrm>
        <a:graphic>
          <a:graphicData uri="http://schemas.openxmlformats.org/presentationml/2006/ole">
            <mc:AlternateContent xmlns:mc="http://schemas.openxmlformats.org/markup-compatibility/2006">
              <mc:Choice xmlns:v="urn:schemas-microsoft-com:vml" Requires="v">
                <p:oleObj spid="_x0000_s4265" name="方程式" r:id="rId5" imgW="1231560" imgH="228600" progId="Equation.3">
                  <p:embed/>
                </p:oleObj>
              </mc:Choice>
              <mc:Fallback>
                <p:oleObj name="方程式" r:id="rId5" imgW="123156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3856" y="2110808"/>
                        <a:ext cx="2447925" cy="4540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076" name="Object 6"/>
          <p:cNvGraphicFramePr>
            <a:graphicFrameLocks noChangeAspect="1"/>
          </p:cNvGraphicFramePr>
          <p:nvPr>
            <p:extLst>
              <p:ext uri="{D42A27DB-BD31-4B8C-83A1-F6EECF244321}">
                <p14:modId xmlns:p14="http://schemas.microsoft.com/office/powerpoint/2010/main" val="1023185897"/>
              </p:ext>
            </p:extLst>
          </p:nvPr>
        </p:nvGraphicFramePr>
        <p:xfrm>
          <a:off x="2941638" y="2669537"/>
          <a:ext cx="996950" cy="388937"/>
        </p:xfrm>
        <a:graphic>
          <a:graphicData uri="http://schemas.openxmlformats.org/presentationml/2006/ole">
            <mc:AlternateContent xmlns:mc="http://schemas.openxmlformats.org/markup-compatibility/2006">
              <mc:Choice xmlns:v="urn:schemas-microsoft-com:vml" Requires="v">
                <p:oleObj spid="_x0000_s4266" name="方程式" r:id="rId7" imgW="520560" imgH="203040" progId="Equation.3">
                  <p:embed/>
                </p:oleObj>
              </mc:Choice>
              <mc:Fallback>
                <p:oleObj name="方程式" r:id="rId7" imgW="520560" imgH="203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1638" y="2669537"/>
                        <a:ext cx="996950" cy="38893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077" name="Object 7"/>
          <p:cNvGraphicFramePr>
            <a:graphicFrameLocks noChangeAspect="1"/>
          </p:cNvGraphicFramePr>
          <p:nvPr>
            <p:extLst>
              <p:ext uri="{D42A27DB-BD31-4B8C-83A1-F6EECF244321}">
                <p14:modId xmlns:p14="http://schemas.microsoft.com/office/powerpoint/2010/main" val="4077780705"/>
              </p:ext>
            </p:extLst>
          </p:nvPr>
        </p:nvGraphicFramePr>
        <p:xfrm>
          <a:off x="2974976" y="4884737"/>
          <a:ext cx="963612" cy="376237"/>
        </p:xfrm>
        <a:graphic>
          <a:graphicData uri="http://schemas.openxmlformats.org/presentationml/2006/ole">
            <mc:AlternateContent xmlns:mc="http://schemas.openxmlformats.org/markup-compatibility/2006">
              <mc:Choice xmlns:v="urn:schemas-microsoft-com:vml" Requires="v">
                <p:oleObj spid="_x0000_s4267" name="方程式" r:id="rId9" imgW="520560" imgH="203040" progId="Equation.3">
                  <p:embed/>
                </p:oleObj>
              </mc:Choice>
              <mc:Fallback>
                <p:oleObj name="方程式" r:id="rId9" imgW="520560" imgH="2030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4976" y="4884737"/>
                        <a:ext cx="963612" cy="37623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078" name="Object 9"/>
          <p:cNvGraphicFramePr>
            <a:graphicFrameLocks noChangeAspect="1"/>
          </p:cNvGraphicFramePr>
          <p:nvPr>
            <p:extLst>
              <p:ext uri="{D42A27DB-BD31-4B8C-83A1-F6EECF244321}">
                <p14:modId xmlns:p14="http://schemas.microsoft.com/office/powerpoint/2010/main" val="641048795"/>
              </p:ext>
            </p:extLst>
          </p:nvPr>
        </p:nvGraphicFramePr>
        <p:xfrm>
          <a:off x="1887538" y="3092450"/>
          <a:ext cx="2108200" cy="1416050"/>
        </p:xfrm>
        <a:graphic>
          <a:graphicData uri="http://schemas.openxmlformats.org/presentationml/2006/ole">
            <mc:AlternateContent xmlns:mc="http://schemas.openxmlformats.org/markup-compatibility/2006">
              <mc:Choice xmlns:v="urn:schemas-microsoft-com:vml" Requires="v">
                <p:oleObj spid="_x0000_s4268" name="方程式" r:id="rId11" imgW="1168200" imgH="914400" progId="Equation.3">
                  <p:embed/>
                </p:oleObj>
              </mc:Choice>
              <mc:Fallback>
                <p:oleObj name="方程式" r:id="rId11" imgW="1168200" imgH="9144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87538" y="3092450"/>
                        <a:ext cx="2108200" cy="1416050"/>
                      </a:xfrm>
                      <a:prstGeom prst="rect">
                        <a:avLst/>
                      </a:prstGeom>
                      <a:solidFill>
                        <a:srgbClr val="E9EAFB"/>
                      </a:solidFill>
                      <a:ln>
                        <a:noFill/>
                      </a:ln>
                      <a:effectLst/>
                      <a:extLst>
                        <a:ext uri="{91240B29-F687-4f45-9708-019B960494DF}">
                          <a14:hiddenLine xmlns="" xmlns:a14="http://schemas.microsoft.com/office/drawing/2010/main" w="9525">
                            <a:solidFill>
                              <a:srgbClr val="FF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079" name="Object 11"/>
          <p:cNvGraphicFramePr>
            <a:graphicFrameLocks noChangeAspect="1"/>
          </p:cNvGraphicFramePr>
          <p:nvPr>
            <p:extLst>
              <p:ext uri="{D42A27DB-BD31-4B8C-83A1-F6EECF244321}">
                <p14:modId xmlns:p14="http://schemas.microsoft.com/office/powerpoint/2010/main" val="2686356865"/>
              </p:ext>
            </p:extLst>
          </p:nvPr>
        </p:nvGraphicFramePr>
        <p:xfrm>
          <a:off x="2405947" y="5449887"/>
          <a:ext cx="2082800" cy="1408113"/>
        </p:xfrm>
        <a:graphic>
          <a:graphicData uri="http://schemas.openxmlformats.org/presentationml/2006/ole">
            <mc:AlternateContent xmlns:mc="http://schemas.openxmlformats.org/markup-compatibility/2006">
              <mc:Choice xmlns:v="urn:schemas-microsoft-com:vml" Requires="v">
                <p:oleObj spid="_x0000_s4269" name="方程式" r:id="rId13" imgW="1168200" imgH="952200" progId="Equation.3">
                  <p:embed/>
                </p:oleObj>
              </mc:Choice>
              <mc:Fallback>
                <p:oleObj name="方程式" r:id="rId13" imgW="1168200" imgH="9522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05947" y="5449887"/>
                        <a:ext cx="2082800" cy="1408113"/>
                      </a:xfrm>
                      <a:prstGeom prst="rect">
                        <a:avLst/>
                      </a:prstGeom>
                      <a:solidFill>
                        <a:srgbClr val="E9EAFB"/>
                      </a:solidFill>
                      <a:ln>
                        <a:noFill/>
                      </a:ln>
                      <a:effectLst/>
                      <a:extLst>
                        <a:ext uri="{91240B29-F687-4f45-9708-019B960494DF}">
                          <a14:hiddenLine xmlns="" xmlns:a14="http://schemas.microsoft.com/office/drawing/2010/main" w="9525">
                            <a:solidFill>
                              <a:srgbClr val="FF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080" name="Object 12"/>
          <p:cNvGraphicFramePr>
            <a:graphicFrameLocks noChangeAspect="1"/>
          </p:cNvGraphicFramePr>
          <p:nvPr>
            <p:extLst>
              <p:ext uri="{D42A27DB-BD31-4B8C-83A1-F6EECF244321}">
                <p14:modId xmlns:p14="http://schemas.microsoft.com/office/powerpoint/2010/main" val="3874169732"/>
              </p:ext>
            </p:extLst>
          </p:nvPr>
        </p:nvGraphicFramePr>
        <p:xfrm>
          <a:off x="5548313" y="1737625"/>
          <a:ext cx="2541587" cy="2168525"/>
        </p:xfrm>
        <a:graphic>
          <a:graphicData uri="http://schemas.openxmlformats.org/presentationml/2006/ole">
            <mc:AlternateContent xmlns:mc="http://schemas.openxmlformats.org/markup-compatibility/2006">
              <mc:Choice xmlns:v="urn:schemas-microsoft-com:vml" Requires="v">
                <p:oleObj spid="_x0000_s4270" name="Visio" r:id="rId15" imgW="2865479" imgH="2612520" progId="Visio.Drawing.11">
                  <p:embed/>
                </p:oleObj>
              </mc:Choice>
              <mc:Fallback>
                <p:oleObj name="Visio" r:id="rId15" imgW="2865479" imgH="2612520" progId="Visio.Drawing.11">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48313" y="1737625"/>
                        <a:ext cx="2541587" cy="21685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3081" name="Object 13"/>
          <p:cNvGraphicFramePr>
            <a:graphicFrameLocks noChangeAspect="1"/>
          </p:cNvGraphicFramePr>
          <p:nvPr>
            <p:extLst>
              <p:ext uri="{D42A27DB-BD31-4B8C-83A1-F6EECF244321}">
                <p14:modId xmlns:p14="http://schemas.microsoft.com/office/powerpoint/2010/main" val="634010633"/>
              </p:ext>
            </p:extLst>
          </p:nvPr>
        </p:nvGraphicFramePr>
        <p:xfrm>
          <a:off x="5653087" y="4303075"/>
          <a:ext cx="2436813" cy="2170113"/>
        </p:xfrm>
        <a:graphic>
          <a:graphicData uri="http://schemas.openxmlformats.org/presentationml/2006/ole">
            <mc:AlternateContent xmlns:mc="http://schemas.openxmlformats.org/markup-compatibility/2006">
              <mc:Choice xmlns:v="urn:schemas-microsoft-com:vml" Requires="v">
                <p:oleObj spid="_x0000_s4271" name="Visio" r:id="rId17" imgW="2698735" imgH="2403721" progId="Visio.Drawing.11">
                  <p:embed/>
                </p:oleObj>
              </mc:Choice>
              <mc:Fallback>
                <p:oleObj name="Visio" r:id="rId17" imgW="2698735" imgH="2403721" progId="Visio.Drawing.11">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653087" y="4303075"/>
                        <a:ext cx="2436813" cy="2170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4127543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p:cNvSpPr>
            <a:spLocks noGrp="1" noChangeArrowheads="1"/>
          </p:cNvSpPr>
          <p:nvPr>
            <p:ph type="title"/>
          </p:nvPr>
        </p:nvSpPr>
        <p:spPr/>
        <p:txBody>
          <a:bodyPr>
            <a:normAutofit/>
          </a:bodyPr>
          <a:lstStyle/>
          <a:p>
            <a:r>
              <a:rPr lang="en-US" altLang="zh-TW" dirty="0">
                <a:latin typeface="Arial" charset="0"/>
                <a:ea typeface="標楷體" charset="0"/>
              </a:rPr>
              <a:t>Example (addition)</a:t>
            </a:r>
            <a:r>
              <a:rPr lang="en-US" altLang="zh-TW" dirty="0" smtClean="0">
                <a:latin typeface="Arial" charset="0"/>
                <a:ea typeface="標楷體" charset="0"/>
              </a:rPr>
              <a:t>:</a:t>
            </a:r>
            <a:endParaRPr lang="zh-TW" dirty="0">
              <a:latin typeface="Arial" charset="0"/>
              <a:ea typeface="標楷體" charset="0"/>
            </a:endParaRPr>
          </a:p>
        </p:txBody>
      </p:sp>
      <p:sp>
        <p:nvSpPr>
          <p:cNvPr id="4102" name="Rectangle 3"/>
          <p:cNvSpPr>
            <a:spLocks noGrp="1" noChangeArrowheads="1"/>
          </p:cNvSpPr>
          <p:nvPr>
            <p:ph type="body" idx="1"/>
          </p:nvPr>
        </p:nvSpPr>
        <p:spPr>
          <a:xfrm>
            <a:off x="604615" y="1600200"/>
            <a:ext cx="8229600" cy="4525963"/>
          </a:xfrm>
        </p:spPr>
        <p:txBody>
          <a:bodyPr/>
          <a:lstStyle/>
          <a:p>
            <a:pPr eaLnBrk="1" hangingPunct="1"/>
            <a:r>
              <a:rPr lang="en-US" altLang="zh-TW" sz="2400" dirty="0" smtClean="0">
                <a:latin typeface="Arial" charset="0"/>
                <a:ea typeface="標楷體" charset="0"/>
              </a:rPr>
              <a:t>Given</a:t>
            </a:r>
            <a:endParaRPr lang="en-US" altLang="zh-TW" sz="2400" dirty="0">
              <a:latin typeface="Arial" charset="0"/>
              <a:ea typeface="標楷體" charset="0"/>
            </a:endParaRPr>
          </a:p>
          <a:p>
            <a:pPr lvl="1" eaLnBrk="1" hangingPunct="1"/>
            <a:r>
              <a:rPr lang="en-US" altLang="zh-TW" sz="2200" dirty="0">
                <a:latin typeface="Arial" charset="0"/>
                <a:ea typeface="標楷體" charset="0"/>
              </a:rPr>
              <a:t> </a:t>
            </a:r>
          </a:p>
        </p:txBody>
      </p:sp>
      <p:graphicFrame>
        <p:nvGraphicFramePr>
          <p:cNvPr id="4098" name="Object 4"/>
          <p:cNvGraphicFramePr>
            <a:graphicFrameLocks noChangeAspect="1"/>
          </p:cNvGraphicFramePr>
          <p:nvPr>
            <p:extLst>
              <p:ext uri="{D42A27DB-BD31-4B8C-83A1-F6EECF244321}">
                <p14:modId xmlns:p14="http://schemas.microsoft.com/office/powerpoint/2010/main" val="2723587242"/>
              </p:ext>
            </p:extLst>
          </p:nvPr>
        </p:nvGraphicFramePr>
        <p:xfrm>
          <a:off x="1586383" y="2042981"/>
          <a:ext cx="1982787" cy="430212"/>
        </p:xfrm>
        <a:graphic>
          <a:graphicData uri="http://schemas.openxmlformats.org/presentationml/2006/ole">
            <mc:AlternateContent xmlns:mc="http://schemas.openxmlformats.org/markup-compatibility/2006">
              <mc:Choice xmlns:v="urn:schemas-microsoft-com:vml" Requires="v">
                <p:oleObj spid="_x0000_s5188" name="方程式" r:id="rId3" imgW="1054080" imgH="228600" progId="Equation.3">
                  <p:embed/>
                </p:oleObj>
              </mc:Choice>
              <mc:Fallback>
                <p:oleObj name="方程式" r:id="rId3" imgW="105408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6383" y="2042981"/>
                        <a:ext cx="1982787" cy="4302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099" name="Object 5"/>
          <p:cNvGraphicFramePr>
            <a:graphicFrameLocks noChangeAspect="1"/>
          </p:cNvGraphicFramePr>
          <p:nvPr>
            <p:extLst>
              <p:ext uri="{D42A27DB-BD31-4B8C-83A1-F6EECF244321}">
                <p14:modId xmlns:p14="http://schemas.microsoft.com/office/powerpoint/2010/main" val="3241963305"/>
              </p:ext>
            </p:extLst>
          </p:nvPr>
        </p:nvGraphicFramePr>
        <p:xfrm>
          <a:off x="1382270" y="2633929"/>
          <a:ext cx="5932488" cy="382588"/>
        </p:xfrm>
        <a:graphic>
          <a:graphicData uri="http://schemas.openxmlformats.org/presentationml/2006/ole">
            <mc:AlternateContent xmlns:mc="http://schemas.openxmlformats.org/markup-compatibility/2006">
              <mc:Choice xmlns:v="urn:schemas-microsoft-com:vml" Requires="v">
                <p:oleObj spid="_x0000_s5189" name="方程式" r:id="rId5" imgW="3530520" imgH="228600" progId="Equation.3">
                  <p:embed/>
                </p:oleObj>
              </mc:Choice>
              <mc:Fallback>
                <p:oleObj name="方程式" r:id="rId5" imgW="353052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2270" y="2633929"/>
                        <a:ext cx="5932488" cy="3825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100" name="Object 6"/>
          <p:cNvGraphicFramePr>
            <a:graphicFrameLocks noChangeAspect="1"/>
          </p:cNvGraphicFramePr>
          <p:nvPr>
            <p:extLst>
              <p:ext uri="{D42A27DB-BD31-4B8C-83A1-F6EECF244321}">
                <p14:modId xmlns:p14="http://schemas.microsoft.com/office/powerpoint/2010/main" val="623436372"/>
              </p:ext>
            </p:extLst>
          </p:nvPr>
        </p:nvGraphicFramePr>
        <p:xfrm>
          <a:off x="1586383" y="3359216"/>
          <a:ext cx="4968875" cy="1677988"/>
        </p:xfrm>
        <a:graphic>
          <a:graphicData uri="http://schemas.openxmlformats.org/presentationml/2006/ole">
            <mc:AlternateContent xmlns:mc="http://schemas.openxmlformats.org/markup-compatibility/2006">
              <mc:Choice xmlns:v="urn:schemas-microsoft-com:vml" Requires="v">
                <p:oleObj spid="_x0000_s5190" name="Equation" r:id="rId7" imgW="2323800" imgH="914400" progId="Equation.3">
                  <p:embed/>
                </p:oleObj>
              </mc:Choice>
              <mc:Fallback>
                <p:oleObj name="Equation" r:id="rId7" imgW="232380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6383" y="3359216"/>
                        <a:ext cx="4968875" cy="1677988"/>
                      </a:xfrm>
                      <a:prstGeom prst="rect">
                        <a:avLst/>
                      </a:prstGeom>
                      <a:noFill/>
                      <a:ln>
                        <a:noFill/>
                      </a:ln>
                      <a:effectLst/>
                      <a:extLst>
                        <a:ext uri="{909E8E84-426E-40dd-AFC4-6F175D3DCCD1}">
                          <a14:hiddenFill xmlns="" xmlns:a14="http://schemas.microsoft.com/office/drawing/2010/main">
                            <a:solidFill>
                              <a:srgbClr val="E9EAFB"/>
                            </a:solidFill>
                          </a14:hiddenFill>
                        </a:ext>
                        <a:ext uri="{91240B29-F687-4f45-9708-019B960494DF}">
                          <a14:hiddenLine xmlns="" xmlns:a14="http://schemas.microsoft.com/office/drawing/2010/main" w="9525">
                            <a:solidFill>
                              <a:srgbClr val="FF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57832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p:cNvSpPr>
            <a:spLocks noGrp="1" noChangeArrowheads="1"/>
          </p:cNvSpPr>
          <p:nvPr>
            <p:ph type="title"/>
          </p:nvPr>
        </p:nvSpPr>
        <p:spPr/>
        <p:txBody>
          <a:bodyPr>
            <a:normAutofit/>
          </a:bodyPr>
          <a:lstStyle/>
          <a:p>
            <a:r>
              <a:rPr lang="en-US" altLang="zh-TW" dirty="0">
                <a:latin typeface="Arial" charset="0"/>
                <a:ea typeface="標楷體" charset="0"/>
              </a:rPr>
              <a:t>Example (doubling</a:t>
            </a:r>
            <a:r>
              <a:rPr lang="en-US" altLang="zh-TW" dirty="0" smtClean="0">
                <a:latin typeface="Arial" charset="0"/>
                <a:ea typeface="標楷體" charset="0"/>
              </a:rPr>
              <a:t>)</a:t>
            </a:r>
            <a:endParaRPr lang="zh-TW" dirty="0">
              <a:latin typeface="Arial" charset="0"/>
              <a:ea typeface="標楷體" charset="0"/>
            </a:endParaRPr>
          </a:p>
        </p:txBody>
      </p:sp>
      <p:sp>
        <p:nvSpPr>
          <p:cNvPr id="5126" name="Rectangle 3"/>
          <p:cNvSpPr>
            <a:spLocks noGrp="1" noChangeArrowheads="1"/>
          </p:cNvSpPr>
          <p:nvPr>
            <p:ph type="body" idx="1"/>
          </p:nvPr>
        </p:nvSpPr>
        <p:spPr>
          <a:xfrm>
            <a:off x="559257" y="1255609"/>
            <a:ext cx="8229600" cy="4525963"/>
          </a:xfrm>
        </p:spPr>
        <p:txBody>
          <a:bodyPr/>
          <a:lstStyle/>
          <a:p>
            <a:pPr marL="0" indent="0" eaLnBrk="1" hangingPunct="1">
              <a:buNone/>
            </a:pPr>
            <a:r>
              <a:rPr lang="en-US" altLang="zh-TW" dirty="0">
                <a:latin typeface="Arial" charset="0"/>
                <a:ea typeface="標楷體" charset="0"/>
              </a:rPr>
              <a:t/>
            </a:r>
            <a:br>
              <a:rPr lang="en-US" altLang="zh-TW" dirty="0">
                <a:latin typeface="Arial" charset="0"/>
                <a:ea typeface="標楷體" charset="0"/>
              </a:rPr>
            </a:br>
            <a:r>
              <a:rPr lang="en-US" altLang="zh-TW" sz="2400" dirty="0">
                <a:latin typeface="Arial" charset="0"/>
                <a:ea typeface="標楷體" charset="0"/>
              </a:rPr>
              <a:t>Given</a:t>
            </a:r>
          </a:p>
          <a:p>
            <a:pPr lvl="1" eaLnBrk="1" hangingPunct="1"/>
            <a:r>
              <a:rPr lang="en-US" altLang="zh-TW" sz="2200" dirty="0">
                <a:latin typeface="Arial" charset="0"/>
                <a:ea typeface="標楷體" charset="0"/>
              </a:rPr>
              <a:t> </a:t>
            </a:r>
          </a:p>
        </p:txBody>
      </p:sp>
      <p:graphicFrame>
        <p:nvGraphicFramePr>
          <p:cNvPr id="5122" name="Object 4"/>
          <p:cNvGraphicFramePr>
            <a:graphicFrameLocks noChangeAspect="1"/>
          </p:cNvGraphicFramePr>
          <p:nvPr>
            <p:extLst>
              <p:ext uri="{D42A27DB-BD31-4B8C-83A1-F6EECF244321}">
                <p14:modId xmlns:p14="http://schemas.microsoft.com/office/powerpoint/2010/main" val="2297560134"/>
              </p:ext>
            </p:extLst>
          </p:nvPr>
        </p:nvGraphicFramePr>
        <p:xfrm>
          <a:off x="1407656" y="2206958"/>
          <a:ext cx="1982787" cy="344591"/>
        </p:xfrm>
        <a:graphic>
          <a:graphicData uri="http://schemas.openxmlformats.org/presentationml/2006/ole">
            <mc:AlternateContent xmlns:mc="http://schemas.openxmlformats.org/markup-compatibility/2006">
              <mc:Choice xmlns:v="urn:schemas-microsoft-com:vml" Requires="v">
                <p:oleObj spid="_x0000_s6212" name="方程式" r:id="rId3" imgW="1054080" imgH="228600" progId="Equation.3">
                  <p:embed/>
                </p:oleObj>
              </mc:Choice>
              <mc:Fallback>
                <p:oleObj name="方程式" r:id="rId3" imgW="105408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7656" y="2206958"/>
                        <a:ext cx="1982787" cy="344591"/>
                      </a:xfrm>
                      <a:prstGeom prst="rect">
                        <a:avLst/>
                      </a:prstGeom>
                      <a:noFill/>
                      <a:ln>
                        <a:noFill/>
                      </a:ln>
                      <a:effectLst/>
                      <a:extLst/>
                    </p:spPr>
                  </p:pic>
                </p:oleObj>
              </mc:Fallback>
            </mc:AlternateContent>
          </a:graphicData>
        </a:graphic>
      </p:graphicFrame>
      <p:graphicFrame>
        <p:nvGraphicFramePr>
          <p:cNvPr id="5123" name="Object 5"/>
          <p:cNvGraphicFramePr>
            <a:graphicFrameLocks noChangeAspect="1"/>
          </p:cNvGraphicFramePr>
          <p:nvPr>
            <p:extLst>
              <p:ext uri="{D42A27DB-BD31-4B8C-83A1-F6EECF244321}">
                <p14:modId xmlns:p14="http://schemas.microsoft.com/office/powerpoint/2010/main" val="1078015445"/>
              </p:ext>
            </p:extLst>
          </p:nvPr>
        </p:nvGraphicFramePr>
        <p:xfrm>
          <a:off x="1312878" y="2670620"/>
          <a:ext cx="3562350" cy="361950"/>
        </p:xfrm>
        <a:graphic>
          <a:graphicData uri="http://schemas.openxmlformats.org/presentationml/2006/ole">
            <mc:AlternateContent xmlns:mc="http://schemas.openxmlformats.org/markup-compatibility/2006">
              <mc:Choice xmlns:v="urn:schemas-microsoft-com:vml" Requires="v">
                <p:oleObj spid="_x0000_s6213" name="方程式" r:id="rId5" imgW="2120760" imgH="215640" progId="Equation.3">
                  <p:embed/>
                </p:oleObj>
              </mc:Choice>
              <mc:Fallback>
                <p:oleObj name="方程式" r:id="rId5" imgW="212076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12878" y="2670620"/>
                        <a:ext cx="3562350" cy="361950"/>
                      </a:xfrm>
                      <a:prstGeom prst="rect">
                        <a:avLst/>
                      </a:prstGeom>
                      <a:noFill/>
                      <a:ln>
                        <a:noFill/>
                      </a:ln>
                      <a:effectLst/>
                      <a:extLst/>
                    </p:spPr>
                  </p:pic>
                </p:oleObj>
              </mc:Fallback>
            </mc:AlternateContent>
          </a:graphicData>
        </a:graphic>
      </p:graphicFrame>
      <p:graphicFrame>
        <p:nvGraphicFramePr>
          <p:cNvPr id="5124" name="Object 7"/>
          <p:cNvGraphicFramePr>
            <a:graphicFrameLocks noChangeAspect="1"/>
          </p:cNvGraphicFramePr>
          <p:nvPr>
            <p:extLst>
              <p:ext uri="{D42A27DB-BD31-4B8C-83A1-F6EECF244321}">
                <p14:modId xmlns:p14="http://schemas.microsoft.com/office/powerpoint/2010/main" val="2279718870"/>
              </p:ext>
            </p:extLst>
          </p:nvPr>
        </p:nvGraphicFramePr>
        <p:xfrm>
          <a:off x="1164771" y="3191084"/>
          <a:ext cx="6970713" cy="2474913"/>
        </p:xfrm>
        <a:graphic>
          <a:graphicData uri="http://schemas.openxmlformats.org/presentationml/2006/ole">
            <mc:AlternateContent xmlns:mc="http://schemas.openxmlformats.org/markup-compatibility/2006">
              <mc:Choice xmlns:v="urn:schemas-microsoft-com:vml" Requires="v">
                <p:oleObj spid="_x0000_s6214" name="Equation" r:id="rId7" imgW="3263760" imgH="1396800" progId="Equation.3">
                  <p:embed/>
                </p:oleObj>
              </mc:Choice>
              <mc:Fallback>
                <p:oleObj name="Equation" r:id="rId7" imgW="3263760" imgH="1396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64771" y="3191084"/>
                        <a:ext cx="6970713" cy="2474913"/>
                      </a:xfrm>
                      <a:prstGeom prst="rect">
                        <a:avLst/>
                      </a:prstGeom>
                      <a:noFill/>
                      <a:ln>
                        <a:noFill/>
                      </a:ln>
                      <a:effectLst/>
                      <a:extLst>
                        <a:ext uri="{909E8E84-426E-40dd-AFC4-6F175D3DCCD1}">
                          <a14:hiddenFill xmlns="" xmlns:a14="http://schemas.microsoft.com/office/drawing/2010/main">
                            <a:solidFill>
                              <a:srgbClr val="E9EAFB"/>
                            </a:solidFill>
                          </a14:hiddenFill>
                        </a:ext>
                        <a:ext uri="{91240B29-F687-4f45-9708-019B960494DF}">
                          <a14:hiddenLine xmlns="" xmlns:a14="http://schemas.microsoft.com/office/drawing/2010/main" w="9525">
                            <a:solidFill>
                              <a:srgbClr val="FF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290048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pPr eaLnBrk="1" hangingPunct="1"/>
            <a:r>
              <a:rPr lang="en-US" altLang="zh-TW" dirty="0" smtClean="0">
                <a:latin typeface="Arial" charset="0"/>
                <a:ea typeface="標楷體" charset="0"/>
              </a:rPr>
              <a:t>Elliptic </a:t>
            </a:r>
            <a:r>
              <a:rPr lang="en-US" altLang="zh-TW" dirty="0">
                <a:latin typeface="Arial" charset="0"/>
                <a:ea typeface="標楷體" charset="0"/>
              </a:rPr>
              <a:t>Curves over GF(p)</a:t>
            </a:r>
          </a:p>
        </p:txBody>
      </p:sp>
      <p:sp>
        <p:nvSpPr>
          <p:cNvPr id="6150" name="Rectangle 3"/>
          <p:cNvSpPr>
            <a:spLocks noGrp="1" noChangeArrowheads="1"/>
          </p:cNvSpPr>
          <p:nvPr>
            <p:ph type="body" idx="1"/>
          </p:nvPr>
        </p:nvSpPr>
        <p:spPr/>
        <p:txBody>
          <a:bodyPr/>
          <a:lstStyle/>
          <a:p>
            <a:pPr eaLnBrk="1" hangingPunct="1"/>
            <a:r>
              <a:rPr lang="en-US" altLang="zh-TW">
                <a:solidFill>
                  <a:srgbClr val="000099"/>
                </a:solidFill>
                <a:latin typeface="Arial" charset="0"/>
                <a:ea typeface="標楷體" charset="0"/>
              </a:rPr>
              <a:t>Definition</a:t>
            </a:r>
            <a:r>
              <a:rPr lang="en-US" altLang="zh-TW">
                <a:latin typeface="Arial" charset="0"/>
                <a:ea typeface="標楷體" charset="0"/>
              </a:rPr>
              <a:t/>
            </a:r>
            <a:br>
              <a:rPr lang="en-US" altLang="zh-TW">
                <a:latin typeface="Arial" charset="0"/>
                <a:ea typeface="標楷體" charset="0"/>
              </a:rPr>
            </a:br>
            <a:r>
              <a:rPr lang="en-US" altLang="zh-TW" sz="2400">
                <a:latin typeface="Arial" charset="0"/>
                <a:ea typeface="標楷體" charset="0"/>
              </a:rPr>
              <a:t>Let</a:t>
            </a:r>
            <a:br>
              <a:rPr lang="en-US" altLang="zh-TW" sz="2400">
                <a:latin typeface="Arial" charset="0"/>
                <a:ea typeface="標楷體" charset="0"/>
              </a:rPr>
            </a:br>
            <a:r>
              <a:rPr lang="en-US" altLang="zh-TW">
                <a:latin typeface="Arial" charset="0"/>
                <a:ea typeface="標楷體" charset="0"/>
              </a:rPr>
              <a:t/>
            </a:r>
            <a:br>
              <a:rPr lang="en-US" altLang="zh-TW">
                <a:latin typeface="Arial" charset="0"/>
                <a:ea typeface="標楷體" charset="0"/>
              </a:rPr>
            </a:br>
            <a:endParaRPr lang="en-US" altLang="zh-TW">
              <a:latin typeface="Arial" charset="0"/>
              <a:ea typeface="標楷體" charset="0"/>
            </a:endParaRPr>
          </a:p>
          <a:p>
            <a:pPr eaLnBrk="1" hangingPunct="1"/>
            <a:r>
              <a:rPr lang="en-US" altLang="zh-TW">
                <a:latin typeface="Arial" charset="0"/>
                <a:ea typeface="標楷體" charset="0"/>
              </a:rPr>
              <a:t>Example:</a:t>
            </a:r>
            <a:br>
              <a:rPr lang="en-US" altLang="zh-TW">
                <a:latin typeface="Arial" charset="0"/>
                <a:ea typeface="標楷體" charset="0"/>
              </a:rPr>
            </a:br>
            <a:r>
              <a:rPr lang="en-US" altLang="zh-TW">
                <a:latin typeface="Arial" charset="0"/>
                <a:ea typeface="標楷體" charset="0"/>
              </a:rPr>
              <a:t/>
            </a:r>
            <a:br>
              <a:rPr lang="en-US" altLang="zh-TW">
                <a:latin typeface="Arial" charset="0"/>
                <a:ea typeface="標楷體" charset="0"/>
              </a:rPr>
            </a:br>
            <a:r>
              <a:rPr lang="en-US" altLang="zh-TW">
                <a:latin typeface="Arial" charset="0"/>
                <a:ea typeface="標楷體" charset="0"/>
              </a:rPr>
              <a:t/>
            </a:r>
            <a:br>
              <a:rPr lang="en-US" altLang="zh-TW">
                <a:latin typeface="Arial" charset="0"/>
                <a:ea typeface="標楷體" charset="0"/>
              </a:rPr>
            </a:br>
            <a:endParaRPr lang="en-US" altLang="zh-TW" i="1">
              <a:latin typeface="Arial" charset="0"/>
              <a:ea typeface="標楷體" charset="0"/>
            </a:endParaRPr>
          </a:p>
        </p:txBody>
      </p:sp>
      <p:graphicFrame>
        <p:nvGraphicFramePr>
          <p:cNvPr id="6146" name="Object 4"/>
          <p:cNvGraphicFramePr>
            <a:graphicFrameLocks noChangeAspect="1"/>
          </p:cNvGraphicFramePr>
          <p:nvPr>
            <p:extLst>
              <p:ext uri="{D42A27DB-BD31-4B8C-83A1-F6EECF244321}">
                <p14:modId xmlns:p14="http://schemas.microsoft.com/office/powerpoint/2010/main" val="198641497"/>
              </p:ext>
            </p:extLst>
          </p:nvPr>
        </p:nvGraphicFramePr>
        <p:xfrm>
          <a:off x="1223963" y="2578100"/>
          <a:ext cx="6818312" cy="576263"/>
        </p:xfrm>
        <a:graphic>
          <a:graphicData uri="http://schemas.openxmlformats.org/presentationml/2006/ole">
            <mc:AlternateContent xmlns:mc="http://schemas.openxmlformats.org/markup-compatibility/2006">
              <mc:Choice xmlns:v="urn:schemas-microsoft-com:vml" Requires="v">
                <p:oleObj spid="_x0000_s7236" name="Equation" r:id="rId3" imgW="3606800" imgH="304800" progId="Equation.3">
                  <p:embed/>
                </p:oleObj>
              </mc:Choice>
              <mc:Fallback>
                <p:oleObj name="Equation" r:id="rId3" imgW="3606800" imgH="304800" progId="Equation.3">
                  <p:embed/>
                  <p:pic>
                    <p:nvPicPr>
                      <p:cNvPr id="0" name=""/>
                      <p:cNvPicPr>
                        <a:picLocks noChangeAspect="1" noChangeArrowheads="1"/>
                      </p:cNvPicPr>
                      <p:nvPr/>
                    </p:nvPicPr>
                    <p:blipFill>
                      <a:blip r:embed="rId4"/>
                      <a:srcRect/>
                      <a:stretch>
                        <a:fillRect/>
                      </a:stretch>
                    </p:blipFill>
                    <p:spPr bwMode="auto">
                      <a:xfrm>
                        <a:off x="1223963" y="2578100"/>
                        <a:ext cx="6818312" cy="57626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147" name="Object 5"/>
          <p:cNvGraphicFramePr>
            <a:graphicFrameLocks noChangeAspect="1"/>
          </p:cNvGraphicFramePr>
          <p:nvPr>
            <p:extLst>
              <p:ext uri="{D42A27DB-BD31-4B8C-83A1-F6EECF244321}">
                <p14:modId xmlns:p14="http://schemas.microsoft.com/office/powerpoint/2010/main" val="23154011"/>
              </p:ext>
            </p:extLst>
          </p:nvPr>
        </p:nvGraphicFramePr>
        <p:xfrm>
          <a:off x="1492033" y="2078097"/>
          <a:ext cx="4405312" cy="430212"/>
        </p:xfrm>
        <a:graphic>
          <a:graphicData uri="http://schemas.openxmlformats.org/presentationml/2006/ole">
            <mc:AlternateContent xmlns:mc="http://schemas.openxmlformats.org/markup-compatibility/2006">
              <mc:Choice xmlns:v="urn:schemas-microsoft-com:vml" Requires="v">
                <p:oleObj spid="_x0000_s7237" name="方程式" r:id="rId5" imgW="2590560" imgH="253800" progId="Equation.3">
                  <p:embed/>
                </p:oleObj>
              </mc:Choice>
              <mc:Fallback>
                <p:oleObj name="方程式" r:id="rId5" imgW="2590560" imgH="253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2033" y="2078097"/>
                        <a:ext cx="4405312" cy="430212"/>
                      </a:xfrm>
                      <a:prstGeom prst="rect">
                        <a:avLst/>
                      </a:prstGeom>
                      <a:noFill/>
                      <a:ln>
                        <a:noFill/>
                      </a:ln>
                      <a:effectLst/>
                      <a:extLst/>
                    </p:spPr>
                  </p:pic>
                </p:oleObj>
              </mc:Fallback>
            </mc:AlternateContent>
          </a:graphicData>
        </a:graphic>
      </p:graphicFrame>
      <p:graphicFrame>
        <p:nvGraphicFramePr>
          <p:cNvPr id="6148" name="Object 6"/>
          <p:cNvGraphicFramePr>
            <a:graphicFrameLocks noChangeAspect="1"/>
          </p:cNvGraphicFramePr>
          <p:nvPr/>
        </p:nvGraphicFramePr>
        <p:xfrm>
          <a:off x="611188" y="3141663"/>
          <a:ext cx="2833687" cy="455612"/>
        </p:xfrm>
        <a:graphic>
          <a:graphicData uri="http://schemas.openxmlformats.org/presentationml/2006/ole">
            <mc:AlternateContent xmlns:mc="http://schemas.openxmlformats.org/markup-compatibility/2006">
              <mc:Choice xmlns:v="urn:schemas-microsoft-com:vml" Requires="v">
                <p:oleObj spid="_x0000_s7238" name="Equation" r:id="rId7" imgW="1498320" imgH="241200" progId="Equation.3">
                  <p:embed/>
                </p:oleObj>
              </mc:Choice>
              <mc:Fallback>
                <p:oleObj name="Equation" r:id="rId7" imgW="1498320" imgH="241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1188" y="3141663"/>
                        <a:ext cx="2833687" cy="4556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6151"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27356" y="3179468"/>
            <a:ext cx="4248150" cy="36909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31476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p:cNvSpPr>
            <a:spLocks noGrp="1" noChangeArrowheads="1"/>
          </p:cNvSpPr>
          <p:nvPr>
            <p:ph type="title"/>
          </p:nvPr>
        </p:nvSpPr>
        <p:spPr/>
        <p:txBody>
          <a:bodyPr/>
          <a:lstStyle/>
          <a:p>
            <a:pPr eaLnBrk="1" hangingPunct="1"/>
            <a:r>
              <a:rPr lang="en-US" altLang="zh-TW" dirty="0" smtClean="0">
                <a:latin typeface="Arial" charset="0"/>
                <a:ea typeface="標楷體" charset="0"/>
              </a:rPr>
              <a:t>Galois Field GF(p</a:t>
            </a:r>
            <a:r>
              <a:rPr lang="en-US" altLang="zh-TW" dirty="0">
                <a:latin typeface="Arial" charset="0"/>
                <a:ea typeface="標楷體" charset="0"/>
              </a:rPr>
              <a:t>)</a:t>
            </a:r>
          </a:p>
        </p:txBody>
      </p:sp>
      <p:sp>
        <p:nvSpPr>
          <p:cNvPr id="6150" name="Rectangle 3"/>
          <p:cNvSpPr>
            <a:spLocks noGrp="1" noChangeArrowheads="1"/>
          </p:cNvSpPr>
          <p:nvPr>
            <p:ph type="body" idx="1"/>
          </p:nvPr>
        </p:nvSpPr>
        <p:spPr>
          <a:xfrm>
            <a:off x="457200" y="1417638"/>
            <a:ext cx="8229600" cy="4880113"/>
          </a:xfrm>
        </p:spPr>
        <p:txBody>
          <a:bodyPr>
            <a:normAutofit lnSpcReduction="10000"/>
          </a:bodyPr>
          <a:lstStyle/>
          <a:p>
            <a:pPr eaLnBrk="1" hangingPunct="1"/>
            <a:r>
              <a:rPr lang="en-US" altLang="zh-TW" dirty="0" smtClean="0">
                <a:latin typeface="Arial" charset="0"/>
                <a:ea typeface="標楷體" charset="0"/>
              </a:rPr>
              <a:t>p is a prime number</a:t>
            </a:r>
          </a:p>
          <a:p>
            <a:pPr eaLnBrk="1" hangingPunct="1"/>
            <a:r>
              <a:rPr lang="en-US" altLang="zh-TW" dirty="0" smtClean="0">
                <a:latin typeface="Arial" charset="0"/>
                <a:ea typeface="標楷體" charset="0"/>
              </a:rPr>
              <a:t>Example: GF(11)={0,1,2,3,4,5,6,7,8,9,10}</a:t>
            </a:r>
          </a:p>
          <a:p>
            <a:pPr eaLnBrk="1" hangingPunct="1"/>
            <a:r>
              <a:rPr lang="en-US" altLang="zh-TW" dirty="0" smtClean="0">
                <a:latin typeface="Arial" charset="0"/>
                <a:ea typeface="標楷體" charset="0"/>
              </a:rPr>
              <a:t>13 (mod 11) = 2, 13=24=35=2 (mod 11)</a:t>
            </a:r>
          </a:p>
          <a:p>
            <a:pPr eaLnBrk="1" hangingPunct="1"/>
            <a:r>
              <a:rPr lang="en-US" altLang="zh-TW" dirty="0" smtClean="0">
                <a:latin typeface="Arial" charset="0"/>
                <a:ea typeface="標楷體" charset="0"/>
              </a:rPr>
              <a:t>8+9=17=6 (mod 11)</a:t>
            </a:r>
          </a:p>
          <a:p>
            <a:pPr eaLnBrk="1" hangingPunct="1"/>
            <a:r>
              <a:rPr lang="en-US" altLang="zh-TW" dirty="0" smtClean="0">
                <a:latin typeface="Arial" charset="0"/>
                <a:ea typeface="標楷體" charset="0"/>
              </a:rPr>
              <a:t>8-9= -1 =10 (mod 11)</a:t>
            </a:r>
          </a:p>
          <a:p>
            <a:pPr eaLnBrk="1" hangingPunct="1"/>
            <a:r>
              <a:rPr lang="en-US" altLang="zh-TW" dirty="0" smtClean="0">
                <a:latin typeface="Arial" charset="0"/>
                <a:ea typeface="標楷體" charset="0"/>
              </a:rPr>
              <a:t>3x4=12=1 (mod 11)</a:t>
            </a:r>
          </a:p>
          <a:p>
            <a:pPr eaLnBrk="1" hangingPunct="1"/>
            <a:r>
              <a:rPr lang="en-US" altLang="zh-TW" dirty="0" smtClean="0">
                <a:latin typeface="Arial" charset="0"/>
                <a:ea typeface="標楷體" charset="0"/>
              </a:rPr>
              <a:t>¾=3x4</a:t>
            </a:r>
            <a:r>
              <a:rPr lang="en-US" altLang="zh-TW" baseline="30000" dirty="0" smtClean="0">
                <a:latin typeface="Arial" charset="0"/>
                <a:ea typeface="標楷體" charset="0"/>
              </a:rPr>
              <a:t>-1</a:t>
            </a:r>
            <a:r>
              <a:rPr lang="en-US" altLang="zh-TW" dirty="0" smtClean="0">
                <a:latin typeface="Arial" charset="0"/>
                <a:ea typeface="標楷體" charset="0"/>
              </a:rPr>
              <a:t>=3x3=9 (mod 11)</a:t>
            </a:r>
          </a:p>
          <a:p>
            <a:pPr eaLnBrk="1" hangingPunct="1"/>
            <a:r>
              <a:rPr lang="en-US" altLang="zh-TW" i="1" dirty="0" smtClean="0">
                <a:latin typeface="Arial" charset="0"/>
                <a:ea typeface="標楷體" charset="0"/>
              </a:rPr>
              <a:t>Multiplicative inverse: </a:t>
            </a:r>
          </a:p>
          <a:p>
            <a:pPr eaLnBrk="1" hangingPunct="1"/>
            <a:r>
              <a:rPr lang="en-US" altLang="zh-TW" i="1" dirty="0" smtClean="0">
                <a:latin typeface="Arial" charset="0"/>
                <a:ea typeface="標楷體" charset="0"/>
              </a:rPr>
              <a:t>(1,1), (2,6),(3,4),(5,9),(7,8)</a:t>
            </a:r>
            <a:endParaRPr lang="en-US" altLang="zh-TW" i="1" dirty="0">
              <a:latin typeface="Arial" charset="0"/>
              <a:ea typeface="標楷體" charset="0"/>
            </a:endParaRPr>
          </a:p>
        </p:txBody>
      </p:sp>
    </p:spTree>
    <p:extLst>
      <p:ext uri="{BB962C8B-B14F-4D97-AF65-F5344CB8AC3E}">
        <p14:creationId xmlns:p14="http://schemas.microsoft.com/office/powerpoint/2010/main" val="8604803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pPr eaLnBrk="1" hangingPunct="1"/>
            <a:r>
              <a:rPr lang="en-AU" altLang="zh-TW" dirty="0" smtClean="0">
                <a:latin typeface="Arial" charset="0"/>
                <a:ea typeface="標楷體" charset="0"/>
              </a:rPr>
              <a:t>Example</a:t>
            </a:r>
            <a:endParaRPr lang="zh-TW" dirty="0">
              <a:latin typeface="Arial" charset="0"/>
              <a:ea typeface="標楷體" charset="0"/>
            </a:endParaRPr>
          </a:p>
        </p:txBody>
      </p:sp>
      <p:sp>
        <p:nvSpPr>
          <p:cNvPr id="7173" name="Rectangle 3"/>
          <p:cNvSpPr>
            <a:spLocks noGrp="1" noChangeArrowheads="1"/>
          </p:cNvSpPr>
          <p:nvPr>
            <p:ph type="body" idx="1"/>
          </p:nvPr>
        </p:nvSpPr>
        <p:spPr/>
        <p:txBody>
          <a:bodyPr/>
          <a:lstStyle/>
          <a:p>
            <a:pPr marL="0" indent="0" eaLnBrk="1" hangingPunct="1">
              <a:buNone/>
            </a:pPr>
            <a:r>
              <a:rPr lang="en-US" altLang="zh-TW" dirty="0">
                <a:latin typeface="Arial" charset="0"/>
                <a:ea typeface="標楷體" charset="0"/>
              </a:rPr>
              <a:t/>
            </a:r>
            <a:br>
              <a:rPr lang="en-US" altLang="zh-TW" dirty="0">
                <a:latin typeface="Arial" charset="0"/>
                <a:ea typeface="標楷體" charset="0"/>
              </a:rPr>
            </a:br>
            <a:r>
              <a:rPr lang="en-US" altLang="zh-TW" dirty="0">
                <a:latin typeface="Arial" charset="0"/>
                <a:ea typeface="標楷體" charset="0"/>
              </a:rPr>
              <a:t/>
            </a:r>
            <a:br>
              <a:rPr lang="en-US" altLang="zh-TW" dirty="0">
                <a:latin typeface="Arial" charset="0"/>
                <a:ea typeface="標楷體" charset="0"/>
              </a:rPr>
            </a:br>
            <a:r>
              <a:rPr lang="en-US" altLang="zh-TW" sz="2400" dirty="0">
                <a:latin typeface="Arial" charset="0"/>
                <a:ea typeface="標楷體" charset="0"/>
              </a:rPr>
              <a:t>Find all </a:t>
            </a:r>
            <a:r>
              <a:rPr lang="en-US" altLang="zh-TW" sz="2400" i="1" dirty="0">
                <a:latin typeface="Arial" charset="0"/>
                <a:ea typeface="標楷體" charset="0"/>
              </a:rPr>
              <a:t>(x, y)</a:t>
            </a:r>
            <a:r>
              <a:rPr lang="en-US" altLang="zh-TW" sz="2400" dirty="0">
                <a:latin typeface="Arial" charset="0"/>
                <a:ea typeface="標楷體" charset="0"/>
              </a:rPr>
              <a:t> and </a:t>
            </a:r>
            <a:r>
              <a:rPr lang="en-US" altLang="zh-TW" sz="2400" dirty="0">
                <a:latin typeface="Euclid Math One" charset="0"/>
                <a:ea typeface="標楷體" charset="0"/>
              </a:rPr>
              <a:t>O</a:t>
            </a:r>
            <a:r>
              <a:rPr lang="en-US" altLang="zh-TW" sz="2400" dirty="0">
                <a:latin typeface="Arial" charset="0"/>
                <a:ea typeface="標楷體" charset="0"/>
              </a:rPr>
              <a:t>:</a:t>
            </a:r>
          </a:p>
          <a:p>
            <a:pPr lvl="1" eaLnBrk="1" hangingPunct="1"/>
            <a:r>
              <a:rPr lang="en-US" altLang="zh-TW" dirty="0">
                <a:latin typeface="Arial" charset="0"/>
                <a:ea typeface="標楷體" charset="0"/>
              </a:rPr>
              <a:t>Fix </a:t>
            </a:r>
            <a:r>
              <a:rPr lang="en-US" altLang="zh-TW" i="1" dirty="0">
                <a:latin typeface="Arial" charset="0"/>
                <a:ea typeface="標楷體" charset="0"/>
              </a:rPr>
              <a:t>x</a:t>
            </a:r>
            <a:r>
              <a:rPr lang="en-US" altLang="zh-TW" dirty="0">
                <a:latin typeface="Arial" charset="0"/>
                <a:ea typeface="標楷體" charset="0"/>
              </a:rPr>
              <a:t> and determine </a:t>
            </a:r>
            <a:r>
              <a:rPr lang="en-US" altLang="zh-TW" i="1" dirty="0">
                <a:latin typeface="Arial" charset="0"/>
                <a:ea typeface="標楷體" charset="0"/>
              </a:rPr>
              <a:t>y</a:t>
            </a:r>
          </a:p>
          <a:p>
            <a:pPr lvl="1" eaLnBrk="1" hangingPunct="1"/>
            <a:r>
              <a:rPr lang="en-US" altLang="zh-TW" dirty="0">
                <a:latin typeface="Euclid Math One" charset="0"/>
                <a:ea typeface="標楷體" charset="0"/>
              </a:rPr>
              <a:t>O</a:t>
            </a:r>
            <a:r>
              <a:rPr lang="en-US" altLang="zh-TW" dirty="0">
                <a:latin typeface="Arial" charset="0"/>
                <a:ea typeface="標楷體" charset="0"/>
              </a:rPr>
              <a:t> is an artificial point</a:t>
            </a:r>
          </a:p>
          <a:p>
            <a:pPr lvl="1" eaLnBrk="1" hangingPunct="1">
              <a:buFont typeface="Wingdings" charset="0"/>
              <a:buNone/>
            </a:pPr>
            <a:endParaRPr lang="en-US" altLang="zh-TW" dirty="0">
              <a:latin typeface="Arial" charset="0"/>
              <a:ea typeface="標楷體" charset="0"/>
            </a:endParaRPr>
          </a:p>
          <a:p>
            <a:pPr lvl="1" eaLnBrk="1" hangingPunct="1">
              <a:buFont typeface="Wingdings" charset="0"/>
              <a:buNone/>
            </a:pPr>
            <a:r>
              <a:rPr lang="en-US" altLang="zh-TW" dirty="0">
                <a:latin typeface="Arial" charset="0"/>
                <a:ea typeface="標楷體" charset="0"/>
              </a:rPr>
              <a:t>12 </a:t>
            </a:r>
            <a:r>
              <a:rPr lang="en-US" altLang="zh-TW" i="1" dirty="0">
                <a:latin typeface="Arial" charset="0"/>
                <a:ea typeface="標楷體" charset="0"/>
              </a:rPr>
              <a:t>(x, y)</a:t>
            </a:r>
            <a:r>
              <a:rPr lang="en-US" altLang="zh-TW" dirty="0">
                <a:latin typeface="Arial" charset="0"/>
                <a:ea typeface="標楷體" charset="0"/>
              </a:rPr>
              <a:t> pairs plus </a:t>
            </a:r>
            <a:r>
              <a:rPr lang="en-US" altLang="zh-TW" dirty="0">
                <a:latin typeface="Euclid Math One" charset="0"/>
                <a:ea typeface="標楷體" charset="0"/>
              </a:rPr>
              <a:t>O</a:t>
            </a:r>
            <a:r>
              <a:rPr lang="en-US" altLang="zh-TW" dirty="0">
                <a:latin typeface="Arial" charset="0"/>
                <a:ea typeface="標楷體" charset="0"/>
              </a:rPr>
              <a:t>, </a:t>
            </a:r>
          </a:p>
          <a:p>
            <a:pPr lvl="1" eaLnBrk="1" hangingPunct="1">
              <a:buFont typeface="Wingdings" charset="0"/>
              <a:buNone/>
            </a:pPr>
            <a:r>
              <a:rPr lang="en-US" altLang="zh-TW" dirty="0">
                <a:latin typeface="Arial" charset="0"/>
                <a:ea typeface="標楷體" charset="0"/>
              </a:rPr>
              <a:t>and have </a:t>
            </a:r>
            <a:r>
              <a:rPr lang="en-US" altLang="zh-TW" i="1" dirty="0">
                <a:latin typeface="Arial" charset="0"/>
                <a:ea typeface="標楷體" charset="0"/>
              </a:rPr>
              <a:t>#E=13</a:t>
            </a:r>
          </a:p>
        </p:txBody>
      </p:sp>
      <p:sp>
        <p:nvSpPr>
          <p:cNvPr id="7174" name="Rectangle 4"/>
          <p:cNvSpPr>
            <a:spLocks noChangeArrowheads="1"/>
          </p:cNvSpPr>
          <p:nvPr/>
        </p:nvSpPr>
        <p:spPr bwMode="auto">
          <a:xfrm>
            <a:off x="5264164" y="1979613"/>
            <a:ext cx="3671888" cy="4154487"/>
          </a:xfrm>
          <a:prstGeom prst="rect">
            <a:avLst/>
          </a:prstGeom>
          <a:solidFill>
            <a:srgbClr val="E9EAFB"/>
          </a:solidFill>
          <a:ln w="9525">
            <a:solidFill>
              <a:srgbClr val="3333B3"/>
            </a:solidFill>
            <a:miter lim="800000"/>
            <a:headEnd/>
            <a:tailEnd/>
          </a:ln>
        </p:spPr>
        <p:txBody>
          <a:bodyPr wrap="none" anchor="ctr"/>
          <a:lstStyle/>
          <a:p>
            <a:endParaRPr lang="zh-TW" altLang="en-US"/>
          </a:p>
        </p:txBody>
      </p:sp>
      <p:graphicFrame>
        <p:nvGraphicFramePr>
          <p:cNvPr id="7170" name="Object 5"/>
          <p:cNvGraphicFramePr>
            <a:graphicFrameLocks noChangeAspect="1"/>
          </p:cNvGraphicFramePr>
          <p:nvPr>
            <p:extLst>
              <p:ext uri="{D42A27DB-BD31-4B8C-83A1-F6EECF244321}">
                <p14:modId xmlns:p14="http://schemas.microsoft.com/office/powerpoint/2010/main" val="658226770"/>
              </p:ext>
            </p:extLst>
          </p:nvPr>
        </p:nvGraphicFramePr>
        <p:xfrm>
          <a:off x="951824" y="1885333"/>
          <a:ext cx="3192462" cy="431800"/>
        </p:xfrm>
        <a:graphic>
          <a:graphicData uri="http://schemas.openxmlformats.org/presentationml/2006/ole">
            <mc:AlternateContent xmlns:mc="http://schemas.openxmlformats.org/markup-compatibility/2006">
              <mc:Choice xmlns:v="urn:schemas-microsoft-com:vml" Requires="v">
                <p:oleObj spid="_x0000_s8240" name="方程式" r:id="rId3" imgW="1688760" imgH="228600" progId="Equation.3">
                  <p:embed/>
                </p:oleObj>
              </mc:Choice>
              <mc:Fallback>
                <p:oleObj name="方程式" r:id="rId3" imgW="168876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1824" y="1885333"/>
                        <a:ext cx="3192462" cy="431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171" name="Object 6"/>
          <p:cNvGraphicFramePr>
            <a:graphicFrameLocks noChangeAspect="1"/>
          </p:cNvGraphicFramePr>
          <p:nvPr>
            <p:extLst>
              <p:ext uri="{D42A27DB-BD31-4B8C-83A1-F6EECF244321}">
                <p14:modId xmlns:p14="http://schemas.microsoft.com/office/powerpoint/2010/main" val="599627499"/>
              </p:ext>
            </p:extLst>
          </p:nvPr>
        </p:nvGraphicFramePr>
        <p:xfrm>
          <a:off x="5373687" y="1979613"/>
          <a:ext cx="3313113" cy="4146550"/>
        </p:xfrm>
        <a:graphic>
          <a:graphicData uri="http://schemas.openxmlformats.org/presentationml/2006/ole">
            <mc:AlternateContent xmlns:mc="http://schemas.openxmlformats.org/markup-compatibility/2006">
              <mc:Choice xmlns:v="urn:schemas-microsoft-com:vml" Requires="v">
                <p:oleObj spid="_x0000_s8241" name="Equation" r:id="rId5" imgW="1930320" imgH="2743200" progId="Equation.3">
                  <p:embed/>
                </p:oleObj>
              </mc:Choice>
              <mc:Fallback>
                <p:oleObj name="Equation" r:id="rId5" imgW="1930320" imgH="2743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3687" y="1979613"/>
                        <a:ext cx="3313113" cy="414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022326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p:txBody>
          <a:bodyPr/>
          <a:lstStyle/>
          <a:p>
            <a:pPr eaLnBrk="1" hangingPunct="1"/>
            <a:r>
              <a:rPr lang="en-AU" altLang="zh-TW" dirty="0" smtClean="0">
                <a:latin typeface="Arial" charset="0"/>
                <a:ea typeface="標楷體" charset="0"/>
              </a:rPr>
              <a:t>Example (continue)</a:t>
            </a:r>
            <a:endParaRPr lang="zh-TW" dirty="0">
              <a:latin typeface="Arial" charset="0"/>
              <a:ea typeface="標楷體" charset="0"/>
            </a:endParaRPr>
          </a:p>
        </p:txBody>
      </p:sp>
      <p:sp>
        <p:nvSpPr>
          <p:cNvPr id="8198" name="Rectangle 3"/>
          <p:cNvSpPr>
            <a:spLocks noGrp="1" noChangeArrowheads="1"/>
          </p:cNvSpPr>
          <p:nvPr>
            <p:ph type="body" idx="1"/>
          </p:nvPr>
        </p:nvSpPr>
        <p:spPr/>
        <p:txBody>
          <a:bodyPr/>
          <a:lstStyle/>
          <a:p>
            <a:pPr eaLnBrk="1" hangingPunct="1"/>
            <a:r>
              <a:rPr lang="en-US" altLang="zh-TW" sz="2400" dirty="0" smtClean="0">
                <a:latin typeface="Arial" charset="0"/>
                <a:ea typeface="標楷體" charset="0"/>
              </a:rPr>
              <a:t>There </a:t>
            </a:r>
            <a:r>
              <a:rPr lang="en-US" altLang="zh-TW" sz="2400" dirty="0">
                <a:latin typeface="Arial" charset="0"/>
                <a:ea typeface="標楷體" charset="0"/>
              </a:rPr>
              <a:t>are 13 points on the group </a:t>
            </a:r>
            <a:r>
              <a:rPr lang="en-US" altLang="zh-TW" sz="2400" i="1" dirty="0">
                <a:latin typeface="Arial" charset="0"/>
                <a:ea typeface="標楷體" charset="0"/>
              </a:rPr>
              <a:t>E(Z</a:t>
            </a:r>
            <a:r>
              <a:rPr lang="en-US" altLang="zh-TW" sz="2400" i="1" baseline="-25000" dirty="0">
                <a:latin typeface="Arial" charset="0"/>
                <a:ea typeface="標楷體" charset="0"/>
              </a:rPr>
              <a:t>11</a:t>
            </a:r>
            <a:r>
              <a:rPr lang="en-US" altLang="zh-TW" sz="2400" i="1" dirty="0">
                <a:latin typeface="Arial" charset="0"/>
                <a:ea typeface="標楷體" charset="0"/>
              </a:rPr>
              <a:t>)</a:t>
            </a:r>
            <a:r>
              <a:rPr lang="en-US" altLang="zh-TW" sz="2400" dirty="0">
                <a:latin typeface="Arial" charset="0"/>
                <a:ea typeface="標楷體" charset="0"/>
              </a:rPr>
              <a:t> and so any non-identity point (i.e. not the point at infinity, noted as </a:t>
            </a:r>
            <a:r>
              <a:rPr lang="en-US" altLang="zh-TW" sz="2400" dirty="0">
                <a:latin typeface="Euclid Math One" charset="0"/>
                <a:ea typeface="標楷體" charset="0"/>
              </a:rPr>
              <a:t>O</a:t>
            </a:r>
            <a:r>
              <a:rPr lang="en-US" altLang="zh-TW" sz="2400" dirty="0">
                <a:latin typeface="Arial" charset="0"/>
                <a:ea typeface="標楷體" charset="0"/>
              </a:rPr>
              <a:t>) is a generator of </a:t>
            </a:r>
            <a:r>
              <a:rPr lang="en-US" altLang="zh-TW" sz="2400" i="1" dirty="0">
                <a:latin typeface="Arial" charset="0"/>
                <a:ea typeface="標楷體" charset="0"/>
              </a:rPr>
              <a:t>E(Z</a:t>
            </a:r>
            <a:r>
              <a:rPr lang="en-US" altLang="zh-TW" sz="2400" i="1" baseline="-25000" dirty="0">
                <a:latin typeface="Arial" charset="0"/>
                <a:ea typeface="標楷體" charset="0"/>
              </a:rPr>
              <a:t>11</a:t>
            </a:r>
            <a:r>
              <a:rPr lang="en-US" altLang="zh-TW" sz="2400" i="1" dirty="0">
                <a:latin typeface="Arial" charset="0"/>
                <a:ea typeface="標楷體" charset="0"/>
              </a:rPr>
              <a:t>)</a:t>
            </a:r>
            <a:r>
              <a:rPr lang="en-US" altLang="zh-TW" sz="2400" dirty="0">
                <a:latin typeface="Arial" charset="0"/>
                <a:ea typeface="標楷體" charset="0"/>
              </a:rPr>
              <a:t>.</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Choose generator</a:t>
            </a:r>
            <a:br>
              <a:rPr lang="en-US" altLang="zh-TW" sz="2400" dirty="0">
                <a:latin typeface="Arial" charset="0"/>
                <a:ea typeface="標楷體" charset="0"/>
              </a:rPr>
            </a:br>
            <a:r>
              <a:rPr lang="en-US" altLang="zh-TW" sz="2400" dirty="0">
                <a:latin typeface="Arial" charset="0"/>
                <a:ea typeface="標楷體" charset="0"/>
              </a:rPr>
              <a:t>Compute</a:t>
            </a:r>
          </a:p>
        </p:txBody>
      </p:sp>
      <p:graphicFrame>
        <p:nvGraphicFramePr>
          <p:cNvPr id="8194" name="Object 4"/>
          <p:cNvGraphicFramePr>
            <a:graphicFrameLocks noChangeAspect="1"/>
          </p:cNvGraphicFramePr>
          <p:nvPr>
            <p:extLst>
              <p:ext uri="{D42A27DB-BD31-4B8C-83A1-F6EECF244321}">
                <p14:modId xmlns:p14="http://schemas.microsoft.com/office/powerpoint/2010/main" val="3591813260"/>
              </p:ext>
            </p:extLst>
          </p:nvPr>
        </p:nvGraphicFramePr>
        <p:xfrm>
          <a:off x="3476408" y="3095625"/>
          <a:ext cx="1295400" cy="441325"/>
        </p:xfrm>
        <a:graphic>
          <a:graphicData uri="http://schemas.openxmlformats.org/presentationml/2006/ole">
            <mc:AlternateContent xmlns:mc="http://schemas.openxmlformats.org/markup-compatibility/2006">
              <mc:Choice xmlns:v="urn:schemas-microsoft-com:vml" Requires="v">
                <p:oleObj spid="_x0000_s9284" name="方程式" r:id="rId3" imgW="596880" imgH="203040" progId="Equation.3">
                  <p:embed/>
                </p:oleObj>
              </mc:Choice>
              <mc:Fallback>
                <p:oleObj name="方程式" r:id="rId3" imgW="59688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6408" y="3095625"/>
                        <a:ext cx="1295400" cy="4413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8195" name="Object 6"/>
          <p:cNvGraphicFramePr>
            <a:graphicFrameLocks noChangeAspect="1"/>
          </p:cNvGraphicFramePr>
          <p:nvPr>
            <p:extLst>
              <p:ext uri="{D42A27DB-BD31-4B8C-83A1-F6EECF244321}">
                <p14:modId xmlns:p14="http://schemas.microsoft.com/office/powerpoint/2010/main" val="625886396"/>
              </p:ext>
            </p:extLst>
          </p:nvPr>
        </p:nvGraphicFramePr>
        <p:xfrm>
          <a:off x="2229993" y="3563220"/>
          <a:ext cx="1790700" cy="468312"/>
        </p:xfrm>
        <a:graphic>
          <a:graphicData uri="http://schemas.openxmlformats.org/presentationml/2006/ole">
            <mc:AlternateContent xmlns:mc="http://schemas.openxmlformats.org/markup-compatibility/2006">
              <mc:Choice xmlns:v="urn:schemas-microsoft-com:vml" Requires="v">
                <p:oleObj spid="_x0000_s9285" name="方程式" r:id="rId5" imgW="825480" imgH="215640" progId="Equation.3">
                  <p:embed/>
                </p:oleObj>
              </mc:Choice>
              <mc:Fallback>
                <p:oleObj name="方程式" r:id="rId5" imgW="825480" imgH="2156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9993" y="3563220"/>
                        <a:ext cx="1790700" cy="4683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8196" name="Object 7"/>
          <p:cNvGraphicFramePr>
            <a:graphicFrameLocks noChangeAspect="1"/>
          </p:cNvGraphicFramePr>
          <p:nvPr>
            <p:extLst>
              <p:ext uri="{D42A27DB-BD31-4B8C-83A1-F6EECF244321}">
                <p14:modId xmlns:p14="http://schemas.microsoft.com/office/powerpoint/2010/main" val="3500038535"/>
              </p:ext>
            </p:extLst>
          </p:nvPr>
        </p:nvGraphicFramePr>
        <p:xfrm>
          <a:off x="880833" y="4409540"/>
          <a:ext cx="7432675" cy="1709737"/>
        </p:xfrm>
        <a:graphic>
          <a:graphicData uri="http://schemas.openxmlformats.org/presentationml/2006/ole">
            <mc:AlternateContent xmlns:mc="http://schemas.openxmlformats.org/markup-compatibility/2006">
              <mc:Choice xmlns:v="urn:schemas-microsoft-com:vml" Requires="v">
                <p:oleObj spid="_x0000_s9286" name="Equation" r:id="rId7" imgW="3479760" imgH="965160" progId="Equation.3">
                  <p:embed/>
                </p:oleObj>
              </mc:Choice>
              <mc:Fallback>
                <p:oleObj name="Equation" r:id="rId7" imgW="3479760" imgH="96516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80833" y="4409540"/>
                        <a:ext cx="7432675" cy="1709737"/>
                      </a:xfrm>
                      <a:prstGeom prst="rect">
                        <a:avLst/>
                      </a:prstGeom>
                      <a:noFill/>
                      <a:ln>
                        <a:noFill/>
                      </a:ln>
                      <a:effectLst/>
                      <a:extLst>
                        <a:ext uri="{909E8E84-426E-40dd-AFC4-6F175D3DCCD1}">
                          <a14:hiddenFill xmlns="" xmlns:a14="http://schemas.microsoft.com/office/drawing/2010/main">
                            <a:solidFill>
                              <a:srgbClr val="E9EAFB"/>
                            </a:solidFill>
                          </a14:hiddenFill>
                        </a:ext>
                        <a:ext uri="{91240B29-F687-4f45-9708-019B960494DF}">
                          <a14:hiddenLine xmlns="" xmlns:a14="http://schemas.microsoft.com/office/drawing/2010/main" w="9525">
                            <a:solidFill>
                              <a:srgbClr val="FF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881951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Rectangle 2"/>
          <p:cNvSpPr>
            <a:spLocks noGrp="1" noChangeArrowheads="1"/>
          </p:cNvSpPr>
          <p:nvPr>
            <p:ph type="title"/>
          </p:nvPr>
        </p:nvSpPr>
        <p:spPr/>
        <p:txBody>
          <a:bodyPr/>
          <a:lstStyle/>
          <a:p>
            <a:pPr eaLnBrk="1" hangingPunct="1"/>
            <a:r>
              <a:rPr lang="en-AU" altLang="zh-TW" dirty="0" smtClean="0">
                <a:latin typeface="Arial" charset="0"/>
                <a:ea typeface="標楷體" charset="0"/>
              </a:rPr>
              <a:t>Example (continue)</a:t>
            </a:r>
            <a:endParaRPr lang="zh-TW" dirty="0">
              <a:latin typeface="Arial" charset="0"/>
              <a:ea typeface="標楷體" charset="0"/>
            </a:endParaRPr>
          </a:p>
        </p:txBody>
      </p:sp>
      <p:sp>
        <p:nvSpPr>
          <p:cNvPr id="9222" name="Rectangle 3"/>
          <p:cNvSpPr>
            <a:spLocks noGrp="1" noChangeArrowheads="1"/>
          </p:cNvSpPr>
          <p:nvPr>
            <p:ph type="body" idx="1"/>
          </p:nvPr>
        </p:nvSpPr>
        <p:spPr/>
        <p:txBody>
          <a:bodyPr/>
          <a:lstStyle/>
          <a:p>
            <a:pPr eaLnBrk="1" hangingPunct="1"/>
            <a:r>
              <a:rPr lang="en-US" altLang="zh-TW" sz="2400" dirty="0" smtClean="0">
                <a:latin typeface="Arial" charset="0"/>
                <a:ea typeface="標楷體" charset="0"/>
              </a:rPr>
              <a:t>Compute</a:t>
            </a: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So, we can compute</a:t>
            </a:r>
            <a:endParaRPr lang="en-US" altLang="zh-TW" dirty="0">
              <a:latin typeface="Arial" charset="0"/>
              <a:ea typeface="標楷體" charset="0"/>
            </a:endParaRPr>
          </a:p>
        </p:txBody>
      </p:sp>
      <p:graphicFrame>
        <p:nvGraphicFramePr>
          <p:cNvPr id="9218" name="Object 4"/>
          <p:cNvGraphicFramePr>
            <a:graphicFrameLocks noChangeAspect="1"/>
          </p:cNvGraphicFramePr>
          <p:nvPr>
            <p:extLst>
              <p:ext uri="{D42A27DB-BD31-4B8C-83A1-F6EECF244321}">
                <p14:modId xmlns:p14="http://schemas.microsoft.com/office/powerpoint/2010/main" val="1669427398"/>
              </p:ext>
            </p:extLst>
          </p:nvPr>
        </p:nvGraphicFramePr>
        <p:xfrm>
          <a:off x="2033357" y="4366878"/>
          <a:ext cx="5184775" cy="1787525"/>
        </p:xfrm>
        <a:graphic>
          <a:graphicData uri="http://schemas.openxmlformats.org/presentationml/2006/ole">
            <mc:AlternateContent xmlns:mc="http://schemas.openxmlformats.org/markup-compatibility/2006">
              <mc:Choice xmlns:v="urn:schemas-microsoft-com:vml" Requires="v">
                <p:oleObj spid="_x0000_s10308" name="方程式" r:id="rId3" imgW="2577960" imgH="888840" progId="Equation.3">
                  <p:embed/>
                </p:oleObj>
              </mc:Choice>
              <mc:Fallback>
                <p:oleObj name="方程式" r:id="rId3" imgW="2577960" imgH="8888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3357" y="4366878"/>
                        <a:ext cx="5184775" cy="17875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9219" name="Object 5"/>
          <p:cNvGraphicFramePr>
            <a:graphicFrameLocks noChangeAspect="1"/>
          </p:cNvGraphicFramePr>
          <p:nvPr>
            <p:extLst>
              <p:ext uri="{D42A27DB-BD31-4B8C-83A1-F6EECF244321}">
                <p14:modId xmlns:p14="http://schemas.microsoft.com/office/powerpoint/2010/main" val="102053162"/>
              </p:ext>
            </p:extLst>
          </p:nvPr>
        </p:nvGraphicFramePr>
        <p:xfrm>
          <a:off x="2308463" y="1600200"/>
          <a:ext cx="1735137" cy="496888"/>
        </p:xfrm>
        <a:graphic>
          <a:graphicData uri="http://schemas.openxmlformats.org/presentationml/2006/ole">
            <mc:AlternateContent xmlns:mc="http://schemas.openxmlformats.org/markup-compatibility/2006">
              <mc:Choice xmlns:v="urn:schemas-microsoft-com:vml" Requires="v">
                <p:oleObj spid="_x0000_s10309" name="方程式" r:id="rId5" imgW="799920" imgH="228600" progId="Equation.3">
                  <p:embed/>
                </p:oleObj>
              </mc:Choice>
              <mc:Fallback>
                <p:oleObj name="方程式" r:id="rId5" imgW="79992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8463" y="1600200"/>
                        <a:ext cx="1735137" cy="4968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9220" name="Object 6"/>
          <p:cNvGraphicFramePr>
            <a:graphicFrameLocks noChangeAspect="1"/>
          </p:cNvGraphicFramePr>
          <p:nvPr>
            <p:extLst>
              <p:ext uri="{D42A27DB-BD31-4B8C-83A1-F6EECF244321}">
                <p14:modId xmlns:p14="http://schemas.microsoft.com/office/powerpoint/2010/main" val="2630760691"/>
              </p:ext>
            </p:extLst>
          </p:nvPr>
        </p:nvGraphicFramePr>
        <p:xfrm>
          <a:off x="1749889" y="2097088"/>
          <a:ext cx="6110288" cy="1677988"/>
        </p:xfrm>
        <a:graphic>
          <a:graphicData uri="http://schemas.openxmlformats.org/presentationml/2006/ole">
            <mc:AlternateContent xmlns:mc="http://schemas.openxmlformats.org/markup-compatibility/2006">
              <mc:Choice xmlns:v="urn:schemas-microsoft-com:vml" Requires="v">
                <p:oleObj spid="_x0000_s10310" name="Equation" r:id="rId7" imgW="2857320" imgH="914400" progId="Equation.3">
                  <p:embed/>
                </p:oleObj>
              </mc:Choice>
              <mc:Fallback>
                <p:oleObj name="Equation" r:id="rId7" imgW="2857320" imgH="914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9889" y="2097088"/>
                        <a:ext cx="6110288" cy="1677988"/>
                      </a:xfrm>
                      <a:prstGeom prst="rect">
                        <a:avLst/>
                      </a:prstGeom>
                      <a:noFill/>
                      <a:ln>
                        <a:noFill/>
                      </a:ln>
                      <a:effectLst/>
                      <a:extLst>
                        <a:ext uri="{909E8E84-426E-40dd-AFC4-6F175D3DCCD1}">
                          <a14:hiddenFill xmlns="" xmlns:a14="http://schemas.microsoft.com/office/drawing/2010/main">
                            <a:solidFill>
                              <a:srgbClr val="E9EAFB"/>
                            </a:solidFill>
                          </a14:hiddenFill>
                        </a:ext>
                        <a:ext uri="{91240B29-F687-4f45-9708-019B960494DF}">
                          <a14:hiddenLine xmlns="" xmlns:a14="http://schemas.microsoft.com/office/drawing/2010/main" w="9525">
                            <a:solidFill>
                              <a:srgbClr val="FF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695928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228600"/>
            <a:ext cx="7772400" cy="1143000"/>
          </a:xfrm>
        </p:spPr>
        <p:txBody>
          <a:bodyPr/>
          <a:lstStyle/>
          <a:p>
            <a:r>
              <a:rPr lang="en-US" dirty="0" smtClean="0"/>
              <a:t>Public Key Encryption</a:t>
            </a:r>
            <a:endParaRPr lang="en-US" dirty="0"/>
          </a:p>
        </p:txBody>
      </p:sp>
      <p:pic>
        <p:nvPicPr>
          <p:cNvPr id="2" name="Picture 1"/>
          <p:cNvPicPr>
            <a:picLocks noChangeAspect="1"/>
          </p:cNvPicPr>
          <p:nvPr/>
        </p:nvPicPr>
        <p:blipFill>
          <a:blip r:embed="rId2"/>
          <a:stretch>
            <a:fillRect/>
          </a:stretch>
        </p:blipFill>
        <p:spPr>
          <a:xfrm>
            <a:off x="800100" y="1510399"/>
            <a:ext cx="7658100" cy="4940300"/>
          </a:xfrm>
          <a:prstGeom prst="rect">
            <a:avLst/>
          </a:prstGeom>
        </p:spPr>
      </p:pic>
    </p:spTree>
    <p:extLst>
      <p:ext uri="{BB962C8B-B14F-4D97-AF65-F5344CB8AC3E}">
        <p14:creationId xmlns:p14="http://schemas.microsoft.com/office/powerpoint/2010/main" val="993582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8" name="Rectangle 2"/>
          <p:cNvSpPr>
            <a:spLocks noGrp="1" noChangeArrowheads="1"/>
          </p:cNvSpPr>
          <p:nvPr>
            <p:ph type="title"/>
          </p:nvPr>
        </p:nvSpPr>
        <p:spPr/>
        <p:txBody>
          <a:bodyPr/>
          <a:lstStyle/>
          <a:p>
            <a:pPr eaLnBrk="1" hangingPunct="1"/>
            <a:r>
              <a:rPr lang="en-AU" altLang="zh-TW" dirty="0" smtClean="0">
                <a:latin typeface="Arial" charset="0"/>
                <a:ea typeface="標楷體" charset="0"/>
              </a:rPr>
              <a:t>Example (continue)</a:t>
            </a:r>
            <a:endParaRPr lang="zh-TW" dirty="0">
              <a:latin typeface="Arial" charset="0"/>
              <a:ea typeface="標楷體" charset="0"/>
            </a:endParaRPr>
          </a:p>
        </p:txBody>
      </p:sp>
      <p:sp>
        <p:nvSpPr>
          <p:cNvPr id="10249" name="Rectangle 3"/>
          <p:cNvSpPr>
            <a:spLocks noGrp="1" noChangeArrowheads="1"/>
          </p:cNvSpPr>
          <p:nvPr>
            <p:ph type="body" idx="1"/>
          </p:nvPr>
        </p:nvSpPr>
        <p:spPr/>
        <p:txBody>
          <a:bodyPr>
            <a:normAutofit/>
          </a:bodyPr>
          <a:lstStyle/>
          <a:p>
            <a:pPr eaLnBrk="1" hangingPunct="1"/>
            <a:r>
              <a:rPr lang="en-US" altLang="zh-TW" sz="2400" dirty="0" smtClean="0">
                <a:latin typeface="Arial" charset="0"/>
                <a:ea typeface="標楷體" charset="0"/>
              </a:rPr>
              <a:t>Let’s </a:t>
            </a:r>
            <a:r>
              <a:rPr lang="en-US" altLang="zh-TW" sz="2400" dirty="0">
                <a:latin typeface="Arial" charset="0"/>
                <a:ea typeface="標楷體" charset="0"/>
              </a:rPr>
              <a:t>modify </a:t>
            </a:r>
            <a:r>
              <a:rPr lang="en-US" altLang="zh-TW" sz="2400" dirty="0" err="1">
                <a:latin typeface="Arial" charset="0"/>
                <a:ea typeface="標楷體" charset="0"/>
              </a:rPr>
              <a:t>ElGamal</a:t>
            </a:r>
            <a:r>
              <a:rPr lang="en-US" altLang="zh-TW" sz="2400" dirty="0">
                <a:latin typeface="Arial" charset="0"/>
                <a:ea typeface="標楷體" charset="0"/>
              </a:rPr>
              <a:t> encryption by using the elliptic curve </a:t>
            </a:r>
            <a:r>
              <a:rPr lang="en-US" altLang="zh-TW" sz="2400" i="1" dirty="0">
                <a:latin typeface="Arial" charset="0"/>
                <a:ea typeface="標楷體" charset="0"/>
              </a:rPr>
              <a:t>E(Z</a:t>
            </a:r>
            <a:r>
              <a:rPr lang="en-US" altLang="zh-TW" sz="2400" i="1" baseline="-25000" dirty="0">
                <a:latin typeface="Arial" charset="0"/>
                <a:ea typeface="標楷體" charset="0"/>
              </a:rPr>
              <a:t>11</a:t>
            </a:r>
            <a:r>
              <a:rPr lang="en-US" altLang="zh-TW" sz="2400" i="1" dirty="0">
                <a:latin typeface="Arial" charset="0"/>
                <a:ea typeface="標楷體" charset="0"/>
              </a:rPr>
              <a:t>).</a:t>
            </a:r>
            <a:r>
              <a:rPr lang="en-US" altLang="zh-TW" sz="2400" dirty="0">
                <a:latin typeface="Arial" charset="0"/>
                <a:ea typeface="標楷體" charset="0"/>
              </a:rPr>
              <a:t> </a:t>
            </a:r>
            <a:br>
              <a:rPr lang="en-US" altLang="zh-TW" sz="2400" dirty="0">
                <a:latin typeface="Arial" charset="0"/>
                <a:ea typeface="標楷體" charset="0"/>
              </a:rPr>
            </a:br>
            <a:r>
              <a:rPr lang="en-US" altLang="zh-TW" sz="2400" dirty="0">
                <a:latin typeface="Arial" charset="0"/>
                <a:ea typeface="標楷體" charset="0"/>
              </a:rPr>
              <a:t>Suppose that                  and Bob’s private key is </a:t>
            </a:r>
            <a:r>
              <a:rPr lang="en-US" altLang="zh-TW" sz="2400" dirty="0" smtClean="0">
                <a:latin typeface="Arial" charset="0"/>
                <a:ea typeface="標楷體" charset="0"/>
              </a:rPr>
              <a:t>x=7</a:t>
            </a:r>
            <a:r>
              <a:rPr lang="en-US" altLang="zh-TW" sz="2400" dirty="0">
                <a:latin typeface="Arial" charset="0"/>
                <a:ea typeface="標楷體" charset="0"/>
              </a:rPr>
              <a:t>, </a:t>
            </a:r>
            <a:r>
              <a:rPr lang="en-US" altLang="zh-TW" sz="2400" dirty="0" smtClean="0">
                <a:latin typeface="Arial" charset="0"/>
                <a:ea typeface="標楷體" charset="0"/>
              </a:rPr>
              <a:t> the public key is </a:t>
            </a: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smtClean="0">
                <a:latin typeface="Arial" charset="0"/>
                <a:ea typeface="標楷體" charset="0"/>
              </a:rPr>
              <a:t>The </a:t>
            </a:r>
            <a:r>
              <a:rPr lang="en-US" altLang="zh-TW" sz="2400" dirty="0">
                <a:latin typeface="Arial" charset="0"/>
                <a:ea typeface="標楷體" charset="0"/>
              </a:rPr>
              <a:t>encryption operation </a:t>
            </a:r>
            <a:r>
              <a:rPr lang="en-US" altLang="zh-TW" sz="2400" dirty="0" smtClean="0">
                <a:latin typeface="Arial" charset="0"/>
                <a:ea typeface="標楷體" charset="0"/>
              </a:rPr>
              <a:t>is </a:t>
            </a: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where            and                 , and the decryption operation is</a:t>
            </a:r>
          </a:p>
        </p:txBody>
      </p:sp>
      <p:graphicFrame>
        <p:nvGraphicFramePr>
          <p:cNvPr id="10242" name="Object 4"/>
          <p:cNvGraphicFramePr>
            <a:graphicFrameLocks noChangeAspect="1"/>
          </p:cNvGraphicFramePr>
          <p:nvPr>
            <p:extLst>
              <p:ext uri="{D42A27DB-BD31-4B8C-83A1-F6EECF244321}">
                <p14:modId xmlns:p14="http://schemas.microsoft.com/office/powerpoint/2010/main" val="88974560"/>
              </p:ext>
            </p:extLst>
          </p:nvPr>
        </p:nvGraphicFramePr>
        <p:xfrm>
          <a:off x="2771775" y="2365375"/>
          <a:ext cx="1295400" cy="441325"/>
        </p:xfrm>
        <a:graphic>
          <a:graphicData uri="http://schemas.openxmlformats.org/presentationml/2006/ole">
            <mc:AlternateContent xmlns:mc="http://schemas.openxmlformats.org/markup-compatibility/2006">
              <mc:Choice xmlns:v="urn:schemas-microsoft-com:vml" Requires="v">
                <p:oleObj spid="_x0000_s11398" name="Equation" r:id="rId3" imgW="596880" imgH="203040" progId="Equation.3">
                  <p:embed/>
                </p:oleObj>
              </mc:Choice>
              <mc:Fallback>
                <p:oleObj name="Equation" r:id="rId3" imgW="59688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2365375"/>
                        <a:ext cx="1295400" cy="4413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0243" name="Object 5"/>
          <p:cNvGraphicFramePr>
            <a:graphicFrameLocks noChangeAspect="1"/>
          </p:cNvGraphicFramePr>
          <p:nvPr>
            <p:extLst>
              <p:ext uri="{D42A27DB-BD31-4B8C-83A1-F6EECF244321}">
                <p14:modId xmlns:p14="http://schemas.microsoft.com/office/powerpoint/2010/main" val="1881680717"/>
              </p:ext>
            </p:extLst>
          </p:nvPr>
        </p:nvGraphicFramePr>
        <p:xfrm>
          <a:off x="3151188" y="3129756"/>
          <a:ext cx="2498725" cy="420687"/>
        </p:xfrm>
        <a:graphic>
          <a:graphicData uri="http://schemas.openxmlformats.org/presentationml/2006/ole">
            <mc:AlternateContent xmlns:mc="http://schemas.openxmlformats.org/markup-compatibility/2006">
              <mc:Choice xmlns:v="urn:schemas-microsoft-com:vml" Requires="v">
                <p:oleObj spid="_x0000_s11399" name="Equation" r:id="rId5" imgW="1206500" imgH="203200" progId="Equation.3">
                  <p:embed/>
                </p:oleObj>
              </mc:Choice>
              <mc:Fallback>
                <p:oleObj name="Equation" r:id="rId5" imgW="1206500" imgH="203200" progId="Equation.3">
                  <p:embed/>
                  <p:pic>
                    <p:nvPicPr>
                      <p:cNvPr id="0" name=""/>
                      <p:cNvPicPr>
                        <a:picLocks noChangeAspect="1" noChangeArrowheads="1"/>
                      </p:cNvPicPr>
                      <p:nvPr/>
                    </p:nvPicPr>
                    <p:blipFill>
                      <a:blip r:embed="rId6"/>
                      <a:srcRect/>
                      <a:stretch>
                        <a:fillRect/>
                      </a:stretch>
                    </p:blipFill>
                    <p:spPr bwMode="auto">
                      <a:xfrm>
                        <a:off x="3151188" y="3129756"/>
                        <a:ext cx="2498725" cy="420687"/>
                      </a:xfrm>
                      <a:prstGeom prst="rect">
                        <a:avLst/>
                      </a:prstGeom>
                      <a:noFill/>
                      <a:ln>
                        <a:noFill/>
                      </a:ln>
                      <a:effectLst/>
                      <a:extLst/>
                    </p:spPr>
                  </p:pic>
                </p:oleObj>
              </mc:Fallback>
            </mc:AlternateContent>
          </a:graphicData>
        </a:graphic>
      </p:graphicFrame>
      <p:graphicFrame>
        <p:nvGraphicFramePr>
          <p:cNvPr id="10244" name="Object 6"/>
          <p:cNvGraphicFramePr>
            <a:graphicFrameLocks noChangeAspect="1"/>
          </p:cNvGraphicFramePr>
          <p:nvPr>
            <p:extLst>
              <p:ext uri="{D42A27DB-BD31-4B8C-83A1-F6EECF244321}">
                <p14:modId xmlns:p14="http://schemas.microsoft.com/office/powerpoint/2010/main" val="2155381261"/>
              </p:ext>
            </p:extLst>
          </p:nvPr>
        </p:nvGraphicFramePr>
        <p:xfrm>
          <a:off x="1797285" y="4381500"/>
          <a:ext cx="5564187" cy="493712"/>
        </p:xfrm>
        <a:graphic>
          <a:graphicData uri="http://schemas.openxmlformats.org/presentationml/2006/ole">
            <mc:AlternateContent xmlns:mc="http://schemas.openxmlformats.org/markup-compatibility/2006">
              <mc:Choice xmlns:v="urn:schemas-microsoft-com:vml" Requires="v">
                <p:oleObj spid="_x0000_s11400" name="Equation" r:id="rId7" imgW="2730500" imgH="241300" progId="Equation.3">
                  <p:embed/>
                </p:oleObj>
              </mc:Choice>
              <mc:Fallback>
                <p:oleObj name="Equation" r:id="rId7" imgW="2730500" imgH="241300" progId="Equation.3">
                  <p:embed/>
                  <p:pic>
                    <p:nvPicPr>
                      <p:cNvPr id="0" name=""/>
                      <p:cNvPicPr>
                        <a:picLocks noChangeAspect="1" noChangeArrowheads="1"/>
                      </p:cNvPicPr>
                      <p:nvPr/>
                    </p:nvPicPr>
                    <p:blipFill>
                      <a:blip r:embed="rId8"/>
                      <a:srcRect/>
                      <a:stretch>
                        <a:fillRect/>
                      </a:stretch>
                    </p:blipFill>
                    <p:spPr bwMode="auto">
                      <a:xfrm>
                        <a:off x="1797285" y="4381500"/>
                        <a:ext cx="5564187" cy="493712"/>
                      </a:xfrm>
                      <a:prstGeom prst="rect">
                        <a:avLst/>
                      </a:prstGeom>
                      <a:noFill/>
                      <a:ln>
                        <a:noFill/>
                      </a:ln>
                      <a:effectLst/>
                      <a:extLst/>
                    </p:spPr>
                  </p:pic>
                </p:oleObj>
              </mc:Fallback>
            </mc:AlternateContent>
          </a:graphicData>
        </a:graphic>
      </p:graphicFrame>
      <p:graphicFrame>
        <p:nvGraphicFramePr>
          <p:cNvPr id="10245" name="Object 7"/>
          <p:cNvGraphicFramePr>
            <a:graphicFrameLocks noChangeAspect="1"/>
          </p:cNvGraphicFramePr>
          <p:nvPr>
            <p:extLst>
              <p:ext uri="{D42A27DB-BD31-4B8C-83A1-F6EECF244321}">
                <p14:modId xmlns:p14="http://schemas.microsoft.com/office/powerpoint/2010/main" val="1706976627"/>
              </p:ext>
            </p:extLst>
          </p:nvPr>
        </p:nvGraphicFramePr>
        <p:xfrm>
          <a:off x="1797285" y="4967142"/>
          <a:ext cx="787400" cy="368300"/>
        </p:xfrm>
        <a:graphic>
          <a:graphicData uri="http://schemas.openxmlformats.org/presentationml/2006/ole">
            <mc:AlternateContent xmlns:mc="http://schemas.openxmlformats.org/markup-compatibility/2006">
              <mc:Choice xmlns:v="urn:schemas-microsoft-com:vml" Requires="v">
                <p:oleObj spid="_x0000_s11401" name="方程式" r:id="rId9" imgW="380880" imgH="177480" progId="Equation.3">
                  <p:embed/>
                </p:oleObj>
              </mc:Choice>
              <mc:Fallback>
                <p:oleObj name="方程式" r:id="rId9" imgW="380880" imgH="1774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7285" y="4967142"/>
                        <a:ext cx="787400" cy="3683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0246" name="Object 8"/>
          <p:cNvGraphicFramePr>
            <a:graphicFrameLocks noChangeAspect="1"/>
          </p:cNvGraphicFramePr>
          <p:nvPr>
            <p:extLst>
              <p:ext uri="{D42A27DB-BD31-4B8C-83A1-F6EECF244321}">
                <p14:modId xmlns:p14="http://schemas.microsoft.com/office/powerpoint/2010/main" val="1069461011"/>
              </p:ext>
            </p:extLst>
          </p:nvPr>
        </p:nvGraphicFramePr>
        <p:xfrm>
          <a:off x="3289300" y="4929511"/>
          <a:ext cx="1312862" cy="368300"/>
        </p:xfrm>
        <a:graphic>
          <a:graphicData uri="http://schemas.openxmlformats.org/presentationml/2006/ole">
            <mc:AlternateContent xmlns:mc="http://schemas.openxmlformats.org/markup-compatibility/2006">
              <mc:Choice xmlns:v="urn:schemas-microsoft-com:vml" Requires="v">
                <p:oleObj spid="_x0000_s11402" name="方程式" r:id="rId11" imgW="634680" imgH="177480" progId="Equation.3">
                  <p:embed/>
                </p:oleObj>
              </mc:Choice>
              <mc:Fallback>
                <p:oleObj name="方程式" r:id="rId11" imgW="634680" imgH="17748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89300" y="4929511"/>
                        <a:ext cx="1312862" cy="368300"/>
                      </a:xfrm>
                      <a:prstGeom prst="rect">
                        <a:avLst/>
                      </a:prstGeom>
                      <a:noFill/>
                      <a:ln>
                        <a:noFill/>
                      </a:ln>
                      <a:effectLst/>
                      <a:extLst/>
                    </p:spPr>
                  </p:pic>
                </p:oleObj>
              </mc:Fallback>
            </mc:AlternateContent>
          </a:graphicData>
        </a:graphic>
      </p:graphicFrame>
      <p:graphicFrame>
        <p:nvGraphicFramePr>
          <p:cNvPr id="10247" name="Object 9"/>
          <p:cNvGraphicFramePr>
            <a:graphicFrameLocks noChangeAspect="1"/>
          </p:cNvGraphicFramePr>
          <p:nvPr>
            <p:extLst>
              <p:ext uri="{D42A27DB-BD31-4B8C-83A1-F6EECF244321}">
                <p14:modId xmlns:p14="http://schemas.microsoft.com/office/powerpoint/2010/main" val="872647212"/>
              </p:ext>
            </p:extLst>
          </p:nvPr>
        </p:nvGraphicFramePr>
        <p:xfrm>
          <a:off x="2992437" y="5530850"/>
          <a:ext cx="2149475" cy="415925"/>
        </p:xfrm>
        <a:graphic>
          <a:graphicData uri="http://schemas.openxmlformats.org/presentationml/2006/ole">
            <mc:AlternateContent xmlns:mc="http://schemas.openxmlformats.org/markup-compatibility/2006">
              <mc:Choice xmlns:v="urn:schemas-microsoft-com:vml" Requires="v">
                <p:oleObj spid="_x0000_s11403" name="Equation" r:id="rId13" imgW="1054100" imgH="203200" progId="Equation.3">
                  <p:embed/>
                </p:oleObj>
              </mc:Choice>
              <mc:Fallback>
                <p:oleObj name="Equation" r:id="rId13" imgW="1054100" imgH="203200" progId="Equation.3">
                  <p:embed/>
                  <p:pic>
                    <p:nvPicPr>
                      <p:cNvPr id="0" name=""/>
                      <p:cNvPicPr>
                        <a:picLocks noChangeAspect="1" noChangeArrowheads="1"/>
                      </p:cNvPicPr>
                      <p:nvPr/>
                    </p:nvPicPr>
                    <p:blipFill>
                      <a:blip r:embed="rId14"/>
                      <a:srcRect/>
                      <a:stretch>
                        <a:fillRect/>
                      </a:stretch>
                    </p:blipFill>
                    <p:spPr bwMode="auto">
                      <a:xfrm>
                        <a:off x="2992437" y="5530850"/>
                        <a:ext cx="2149475" cy="4159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51515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p:txBody>
          <a:bodyPr/>
          <a:lstStyle/>
          <a:p>
            <a:pPr eaLnBrk="1" hangingPunct="1"/>
            <a:r>
              <a:rPr lang="en-AU" altLang="zh-TW" dirty="0" smtClean="0">
                <a:latin typeface="Arial" charset="0"/>
                <a:ea typeface="標楷體" charset="0"/>
              </a:rPr>
              <a:t>Example (continue)</a:t>
            </a:r>
            <a:endParaRPr lang="zh-TW" dirty="0">
              <a:latin typeface="Arial" charset="0"/>
              <a:ea typeface="標楷體" charset="0"/>
            </a:endParaRPr>
          </a:p>
        </p:txBody>
      </p:sp>
      <p:sp>
        <p:nvSpPr>
          <p:cNvPr id="11270" name="Rectangle 3"/>
          <p:cNvSpPr>
            <a:spLocks noGrp="1" noChangeArrowheads="1"/>
          </p:cNvSpPr>
          <p:nvPr>
            <p:ph type="body" idx="1"/>
          </p:nvPr>
        </p:nvSpPr>
        <p:spPr/>
        <p:txBody>
          <a:bodyPr/>
          <a:lstStyle/>
          <a:p>
            <a:pPr eaLnBrk="1" hangingPunct="1"/>
            <a:r>
              <a:rPr lang="en-US" altLang="zh-TW" sz="2400" dirty="0" smtClean="0">
                <a:latin typeface="Arial" charset="0"/>
                <a:ea typeface="標楷體" charset="0"/>
              </a:rPr>
              <a:t>Suppose </a:t>
            </a:r>
            <a:r>
              <a:rPr lang="en-US" altLang="zh-TW" sz="2400" dirty="0">
                <a:latin typeface="Arial" charset="0"/>
                <a:ea typeface="標楷體" charset="0"/>
              </a:rPr>
              <a:t>that Alice wishes to encrypt the plaintext </a:t>
            </a:r>
            <a:r>
              <a:rPr lang="en-US" altLang="zh-TW" sz="2400" dirty="0" smtClean="0">
                <a:latin typeface="Arial" charset="0"/>
                <a:ea typeface="標楷體" charset="0"/>
              </a:rPr>
              <a:t>m </a:t>
            </a:r>
            <a:r>
              <a:rPr lang="en-US" altLang="zh-TW" sz="2400" dirty="0">
                <a:latin typeface="Arial" charset="0"/>
                <a:ea typeface="標楷體" charset="0"/>
              </a:rPr>
              <a:t>= (10,9) (which is a point on E).</a:t>
            </a:r>
            <a:br>
              <a:rPr lang="en-US" altLang="zh-TW" sz="2400" dirty="0">
                <a:latin typeface="Arial" charset="0"/>
                <a:ea typeface="標楷體" charset="0"/>
              </a:rPr>
            </a:br>
            <a:r>
              <a:rPr lang="en-US" altLang="zh-TW" sz="2400" dirty="0">
                <a:latin typeface="Arial" charset="0"/>
                <a:ea typeface="標楷體" charset="0"/>
              </a:rPr>
              <a:t>If she chooses the random value k = 3, then</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
            </a:r>
            <a:br>
              <a:rPr lang="en-US" altLang="zh-TW" sz="2400" dirty="0">
                <a:latin typeface="Arial" charset="0"/>
                <a:ea typeface="標楷體" charset="0"/>
              </a:rPr>
            </a:br>
            <a:r>
              <a:rPr lang="en-US" altLang="zh-TW" sz="2400" dirty="0">
                <a:latin typeface="Arial" charset="0"/>
                <a:ea typeface="標楷體" charset="0"/>
              </a:rPr>
              <a:t>Hence                         . Now, if Bob receives the ciphertext </a:t>
            </a:r>
            <a:r>
              <a:rPr lang="en-US" altLang="zh-TW" sz="2400" dirty="0" smtClean="0">
                <a:latin typeface="Arial" charset="0"/>
                <a:ea typeface="標楷體" charset="0"/>
              </a:rPr>
              <a:t>c, </a:t>
            </a:r>
            <a:r>
              <a:rPr lang="en-US" altLang="zh-TW" sz="2400" dirty="0">
                <a:latin typeface="Arial" charset="0"/>
                <a:ea typeface="標楷體" charset="0"/>
              </a:rPr>
              <a:t>he decrypts it as follows:</a:t>
            </a:r>
            <a:endParaRPr lang="en-US" altLang="zh-TW" dirty="0">
              <a:latin typeface="Arial" charset="0"/>
              <a:ea typeface="標楷體" charset="0"/>
            </a:endParaRPr>
          </a:p>
        </p:txBody>
      </p:sp>
      <p:graphicFrame>
        <p:nvGraphicFramePr>
          <p:cNvPr id="11266" name="Object 4"/>
          <p:cNvGraphicFramePr>
            <a:graphicFrameLocks noChangeAspect="1"/>
          </p:cNvGraphicFramePr>
          <p:nvPr>
            <p:extLst>
              <p:ext uri="{D42A27DB-BD31-4B8C-83A1-F6EECF244321}">
                <p14:modId xmlns:p14="http://schemas.microsoft.com/office/powerpoint/2010/main" val="1344080733"/>
              </p:ext>
            </p:extLst>
          </p:nvPr>
        </p:nvGraphicFramePr>
        <p:xfrm>
          <a:off x="2171700" y="2774950"/>
          <a:ext cx="4657725" cy="889000"/>
        </p:xfrm>
        <a:graphic>
          <a:graphicData uri="http://schemas.openxmlformats.org/presentationml/2006/ole">
            <mc:AlternateContent xmlns:mc="http://schemas.openxmlformats.org/markup-compatibility/2006">
              <mc:Choice xmlns:v="urn:schemas-microsoft-com:vml" Requires="v">
                <p:oleObj spid="_x0000_s12359" name="Equation" r:id="rId3" imgW="2730500" imgH="520700" progId="Equation.3">
                  <p:embed/>
                </p:oleObj>
              </mc:Choice>
              <mc:Fallback>
                <p:oleObj name="Equation" r:id="rId3" imgW="2730500" imgH="520700" progId="Equation.3">
                  <p:embed/>
                  <p:pic>
                    <p:nvPicPr>
                      <p:cNvPr id="0" name=""/>
                      <p:cNvPicPr>
                        <a:picLocks noChangeAspect="1" noChangeArrowheads="1"/>
                      </p:cNvPicPr>
                      <p:nvPr/>
                    </p:nvPicPr>
                    <p:blipFill>
                      <a:blip r:embed="rId4"/>
                      <a:srcRect/>
                      <a:stretch>
                        <a:fillRect/>
                      </a:stretch>
                    </p:blipFill>
                    <p:spPr bwMode="auto">
                      <a:xfrm>
                        <a:off x="2171700" y="2774950"/>
                        <a:ext cx="4657725" cy="889000"/>
                      </a:xfrm>
                      <a:prstGeom prst="rect">
                        <a:avLst/>
                      </a:prstGeom>
                      <a:noFill/>
                      <a:ln>
                        <a:noFill/>
                      </a:ln>
                      <a:effectLst/>
                      <a:extLst/>
                    </p:spPr>
                  </p:pic>
                </p:oleObj>
              </mc:Fallback>
            </mc:AlternateContent>
          </a:graphicData>
        </a:graphic>
      </p:graphicFrame>
      <p:graphicFrame>
        <p:nvGraphicFramePr>
          <p:cNvPr id="11267" name="Object 5"/>
          <p:cNvGraphicFramePr>
            <a:graphicFrameLocks noChangeAspect="1"/>
          </p:cNvGraphicFramePr>
          <p:nvPr>
            <p:extLst>
              <p:ext uri="{D42A27DB-BD31-4B8C-83A1-F6EECF244321}">
                <p14:modId xmlns:p14="http://schemas.microsoft.com/office/powerpoint/2010/main" val="3302558042"/>
              </p:ext>
            </p:extLst>
          </p:nvPr>
        </p:nvGraphicFramePr>
        <p:xfrm>
          <a:off x="1835150" y="3789363"/>
          <a:ext cx="2028825" cy="454025"/>
        </p:xfrm>
        <a:graphic>
          <a:graphicData uri="http://schemas.openxmlformats.org/presentationml/2006/ole">
            <mc:AlternateContent xmlns:mc="http://schemas.openxmlformats.org/markup-compatibility/2006">
              <mc:Choice xmlns:v="urn:schemas-microsoft-com:vml" Requires="v">
                <p:oleObj spid="_x0000_s12360" name="Equation" r:id="rId5" imgW="1079500" imgH="241300" progId="Equation.3">
                  <p:embed/>
                </p:oleObj>
              </mc:Choice>
              <mc:Fallback>
                <p:oleObj name="Equation" r:id="rId5" imgW="1079500" imgH="241300" progId="Equation.3">
                  <p:embed/>
                  <p:pic>
                    <p:nvPicPr>
                      <p:cNvPr id="0" name=""/>
                      <p:cNvPicPr>
                        <a:picLocks noChangeAspect="1" noChangeArrowheads="1"/>
                      </p:cNvPicPr>
                      <p:nvPr/>
                    </p:nvPicPr>
                    <p:blipFill>
                      <a:blip r:embed="rId6"/>
                      <a:srcRect/>
                      <a:stretch>
                        <a:fillRect/>
                      </a:stretch>
                    </p:blipFill>
                    <p:spPr bwMode="auto">
                      <a:xfrm>
                        <a:off x="1835150" y="3789363"/>
                        <a:ext cx="2028825" cy="4540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1268" name="Object 6"/>
          <p:cNvGraphicFramePr>
            <a:graphicFrameLocks noChangeAspect="1"/>
          </p:cNvGraphicFramePr>
          <p:nvPr>
            <p:extLst>
              <p:ext uri="{D42A27DB-BD31-4B8C-83A1-F6EECF244321}">
                <p14:modId xmlns:p14="http://schemas.microsoft.com/office/powerpoint/2010/main" val="1315959582"/>
              </p:ext>
            </p:extLst>
          </p:nvPr>
        </p:nvGraphicFramePr>
        <p:xfrm>
          <a:off x="2295525" y="4660900"/>
          <a:ext cx="4195763" cy="973138"/>
        </p:xfrm>
        <a:graphic>
          <a:graphicData uri="http://schemas.openxmlformats.org/presentationml/2006/ole">
            <mc:AlternateContent xmlns:mc="http://schemas.openxmlformats.org/markup-compatibility/2006">
              <mc:Choice xmlns:v="urn:schemas-microsoft-com:vml" Requires="v">
                <p:oleObj spid="_x0000_s12361" name="Equation" r:id="rId7" imgW="2247900" imgH="520700" progId="Equation.3">
                  <p:embed/>
                </p:oleObj>
              </mc:Choice>
              <mc:Fallback>
                <p:oleObj name="Equation" r:id="rId7" imgW="2247900" imgH="520700" progId="Equation.3">
                  <p:embed/>
                  <p:pic>
                    <p:nvPicPr>
                      <p:cNvPr id="0" name=""/>
                      <p:cNvPicPr>
                        <a:picLocks noChangeAspect="1" noChangeArrowheads="1"/>
                      </p:cNvPicPr>
                      <p:nvPr/>
                    </p:nvPicPr>
                    <p:blipFill>
                      <a:blip r:embed="rId8"/>
                      <a:srcRect/>
                      <a:stretch>
                        <a:fillRect/>
                      </a:stretch>
                    </p:blipFill>
                    <p:spPr bwMode="auto">
                      <a:xfrm>
                        <a:off x="2295525" y="4660900"/>
                        <a:ext cx="4195763" cy="9731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4007272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pPr eaLnBrk="1" hangingPunct="1"/>
            <a:r>
              <a:rPr lang="en-US" altLang="zh-TW" sz="3200" dirty="0" smtClean="0">
                <a:latin typeface="Arial" charset="0"/>
                <a:ea typeface="標楷體" charset="0"/>
              </a:rPr>
              <a:t>Computing </a:t>
            </a:r>
            <a:r>
              <a:rPr lang="en-US" altLang="zh-TW" sz="3200" dirty="0">
                <a:latin typeface="Arial" charset="0"/>
                <a:ea typeface="標楷體" charset="0"/>
              </a:rPr>
              <a:t>Point Multiples on Elliptic Curves</a:t>
            </a:r>
          </a:p>
        </p:txBody>
      </p:sp>
      <p:sp>
        <p:nvSpPr>
          <p:cNvPr id="13317" name="Rectangle 3"/>
          <p:cNvSpPr>
            <a:spLocks noGrp="1" noChangeArrowheads="1"/>
          </p:cNvSpPr>
          <p:nvPr>
            <p:ph type="body" idx="1"/>
          </p:nvPr>
        </p:nvSpPr>
        <p:spPr/>
        <p:txBody>
          <a:bodyPr/>
          <a:lstStyle/>
          <a:p>
            <a:pPr eaLnBrk="1" hangingPunct="1"/>
            <a:r>
              <a:rPr lang="en-US" altLang="zh-TW" dirty="0">
                <a:latin typeface="Arial" charset="0"/>
                <a:ea typeface="標楷體" charset="0"/>
              </a:rPr>
              <a:t>Use </a:t>
            </a:r>
            <a:r>
              <a:rPr lang="en-US" altLang="zh-TW" dirty="0">
                <a:solidFill>
                  <a:srgbClr val="000099"/>
                </a:solidFill>
                <a:latin typeface="Arial" charset="0"/>
                <a:ea typeface="標楷體" charset="0"/>
              </a:rPr>
              <a:t>Double-and-Add</a:t>
            </a:r>
            <a:r>
              <a:rPr lang="en-US" altLang="zh-TW" dirty="0">
                <a:latin typeface="Arial" charset="0"/>
                <a:ea typeface="標楷體" charset="0"/>
              </a:rPr>
              <a:t/>
            </a:r>
            <a:br>
              <a:rPr lang="en-US" altLang="zh-TW" dirty="0">
                <a:latin typeface="Arial" charset="0"/>
                <a:ea typeface="標楷體" charset="0"/>
              </a:rPr>
            </a:br>
            <a:r>
              <a:rPr lang="en-US" altLang="zh-TW" sz="2400" dirty="0">
                <a:latin typeface="Arial" charset="0"/>
                <a:ea typeface="標楷體" charset="0"/>
              </a:rPr>
              <a:t>(similar to square-and-multiply)</a:t>
            </a:r>
            <a:br>
              <a:rPr lang="en-US" altLang="zh-TW" sz="2400" dirty="0">
                <a:latin typeface="Arial" charset="0"/>
                <a:ea typeface="標楷體" charset="0"/>
              </a:rPr>
            </a:br>
            <a:r>
              <a:rPr lang="en-US" altLang="zh-TW" sz="2400" dirty="0">
                <a:latin typeface="Arial" charset="0"/>
                <a:ea typeface="標楷體" charset="0"/>
              </a:rPr>
              <a:t>Algorithm:</a:t>
            </a:r>
            <a:br>
              <a:rPr lang="en-US" altLang="zh-TW" sz="2400" dirty="0">
                <a:latin typeface="Arial" charset="0"/>
                <a:ea typeface="標楷體" charset="0"/>
              </a:rPr>
            </a:br>
            <a:r>
              <a:rPr lang="en-US" altLang="zh-TW" sz="2400" dirty="0">
                <a:latin typeface="Arial" charset="0"/>
                <a:ea typeface="標楷體" charset="0"/>
              </a:rPr>
              <a:t>DOUBLE-AND-ADD</a:t>
            </a:r>
          </a:p>
        </p:txBody>
      </p:sp>
      <p:graphicFrame>
        <p:nvGraphicFramePr>
          <p:cNvPr id="13314" name="Object 4"/>
          <p:cNvGraphicFramePr>
            <a:graphicFrameLocks noChangeAspect="1"/>
          </p:cNvGraphicFramePr>
          <p:nvPr>
            <p:extLst>
              <p:ext uri="{D42A27DB-BD31-4B8C-83A1-F6EECF244321}">
                <p14:modId xmlns:p14="http://schemas.microsoft.com/office/powerpoint/2010/main" val="2905735439"/>
              </p:ext>
            </p:extLst>
          </p:nvPr>
        </p:nvGraphicFramePr>
        <p:xfrm>
          <a:off x="2360617" y="2500325"/>
          <a:ext cx="2921000" cy="392113"/>
        </p:xfrm>
        <a:graphic>
          <a:graphicData uri="http://schemas.openxmlformats.org/presentationml/2006/ole">
            <mc:AlternateContent xmlns:mc="http://schemas.openxmlformats.org/markup-compatibility/2006">
              <mc:Choice xmlns:v="urn:schemas-microsoft-com:vml" Requires="v">
                <p:oleObj spid="_x0000_s14386" name="方程式" r:id="rId3" imgW="1701720" imgH="228600" progId="Equation.3">
                  <p:embed/>
                </p:oleObj>
              </mc:Choice>
              <mc:Fallback>
                <p:oleObj name="方程式" r:id="rId3" imgW="170172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0617" y="2500325"/>
                        <a:ext cx="2921000" cy="3921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3315" name="Object 5"/>
          <p:cNvGraphicFramePr>
            <a:graphicFrameLocks noChangeAspect="1"/>
          </p:cNvGraphicFramePr>
          <p:nvPr>
            <p:extLst>
              <p:ext uri="{D42A27DB-BD31-4B8C-83A1-F6EECF244321}">
                <p14:modId xmlns:p14="http://schemas.microsoft.com/office/powerpoint/2010/main" val="3496166812"/>
              </p:ext>
            </p:extLst>
          </p:nvPr>
        </p:nvGraphicFramePr>
        <p:xfrm>
          <a:off x="2290767" y="3436489"/>
          <a:ext cx="2990850" cy="2586037"/>
        </p:xfrm>
        <a:graphic>
          <a:graphicData uri="http://schemas.openxmlformats.org/presentationml/2006/ole">
            <mc:AlternateContent xmlns:mc="http://schemas.openxmlformats.org/markup-compatibility/2006">
              <mc:Choice xmlns:v="urn:schemas-microsoft-com:vml" Requires="v">
                <p:oleObj spid="_x0000_s14387" name="Equation" r:id="rId5" imgW="1689100" imgH="1460500" progId="Equation.3">
                  <p:embed/>
                </p:oleObj>
              </mc:Choice>
              <mc:Fallback>
                <p:oleObj name="Equation" r:id="rId5" imgW="1689100" imgH="1460500" progId="Equation.3">
                  <p:embed/>
                  <p:pic>
                    <p:nvPicPr>
                      <p:cNvPr id="0" name=""/>
                      <p:cNvPicPr>
                        <a:picLocks noChangeAspect="1" noChangeArrowheads="1"/>
                      </p:cNvPicPr>
                      <p:nvPr/>
                    </p:nvPicPr>
                    <p:blipFill>
                      <a:blip r:embed="rId6"/>
                      <a:srcRect/>
                      <a:stretch>
                        <a:fillRect/>
                      </a:stretch>
                    </p:blipFill>
                    <p:spPr bwMode="auto">
                      <a:xfrm>
                        <a:off x="2290767" y="3436489"/>
                        <a:ext cx="2990850" cy="2586037"/>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40369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AU" altLang="zh-TW" dirty="0" smtClean="0">
                <a:latin typeface="Arial" charset="0"/>
                <a:ea typeface="標楷體" charset="0"/>
              </a:rPr>
              <a:t>Example</a:t>
            </a:r>
            <a:endParaRPr lang="zh-TW" dirty="0">
              <a:latin typeface="Arial" charset="0"/>
              <a:ea typeface="標楷體" charset="0"/>
            </a:endParaRPr>
          </a:p>
        </p:txBody>
      </p:sp>
      <p:sp>
        <p:nvSpPr>
          <p:cNvPr id="14340" name="Rectangle 3"/>
          <p:cNvSpPr>
            <a:spLocks noGrp="1" noChangeArrowheads="1"/>
          </p:cNvSpPr>
          <p:nvPr>
            <p:ph type="body" idx="1"/>
          </p:nvPr>
        </p:nvSpPr>
        <p:spPr/>
        <p:txBody>
          <a:bodyPr/>
          <a:lstStyle/>
          <a:p>
            <a:pPr eaLnBrk="1" hangingPunct="1"/>
            <a:r>
              <a:rPr lang="en-US" altLang="zh-TW" sz="2400" dirty="0" smtClean="0">
                <a:latin typeface="Arial" charset="0"/>
                <a:ea typeface="標楷體" charset="0"/>
              </a:rPr>
              <a:t>Compute 7P</a:t>
            </a:r>
          </a:p>
          <a:p>
            <a:pPr eaLnBrk="1" hangingPunct="1"/>
            <a:endParaRPr lang="en-US" altLang="zh-TW" sz="2400" dirty="0">
              <a:latin typeface="Arial" charset="0"/>
              <a:ea typeface="標楷體" charset="0"/>
            </a:endParaRPr>
          </a:p>
          <a:p>
            <a:r>
              <a:rPr lang="en-US" altLang="zh-TW" sz="2400" dirty="0" smtClean="0">
                <a:latin typeface="Arial" charset="0"/>
                <a:ea typeface="標楷體" charset="0"/>
              </a:rPr>
              <a:t>7P=(2</a:t>
            </a:r>
            <a:r>
              <a:rPr lang="en-US" altLang="zh-TW" sz="2400" baseline="30000" dirty="0" smtClean="0">
                <a:latin typeface="Arial" charset="0"/>
                <a:ea typeface="標楷體" charset="0"/>
              </a:rPr>
              <a:t>2</a:t>
            </a:r>
            <a:r>
              <a:rPr lang="en-US" altLang="zh-TW" sz="2400" dirty="0" smtClean="0">
                <a:latin typeface="Arial" charset="0"/>
                <a:ea typeface="標楷體" charset="0"/>
              </a:rPr>
              <a:t>+2+1)P=2(2P+P)+P</a:t>
            </a:r>
          </a:p>
          <a:p>
            <a:endParaRPr lang="en-US" altLang="zh-TW" sz="2400" dirty="0">
              <a:latin typeface="Arial" charset="0"/>
              <a:ea typeface="標楷體" charset="0"/>
            </a:endParaRPr>
          </a:p>
          <a:p>
            <a:r>
              <a:rPr lang="en-US" altLang="zh-TW" sz="2400" dirty="0" smtClean="0">
                <a:latin typeface="Arial" charset="0"/>
                <a:ea typeface="標楷體" charset="0"/>
              </a:rPr>
              <a:t>2 doublings and 2 additions instead of 7 additions</a:t>
            </a:r>
            <a:endParaRPr lang="en-US" altLang="zh-TW" sz="2400" dirty="0">
              <a:latin typeface="Arial" charset="0"/>
              <a:ea typeface="標楷體" charset="0"/>
            </a:endParaRPr>
          </a:p>
        </p:txBody>
      </p:sp>
    </p:spTree>
    <p:extLst>
      <p:ext uri="{BB962C8B-B14F-4D97-AF65-F5344CB8AC3E}">
        <p14:creationId xmlns:p14="http://schemas.microsoft.com/office/powerpoint/2010/main" val="1777996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AU" altLang="zh-TW" dirty="0" smtClean="0">
                <a:latin typeface="Arial" charset="0"/>
                <a:ea typeface="標楷體" charset="0"/>
              </a:rPr>
              <a:t>Example</a:t>
            </a:r>
            <a:endParaRPr lang="zh-TW" dirty="0">
              <a:latin typeface="Arial" charset="0"/>
              <a:ea typeface="標楷體" charset="0"/>
            </a:endParaRPr>
          </a:p>
        </p:txBody>
      </p:sp>
      <p:sp>
        <p:nvSpPr>
          <p:cNvPr id="14340" name="Rectangle 3"/>
          <p:cNvSpPr>
            <a:spLocks noGrp="1" noChangeArrowheads="1"/>
          </p:cNvSpPr>
          <p:nvPr>
            <p:ph type="body" idx="1"/>
          </p:nvPr>
        </p:nvSpPr>
        <p:spPr/>
        <p:txBody>
          <a:bodyPr/>
          <a:lstStyle/>
          <a:p>
            <a:pPr eaLnBrk="1" hangingPunct="1"/>
            <a:r>
              <a:rPr lang="en-US" altLang="zh-TW" sz="2400" dirty="0" smtClean="0">
                <a:latin typeface="Arial" charset="0"/>
                <a:ea typeface="標楷體" charset="0"/>
              </a:rPr>
              <a:t>Compute </a:t>
            </a:r>
            <a:r>
              <a:rPr lang="en-US" altLang="zh-TW" sz="2400" dirty="0">
                <a:latin typeface="Arial" charset="0"/>
                <a:ea typeface="標楷體" charset="0"/>
              </a:rPr>
              <a:t>3895P</a:t>
            </a:r>
          </a:p>
        </p:txBody>
      </p:sp>
      <p:graphicFrame>
        <p:nvGraphicFramePr>
          <p:cNvPr id="14338" name="Object 4"/>
          <p:cNvGraphicFramePr>
            <a:graphicFrameLocks noChangeAspect="1"/>
          </p:cNvGraphicFramePr>
          <p:nvPr>
            <p:extLst>
              <p:ext uri="{D42A27DB-BD31-4B8C-83A1-F6EECF244321}">
                <p14:modId xmlns:p14="http://schemas.microsoft.com/office/powerpoint/2010/main" val="2370486301"/>
              </p:ext>
            </p:extLst>
          </p:nvPr>
        </p:nvGraphicFramePr>
        <p:xfrm>
          <a:off x="457200" y="2468387"/>
          <a:ext cx="7923212" cy="2187575"/>
        </p:xfrm>
        <a:graphic>
          <a:graphicData uri="http://schemas.openxmlformats.org/presentationml/2006/ole">
            <mc:AlternateContent xmlns:mc="http://schemas.openxmlformats.org/markup-compatibility/2006">
              <mc:Choice xmlns:v="urn:schemas-microsoft-com:vml" Requires="v">
                <p:oleObj spid="_x0000_s15389" name="Equation" r:id="rId3" imgW="4508280" imgH="1244520" progId="Equation.3">
                  <p:embed/>
                </p:oleObj>
              </mc:Choice>
              <mc:Fallback>
                <p:oleObj name="Equation" r:id="rId3" imgW="4508280" imgH="12445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468387"/>
                        <a:ext cx="7923212" cy="21875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85364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631825" y="514350"/>
            <a:ext cx="6616700" cy="685800"/>
          </a:xfrm>
        </p:spPr>
        <p:txBody>
          <a:bodyPr>
            <a:noAutofit/>
          </a:bodyPr>
          <a:lstStyle/>
          <a:p>
            <a:pPr eaLnBrk="1" hangingPunct="1"/>
            <a:r>
              <a:rPr lang="en-US" altLang="zh-TW" sz="4000" b="1" dirty="0" smtClean="0">
                <a:latin typeface="Arial" charset="0"/>
                <a:ea typeface="標楷體" charset="0"/>
              </a:rPr>
              <a:t>Elliptic </a:t>
            </a:r>
            <a:r>
              <a:rPr lang="en-US" altLang="zh-TW" sz="4000" b="1" dirty="0">
                <a:latin typeface="Arial" charset="0"/>
                <a:ea typeface="標楷體" charset="0"/>
              </a:rPr>
              <a:t>Curve DLP</a:t>
            </a:r>
          </a:p>
        </p:txBody>
      </p:sp>
      <p:sp>
        <p:nvSpPr>
          <p:cNvPr id="19460" name="Rectangle 3"/>
          <p:cNvSpPr>
            <a:spLocks noGrp="1" noChangeArrowheads="1"/>
          </p:cNvSpPr>
          <p:nvPr>
            <p:ph type="body" idx="1"/>
          </p:nvPr>
        </p:nvSpPr>
        <p:spPr>
          <a:xfrm>
            <a:off x="179388" y="1460500"/>
            <a:ext cx="8785225" cy="5040313"/>
          </a:xfrm>
        </p:spPr>
        <p:txBody>
          <a:bodyPr>
            <a:normAutofit lnSpcReduction="10000"/>
          </a:bodyPr>
          <a:lstStyle/>
          <a:p>
            <a:pPr eaLnBrk="1" hangingPunct="1"/>
            <a:r>
              <a:rPr lang="en-US" altLang="zh-TW">
                <a:latin typeface="Arial" charset="0"/>
                <a:ea typeface="標楷體" charset="0"/>
              </a:rPr>
              <a:t>Basic computation of ECC</a:t>
            </a:r>
          </a:p>
          <a:p>
            <a:pPr eaLnBrk="1" hangingPunct="1"/>
            <a:endParaRPr lang="en-US" altLang="zh-TW">
              <a:latin typeface="Arial" charset="0"/>
              <a:ea typeface="標楷體" charset="0"/>
            </a:endParaRPr>
          </a:p>
          <a:p>
            <a:pPr lvl="1" eaLnBrk="1" hangingPunct="1"/>
            <a:r>
              <a:rPr lang="en-US" altLang="zh-TW">
                <a:latin typeface="Arial" charset="0"/>
                <a:ea typeface="標楷體" charset="0"/>
              </a:rPr>
              <a:t>Q = kP = </a:t>
            </a:r>
          </a:p>
          <a:p>
            <a:pPr lvl="1" eaLnBrk="1" hangingPunct="1">
              <a:buFont typeface="Wingdings" charset="0"/>
              <a:buNone/>
            </a:pPr>
            <a:r>
              <a:rPr lang="en-US" altLang="zh-TW">
                <a:latin typeface="Arial" charset="0"/>
                <a:ea typeface="標楷體" charset="0"/>
              </a:rPr>
              <a:t>	where P is a curve point, k is an integer</a:t>
            </a:r>
          </a:p>
          <a:p>
            <a:pPr eaLnBrk="1" hangingPunct="1"/>
            <a:endParaRPr lang="en-US" altLang="zh-TW">
              <a:latin typeface="Arial" charset="0"/>
              <a:ea typeface="標楷體" charset="0"/>
            </a:endParaRPr>
          </a:p>
          <a:p>
            <a:pPr eaLnBrk="1" hangingPunct="1"/>
            <a:r>
              <a:rPr lang="en-US" altLang="zh-TW">
                <a:latin typeface="Arial" charset="0"/>
                <a:ea typeface="標楷體" charset="0"/>
              </a:rPr>
              <a:t>Strength of ECC</a:t>
            </a:r>
          </a:p>
          <a:p>
            <a:pPr lvl="1" eaLnBrk="1" hangingPunct="1"/>
            <a:r>
              <a:rPr lang="en-US" altLang="zh-TW">
                <a:latin typeface="Arial" charset="0"/>
                <a:ea typeface="標楷體" charset="0"/>
              </a:rPr>
              <a:t>Given curve, the point P, and kP</a:t>
            </a:r>
          </a:p>
          <a:p>
            <a:pPr lvl="1" eaLnBrk="1" hangingPunct="1">
              <a:buFont typeface="Wingdings" charset="0"/>
              <a:buNone/>
            </a:pPr>
            <a:r>
              <a:rPr lang="en-US" altLang="zh-TW">
                <a:latin typeface="Arial" charset="0"/>
                <a:ea typeface="標楷體" charset="0"/>
              </a:rPr>
              <a:t>	It is hard to recover k</a:t>
            </a:r>
          </a:p>
          <a:p>
            <a:pPr lvl="1" eaLnBrk="1" hangingPunct="1">
              <a:buFont typeface="Wingdings" charset="0"/>
              <a:buNone/>
            </a:pPr>
            <a:r>
              <a:rPr lang="en-US" altLang="zh-TW">
                <a:latin typeface="Arial" charset="0"/>
                <a:ea typeface="標楷體" charset="0"/>
              </a:rPr>
              <a:t>	- Elliptic Curve Discrete Logarithm Problem (ECDLP)</a:t>
            </a:r>
          </a:p>
        </p:txBody>
      </p:sp>
      <p:graphicFrame>
        <p:nvGraphicFramePr>
          <p:cNvPr id="19458" name="Object 4"/>
          <p:cNvGraphicFramePr>
            <a:graphicFrameLocks noChangeAspect="1"/>
          </p:cNvGraphicFramePr>
          <p:nvPr/>
        </p:nvGraphicFramePr>
        <p:xfrm>
          <a:off x="2357438" y="2290763"/>
          <a:ext cx="1582737" cy="638175"/>
        </p:xfrm>
        <a:graphic>
          <a:graphicData uri="http://schemas.openxmlformats.org/presentationml/2006/ole">
            <mc:AlternateContent xmlns:mc="http://schemas.openxmlformats.org/markup-compatibility/2006">
              <mc:Choice xmlns:v="urn:schemas-microsoft-com:vml" Requires="v">
                <p:oleObj spid="_x0000_s21533" name="Equation" r:id="rId3" imgW="850680" imgH="342720" progId="Equation.3">
                  <p:embed/>
                </p:oleObj>
              </mc:Choice>
              <mc:Fallback>
                <p:oleObj name="Equation" r:id="rId3" imgW="850680" imgH="3427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7438" y="2290763"/>
                        <a:ext cx="1582737" cy="6381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586737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55418" y="307539"/>
            <a:ext cx="8001000" cy="765175"/>
          </a:xfrm>
        </p:spPr>
        <p:txBody>
          <a:bodyPr>
            <a:normAutofit/>
          </a:bodyPr>
          <a:lstStyle/>
          <a:p>
            <a:pPr eaLnBrk="1" hangingPunct="1"/>
            <a:r>
              <a:rPr lang="en-US" altLang="zh-TW" sz="3600" b="1" dirty="0" smtClean="0">
                <a:solidFill>
                  <a:srgbClr val="000000"/>
                </a:solidFill>
                <a:latin typeface="Arial" charset="0"/>
                <a:ea typeface="標楷體" charset="0"/>
              </a:rPr>
              <a:t>Signature </a:t>
            </a:r>
            <a:r>
              <a:rPr lang="en-US" altLang="zh-TW" sz="3600" b="1" dirty="0">
                <a:solidFill>
                  <a:srgbClr val="000000"/>
                </a:solidFill>
                <a:latin typeface="Arial" charset="0"/>
                <a:ea typeface="標楷體" charset="0"/>
              </a:rPr>
              <a:t>Scheme: ECDSA</a:t>
            </a:r>
          </a:p>
        </p:txBody>
      </p:sp>
      <p:sp>
        <p:nvSpPr>
          <p:cNvPr id="28675" name="Rectangle 3"/>
          <p:cNvSpPr>
            <a:spLocks noGrp="1" noChangeArrowheads="1"/>
          </p:cNvSpPr>
          <p:nvPr>
            <p:ph type="body" idx="1"/>
          </p:nvPr>
        </p:nvSpPr>
        <p:spPr>
          <a:xfrm>
            <a:off x="838200" y="1341438"/>
            <a:ext cx="7981950" cy="4724400"/>
          </a:xfrm>
        </p:spPr>
        <p:txBody>
          <a:bodyPr>
            <a:normAutofit lnSpcReduction="10000"/>
          </a:bodyPr>
          <a:lstStyle/>
          <a:p>
            <a:pPr eaLnBrk="1" hangingPunct="1"/>
            <a:r>
              <a:rPr lang="en-US" altLang="zh-TW" dirty="0">
                <a:solidFill>
                  <a:srgbClr val="008000"/>
                </a:solidFill>
                <a:latin typeface="Arial" charset="0"/>
                <a:ea typeface="標楷體" charset="0"/>
              </a:rPr>
              <a:t>Digital Signature Algorithm (DSA)</a:t>
            </a:r>
          </a:p>
          <a:p>
            <a:pPr eaLnBrk="1" hangingPunct="1">
              <a:buFont typeface="Wingdings" charset="0"/>
              <a:buNone/>
            </a:pPr>
            <a:endParaRPr lang="en-US" altLang="zh-TW" dirty="0">
              <a:solidFill>
                <a:srgbClr val="008000"/>
              </a:solidFill>
              <a:latin typeface="Arial" charset="0"/>
              <a:ea typeface="標楷體" charset="0"/>
            </a:endParaRPr>
          </a:p>
          <a:p>
            <a:pPr lvl="1" eaLnBrk="1" hangingPunct="1"/>
            <a:r>
              <a:rPr lang="en-US" altLang="zh-TW" dirty="0">
                <a:latin typeface="Arial" charset="0"/>
                <a:ea typeface="標楷體" charset="0"/>
              </a:rPr>
              <a:t>Proposed in 1991</a:t>
            </a:r>
          </a:p>
          <a:p>
            <a:pPr lvl="1" eaLnBrk="1" hangingPunct="1"/>
            <a:r>
              <a:rPr lang="en-US" altLang="zh-TW" dirty="0">
                <a:latin typeface="Arial" charset="0"/>
                <a:ea typeface="標楷體" charset="0"/>
              </a:rPr>
              <a:t>Was adopted as a standard on December 1, 1994</a:t>
            </a:r>
          </a:p>
          <a:p>
            <a:pPr lvl="1" eaLnBrk="1" hangingPunct="1"/>
            <a:endParaRPr lang="en-US" altLang="zh-TW" dirty="0">
              <a:solidFill>
                <a:schemeClr val="hlink"/>
              </a:solidFill>
              <a:latin typeface="Arial" charset="0"/>
              <a:ea typeface="標楷體" charset="0"/>
            </a:endParaRPr>
          </a:p>
          <a:p>
            <a:pPr eaLnBrk="1" hangingPunct="1"/>
            <a:r>
              <a:rPr lang="en-US" altLang="zh-TW" dirty="0">
                <a:solidFill>
                  <a:srgbClr val="008000"/>
                </a:solidFill>
                <a:latin typeface="Arial" charset="0"/>
                <a:ea typeface="標楷體" charset="0"/>
              </a:rPr>
              <a:t>Elliptic Curve DSA (ECDSA)</a:t>
            </a:r>
          </a:p>
          <a:p>
            <a:pPr eaLnBrk="1" hangingPunct="1">
              <a:buFont typeface="Wingdings" charset="0"/>
              <a:buNone/>
            </a:pPr>
            <a:endParaRPr lang="en-US" altLang="zh-TW" dirty="0">
              <a:solidFill>
                <a:srgbClr val="008000"/>
              </a:solidFill>
              <a:latin typeface="Arial" charset="0"/>
              <a:ea typeface="標楷體" charset="0"/>
            </a:endParaRPr>
          </a:p>
          <a:p>
            <a:pPr lvl="1" eaLnBrk="1" hangingPunct="1"/>
            <a:r>
              <a:rPr lang="en-US" altLang="zh-TW" dirty="0">
                <a:latin typeface="Arial" charset="0"/>
                <a:ea typeface="標楷體" charset="0"/>
              </a:rPr>
              <a:t>FIPS 186-2 in 2000</a:t>
            </a:r>
          </a:p>
        </p:txBody>
      </p:sp>
    </p:spTree>
    <p:extLst>
      <p:ext uri="{BB962C8B-B14F-4D97-AF65-F5344CB8AC3E}">
        <p14:creationId xmlns:p14="http://schemas.microsoft.com/office/powerpoint/2010/main" val="10837674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39825"/>
          </a:xfrm>
        </p:spPr>
        <p:txBody>
          <a:bodyPr/>
          <a:lstStyle/>
          <a:p>
            <a:pPr eaLnBrk="1" hangingPunct="1"/>
            <a:r>
              <a:rPr lang="en-US" dirty="0">
                <a:latin typeface="Arial" charset="0"/>
                <a:ea typeface="ＭＳ Ｐゴシック" charset="0"/>
                <a:cs typeface="ＭＳ Ｐゴシック" charset="0"/>
              </a:rPr>
              <a:t>Digital Signature Model</a:t>
            </a:r>
          </a:p>
        </p:txBody>
      </p:sp>
      <p:pic>
        <p:nvPicPr>
          <p:cNvPr id="21507" name="Picture 3"/>
          <p:cNvPicPr>
            <a:picLocks noChangeAspect="1"/>
          </p:cNvPicPr>
          <p:nvPr/>
        </p:nvPicPr>
        <p:blipFill>
          <a:blip r:embed="rId3">
            <a:alphaModFix amt="70000"/>
            <a:extLst>
              <a:ext uri="{28A0092B-C50C-407E-A947-70E740481C1C}">
                <a14:useLocalDpi xmlns:a14="http://schemas.microsoft.com/office/drawing/2010/main" val="0"/>
              </a:ext>
            </a:extLst>
          </a:blip>
          <a:srcRect/>
          <a:stretch>
            <a:fillRect/>
          </a:stretch>
        </p:blipFill>
        <p:spPr bwMode="auto">
          <a:xfrm>
            <a:off x="1600200" y="1143000"/>
            <a:ext cx="5965825" cy="5532438"/>
          </a:xfrm>
          <a:prstGeom prst="rect">
            <a:avLst/>
          </a:prstGeom>
          <a:noFill/>
          <a:ln>
            <a:noFill/>
          </a:ln>
          <a:extLst>
            <a:ext uri="{909E8E84-426E-40dd-AFC4-6F175D3DCCD1}">
              <a14:hiddenFill xmlns="" xmlns:a14="http://schemas.microsoft.com/office/drawing/2010/main">
                <a:solidFill>
                  <a:srgbClr val="FFFFFF">
                    <a:alpha val="70000"/>
                  </a:srgbClr>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67398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p:cNvPicPr>
            <a:picLocks noChangeAspect="1"/>
          </p:cNvPicPr>
          <p:nvPr/>
        </p:nvPicPr>
        <p:blipFill>
          <a:blip r:embed="rId3">
            <a:alphaModFix amt="70000"/>
            <a:extLst>
              <a:ext uri="{28A0092B-C50C-407E-A947-70E740481C1C}">
                <a14:useLocalDpi xmlns:a14="http://schemas.microsoft.com/office/drawing/2010/main" val="0"/>
              </a:ext>
            </a:extLst>
          </a:blip>
          <a:srcRect/>
          <a:stretch>
            <a:fillRect/>
          </a:stretch>
        </p:blipFill>
        <p:spPr bwMode="auto">
          <a:xfrm>
            <a:off x="1860862" y="1417638"/>
            <a:ext cx="5381412" cy="5118979"/>
          </a:xfrm>
          <a:prstGeom prst="rect">
            <a:avLst/>
          </a:prstGeom>
          <a:noFill/>
          <a:ln>
            <a:noFill/>
          </a:ln>
          <a:extLst>
            <a:ext uri="{909E8E84-426E-40dd-AFC4-6F175D3DCCD1}">
              <a14:hiddenFill xmlns="" xmlns:a14="http://schemas.microsoft.com/office/drawing/2010/main">
                <a:solidFill>
                  <a:srgbClr val="FFFFFF">
                    <a:alpha val="70000"/>
                  </a:srgbClr>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dirty="0" smtClean="0"/>
              <a:t>Cont.</a:t>
            </a:r>
            <a:endParaRPr lang="en-US" dirty="0"/>
          </a:p>
        </p:txBody>
      </p:sp>
    </p:spTree>
    <p:extLst>
      <p:ext uri="{BB962C8B-B14F-4D97-AF65-F5344CB8AC3E}">
        <p14:creationId xmlns:p14="http://schemas.microsoft.com/office/powerpoint/2010/main" val="21285566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pPr eaLnBrk="1" hangingPunct="1"/>
            <a:r>
              <a:rPr lang="en-US" altLang="zh-TW" sz="3600" b="1" dirty="0">
                <a:solidFill>
                  <a:srgbClr val="000000"/>
                </a:solidFill>
                <a:latin typeface="Arial" charset="0"/>
                <a:ea typeface="標楷體" charset="0"/>
              </a:rPr>
              <a:t>Elliptic Curve DSA</a:t>
            </a:r>
          </a:p>
        </p:txBody>
      </p:sp>
      <p:sp>
        <p:nvSpPr>
          <p:cNvPr id="31747" name="Rectangle 3"/>
          <p:cNvSpPr>
            <a:spLocks noGrp="1" noChangeArrowheads="1"/>
          </p:cNvSpPr>
          <p:nvPr>
            <p:ph type="body" idx="1"/>
          </p:nvPr>
        </p:nvSpPr>
        <p:spPr>
          <a:xfrm>
            <a:off x="914400" y="1338256"/>
            <a:ext cx="7772400" cy="5211762"/>
          </a:xfrm>
        </p:spPr>
        <p:txBody>
          <a:bodyPr>
            <a:normAutofit lnSpcReduction="10000"/>
          </a:bodyPr>
          <a:lstStyle/>
          <a:p>
            <a:pPr eaLnBrk="1" hangingPunct="1"/>
            <a:endParaRPr lang="en-US" altLang="zh-TW" sz="2000" dirty="0">
              <a:latin typeface="Arial" charset="0"/>
              <a:ea typeface="標楷體" charset="0"/>
            </a:endParaRPr>
          </a:p>
          <a:p>
            <a:pPr eaLnBrk="1" hangingPunct="1"/>
            <a:r>
              <a:rPr lang="en-US" altLang="zh-TW" dirty="0">
                <a:latin typeface="Arial" charset="0"/>
                <a:ea typeface="標楷體" charset="0"/>
              </a:rPr>
              <a:t>Let </a:t>
            </a:r>
            <a:r>
              <a:rPr lang="en-US" altLang="zh-TW" dirty="0">
                <a:solidFill>
                  <a:schemeClr val="folHlink"/>
                </a:solidFill>
                <a:latin typeface="Arial" charset="0"/>
                <a:ea typeface="標楷體" charset="0"/>
              </a:rPr>
              <a:t>p</a:t>
            </a:r>
            <a:r>
              <a:rPr lang="en-US" altLang="zh-TW" dirty="0">
                <a:latin typeface="Arial" charset="0"/>
                <a:ea typeface="標楷體" charset="0"/>
              </a:rPr>
              <a:t> be a prime, and let </a:t>
            </a:r>
            <a:r>
              <a:rPr lang="en-US" altLang="zh-TW" dirty="0">
                <a:solidFill>
                  <a:schemeClr val="folHlink"/>
                </a:solidFill>
                <a:latin typeface="Arial" charset="0"/>
                <a:ea typeface="標楷體" charset="0"/>
              </a:rPr>
              <a:t>E</a:t>
            </a:r>
            <a:r>
              <a:rPr lang="en-US" altLang="zh-TW" dirty="0">
                <a:latin typeface="Arial" charset="0"/>
                <a:ea typeface="標楷體" charset="0"/>
              </a:rPr>
              <a:t> be an elliptic curve defined over </a:t>
            </a:r>
            <a:r>
              <a:rPr lang="en-US" altLang="zh-TW" dirty="0" smtClean="0">
                <a:latin typeface="Arial" charset="0"/>
                <a:ea typeface="標楷體" charset="0"/>
              </a:rPr>
              <a:t>GF(p). </a:t>
            </a:r>
            <a:r>
              <a:rPr lang="en-US" altLang="zh-TW" dirty="0">
                <a:latin typeface="Arial" charset="0"/>
                <a:ea typeface="標楷體" charset="0"/>
              </a:rPr>
              <a:t>Let </a:t>
            </a:r>
            <a:r>
              <a:rPr lang="en-US" altLang="zh-TW" dirty="0">
                <a:solidFill>
                  <a:schemeClr val="folHlink"/>
                </a:solidFill>
                <a:latin typeface="Arial" charset="0"/>
                <a:ea typeface="標楷體" charset="0"/>
              </a:rPr>
              <a:t>A</a:t>
            </a:r>
            <a:r>
              <a:rPr lang="en-US" altLang="zh-TW" dirty="0">
                <a:latin typeface="Arial" charset="0"/>
                <a:ea typeface="標楷體" charset="0"/>
              </a:rPr>
              <a:t> be a point on </a:t>
            </a:r>
            <a:r>
              <a:rPr lang="en-US" altLang="zh-TW" dirty="0">
                <a:solidFill>
                  <a:schemeClr val="folHlink"/>
                </a:solidFill>
                <a:latin typeface="Arial" charset="0"/>
                <a:ea typeface="標楷體" charset="0"/>
              </a:rPr>
              <a:t>E</a:t>
            </a:r>
            <a:r>
              <a:rPr lang="en-US" altLang="zh-TW" dirty="0">
                <a:latin typeface="Arial" charset="0"/>
                <a:ea typeface="標楷體" charset="0"/>
              </a:rPr>
              <a:t> having prime order </a:t>
            </a:r>
            <a:r>
              <a:rPr lang="en-US" altLang="zh-TW" dirty="0">
                <a:solidFill>
                  <a:schemeClr val="folHlink"/>
                </a:solidFill>
                <a:latin typeface="Arial" charset="0"/>
                <a:ea typeface="標楷體" charset="0"/>
              </a:rPr>
              <a:t>q</a:t>
            </a:r>
            <a:r>
              <a:rPr lang="en-US" altLang="zh-TW" dirty="0">
                <a:latin typeface="Arial" charset="0"/>
                <a:ea typeface="標楷體" charset="0"/>
              </a:rPr>
              <a:t>, </a:t>
            </a:r>
            <a:r>
              <a:rPr lang="en-US" altLang="zh-TW" dirty="0" smtClean="0">
                <a:latin typeface="Arial" charset="0"/>
                <a:ea typeface="標楷體" charset="0"/>
              </a:rPr>
              <a:t>such </a:t>
            </a:r>
            <a:r>
              <a:rPr lang="en-US" altLang="zh-TW" dirty="0">
                <a:latin typeface="Arial" charset="0"/>
                <a:ea typeface="標楷體" charset="0"/>
              </a:rPr>
              <a:t>that DL problem in &lt;A&gt; is infeasible.</a:t>
            </a:r>
          </a:p>
          <a:p>
            <a:pPr eaLnBrk="1" hangingPunct="1">
              <a:buFont typeface="Wingdings" charset="0"/>
              <a:buNone/>
            </a:pPr>
            <a:endParaRPr lang="en-US" altLang="zh-TW" dirty="0">
              <a:latin typeface="Arial" charset="0"/>
              <a:ea typeface="標楷體" charset="0"/>
            </a:endParaRPr>
          </a:p>
          <a:p>
            <a:pPr eaLnBrk="1" hangingPunct="1">
              <a:buFont typeface="Wingdings" charset="0"/>
              <a:buNone/>
            </a:pPr>
            <a:r>
              <a:rPr lang="en-US" altLang="zh-TW" dirty="0">
                <a:latin typeface="Arial" charset="0"/>
                <a:ea typeface="標楷體" charset="0"/>
              </a:rPr>
              <a:t>	Define </a:t>
            </a:r>
            <a:r>
              <a:rPr lang="en-US" altLang="zh-TW" i="1" dirty="0">
                <a:solidFill>
                  <a:schemeClr val="folHlink"/>
                </a:solidFill>
                <a:latin typeface="Arial" charset="0"/>
                <a:ea typeface="標楷體" charset="0"/>
              </a:rPr>
              <a:t>K</a:t>
            </a:r>
            <a:r>
              <a:rPr lang="en-US" altLang="zh-TW" dirty="0">
                <a:latin typeface="Arial" charset="0"/>
                <a:ea typeface="標楷體" charset="0"/>
              </a:rPr>
              <a:t>={ (p</a:t>
            </a:r>
            <a:r>
              <a:rPr lang="en-US" altLang="zh-TW" dirty="0" smtClean="0">
                <a:latin typeface="Arial" charset="0"/>
                <a:ea typeface="標楷體" charset="0"/>
              </a:rPr>
              <a:t>, q, E, A, x, Y)</a:t>
            </a:r>
            <a:r>
              <a:rPr lang="en-US" altLang="zh-TW" dirty="0">
                <a:latin typeface="Arial" charset="0"/>
                <a:ea typeface="標楷體" charset="0"/>
              </a:rPr>
              <a:t>: </a:t>
            </a:r>
            <a:r>
              <a:rPr lang="en-US" altLang="zh-TW" dirty="0" smtClean="0">
                <a:latin typeface="Arial" charset="0"/>
                <a:ea typeface="標楷體" charset="0"/>
              </a:rPr>
              <a:t>Y=</a:t>
            </a:r>
            <a:r>
              <a:rPr lang="en-US" altLang="zh-TW" dirty="0" err="1" smtClean="0">
                <a:latin typeface="Arial" charset="0"/>
                <a:ea typeface="標楷體" charset="0"/>
              </a:rPr>
              <a:t>xA</a:t>
            </a:r>
            <a:r>
              <a:rPr lang="en-US" altLang="zh-TW" dirty="0" smtClean="0">
                <a:latin typeface="Arial" charset="0"/>
                <a:ea typeface="標楷體" charset="0"/>
              </a:rPr>
              <a:t> </a:t>
            </a:r>
            <a:r>
              <a:rPr lang="en-US" altLang="zh-TW" dirty="0">
                <a:latin typeface="Arial" charset="0"/>
                <a:ea typeface="標楷體" charset="0"/>
              </a:rPr>
              <a:t>}</a:t>
            </a:r>
          </a:p>
          <a:p>
            <a:pPr eaLnBrk="1" hangingPunct="1">
              <a:buFont typeface="Wingdings" charset="0"/>
              <a:buNone/>
            </a:pPr>
            <a:endParaRPr lang="en-US" altLang="zh-TW" dirty="0">
              <a:latin typeface="Arial" charset="0"/>
              <a:ea typeface="標楷體" charset="0"/>
            </a:endParaRPr>
          </a:p>
          <a:p>
            <a:pPr eaLnBrk="1" hangingPunct="1">
              <a:buFont typeface="Wingdings" charset="0"/>
              <a:buNone/>
            </a:pPr>
            <a:r>
              <a:rPr lang="en-US" altLang="zh-TW" dirty="0">
                <a:latin typeface="Arial" charset="0"/>
                <a:ea typeface="標楷體" charset="0"/>
              </a:rPr>
              <a:t>	p</a:t>
            </a:r>
            <a:r>
              <a:rPr lang="en-US" altLang="zh-TW" dirty="0" smtClean="0">
                <a:latin typeface="Arial" charset="0"/>
                <a:ea typeface="標楷體" charset="0"/>
              </a:rPr>
              <a:t>, q, E, A,Y </a:t>
            </a:r>
            <a:r>
              <a:rPr lang="en-US" altLang="zh-TW" dirty="0">
                <a:latin typeface="Arial" charset="0"/>
                <a:ea typeface="標楷體" charset="0"/>
              </a:rPr>
              <a:t>are the public key, </a:t>
            </a:r>
            <a:r>
              <a:rPr lang="en-US" altLang="zh-TW" dirty="0" smtClean="0">
                <a:latin typeface="Arial" charset="0"/>
                <a:ea typeface="標楷體" charset="0"/>
              </a:rPr>
              <a:t>x </a:t>
            </a:r>
            <a:r>
              <a:rPr lang="en-US" altLang="zh-TW" dirty="0">
                <a:latin typeface="Arial" charset="0"/>
                <a:ea typeface="標楷體" charset="0"/>
              </a:rPr>
              <a:t>is private</a:t>
            </a:r>
          </a:p>
        </p:txBody>
      </p:sp>
    </p:spTree>
    <p:extLst>
      <p:ext uri="{BB962C8B-B14F-4D97-AF65-F5344CB8AC3E}">
        <p14:creationId xmlns:p14="http://schemas.microsoft.com/office/powerpoint/2010/main" val="14672531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539750" y="1196975"/>
            <a:ext cx="8126413" cy="5427663"/>
          </a:xfrm>
        </p:spPr>
        <p:txBody>
          <a:bodyPr/>
          <a:lstStyle/>
          <a:p>
            <a:pPr eaLnBrk="1" hangingPunct="1">
              <a:lnSpc>
                <a:spcPct val="80000"/>
              </a:lnSpc>
            </a:pPr>
            <a:endParaRPr lang="en-US" altLang="zh-TW" sz="1800" dirty="0">
              <a:latin typeface="Arial" charset="0"/>
              <a:ea typeface="標楷體" charset="0"/>
            </a:endParaRPr>
          </a:p>
          <a:p>
            <a:pPr eaLnBrk="1" hangingPunct="1">
              <a:lnSpc>
                <a:spcPct val="120000"/>
              </a:lnSpc>
            </a:pPr>
            <a:r>
              <a:rPr lang="en-US" altLang="zh-TW" sz="2000" dirty="0">
                <a:latin typeface="Arial" charset="0"/>
                <a:ea typeface="標楷體" charset="0"/>
              </a:rPr>
              <a:t>For a (secret) random number </a:t>
            </a:r>
            <a:r>
              <a:rPr lang="en-US" altLang="zh-TW" sz="2000" dirty="0">
                <a:solidFill>
                  <a:schemeClr val="folHlink"/>
                </a:solidFill>
                <a:latin typeface="Arial" charset="0"/>
                <a:ea typeface="標楷體" charset="0"/>
              </a:rPr>
              <a:t>k</a:t>
            </a:r>
            <a:r>
              <a:rPr lang="en-US" altLang="zh-TW" sz="2000" dirty="0">
                <a:latin typeface="Arial" charset="0"/>
                <a:ea typeface="標楷體" charset="0"/>
              </a:rPr>
              <a:t>, define </a:t>
            </a:r>
            <a:r>
              <a:rPr lang="en-US" altLang="zh-TW" sz="2000" dirty="0" err="1" smtClean="0">
                <a:latin typeface="Arial" charset="0"/>
                <a:ea typeface="標楷體" charset="0"/>
              </a:rPr>
              <a:t>sig</a:t>
            </a:r>
            <a:r>
              <a:rPr lang="en-US" altLang="zh-TW" sz="2000" baseline="-25000" dirty="0" err="1" smtClean="0">
                <a:latin typeface="Arial" charset="0"/>
                <a:ea typeface="標楷體" charset="0"/>
              </a:rPr>
              <a:t>x</a:t>
            </a:r>
            <a:r>
              <a:rPr lang="en-US" altLang="zh-TW" sz="2000" dirty="0" smtClean="0">
                <a:latin typeface="Arial" charset="0"/>
                <a:ea typeface="標楷體" charset="0"/>
              </a:rPr>
              <a:t>(</a:t>
            </a:r>
            <a:r>
              <a:rPr lang="en-US" altLang="zh-TW" sz="2000" dirty="0" err="1" smtClean="0">
                <a:latin typeface="Arial" charset="0"/>
                <a:ea typeface="標楷體" charset="0"/>
              </a:rPr>
              <a:t>m,k</a:t>
            </a:r>
            <a:r>
              <a:rPr lang="en-US" altLang="zh-TW" sz="2000" dirty="0">
                <a:latin typeface="Arial" charset="0"/>
                <a:ea typeface="標楷體" charset="0"/>
              </a:rPr>
              <a:t>)=(</a:t>
            </a:r>
            <a:r>
              <a:rPr lang="en-US" altLang="zh-TW" sz="2000" dirty="0" err="1">
                <a:solidFill>
                  <a:schemeClr val="hlink"/>
                </a:solidFill>
                <a:latin typeface="Arial" charset="0"/>
                <a:ea typeface="標楷體" charset="0"/>
              </a:rPr>
              <a:t>r</a:t>
            </a:r>
            <a:r>
              <a:rPr lang="en-US" altLang="zh-TW" sz="2000" dirty="0" err="1">
                <a:latin typeface="Arial" charset="0"/>
                <a:ea typeface="標楷體" charset="0"/>
              </a:rPr>
              <a:t>,</a:t>
            </a:r>
            <a:r>
              <a:rPr lang="en-US" altLang="zh-TW" sz="2000" dirty="0" err="1">
                <a:solidFill>
                  <a:schemeClr val="folHlink"/>
                </a:solidFill>
                <a:latin typeface="Arial" charset="0"/>
                <a:ea typeface="標楷體" charset="0"/>
              </a:rPr>
              <a:t>s</a:t>
            </a:r>
            <a:r>
              <a:rPr lang="en-US" altLang="zh-TW" sz="2000" dirty="0">
                <a:latin typeface="Arial" charset="0"/>
                <a:ea typeface="標楷體" charset="0"/>
              </a:rPr>
              <a:t>),</a:t>
            </a:r>
          </a:p>
          <a:p>
            <a:pPr eaLnBrk="1" hangingPunct="1">
              <a:lnSpc>
                <a:spcPct val="120000"/>
              </a:lnSpc>
              <a:buFont typeface="Wingdings" charset="0"/>
              <a:buNone/>
            </a:pPr>
            <a:r>
              <a:rPr lang="en-US" altLang="zh-TW" sz="2000" dirty="0">
                <a:latin typeface="Arial" charset="0"/>
                <a:ea typeface="標楷體" charset="0"/>
              </a:rPr>
              <a:t>		where </a:t>
            </a:r>
            <a:r>
              <a:rPr lang="en-US" altLang="zh-TW" sz="2000" dirty="0">
                <a:solidFill>
                  <a:schemeClr val="hlink"/>
                </a:solidFill>
                <a:latin typeface="Arial" charset="0"/>
                <a:ea typeface="標楷體" charset="0"/>
              </a:rPr>
              <a:t>k</a:t>
            </a:r>
            <a:r>
              <a:rPr lang="en-US" altLang="zh-TW" sz="2000" dirty="0">
                <a:latin typeface="Arial" charset="0"/>
                <a:ea typeface="標楷體" charset="0"/>
              </a:rPr>
              <a:t>A=(</a:t>
            </a:r>
            <a:r>
              <a:rPr lang="en-US" altLang="zh-TW" sz="2000" dirty="0" err="1">
                <a:latin typeface="Arial" charset="0"/>
                <a:ea typeface="標楷體" charset="0"/>
              </a:rPr>
              <a:t>u,v</a:t>
            </a:r>
            <a:r>
              <a:rPr lang="en-US" altLang="zh-TW" sz="2000" dirty="0">
                <a:latin typeface="Arial" charset="0"/>
                <a:ea typeface="標楷體" charset="0"/>
              </a:rPr>
              <a:t>), </a:t>
            </a:r>
            <a:r>
              <a:rPr lang="en-US" altLang="zh-TW" sz="2000" dirty="0">
                <a:solidFill>
                  <a:schemeClr val="hlink"/>
                </a:solidFill>
                <a:latin typeface="Arial" charset="0"/>
                <a:ea typeface="標楷體" charset="0"/>
              </a:rPr>
              <a:t>r=u mod q</a:t>
            </a:r>
            <a:r>
              <a:rPr lang="en-US" altLang="zh-TW" sz="2000" dirty="0">
                <a:latin typeface="Arial" charset="0"/>
                <a:ea typeface="標楷體" charset="0"/>
              </a:rPr>
              <a:t> and</a:t>
            </a:r>
          </a:p>
          <a:p>
            <a:pPr eaLnBrk="1" hangingPunct="1">
              <a:lnSpc>
                <a:spcPct val="120000"/>
              </a:lnSpc>
              <a:buFont typeface="Wingdings" charset="0"/>
              <a:buNone/>
            </a:pPr>
            <a:r>
              <a:rPr lang="en-US" altLang="zh-TW" sz="2000" dirty="0">
                <a:solidFill>
                  <a:schemeClr val="folHlink"/>
                </a:solidFill>
                <a:latin typeface="Arial" charset="0"/>
                <a:ea typeface="標楷體" charset="0"/>
              </a:rPr>
              <a:t>		</a:t>
            </a:r>
            <a:r>
              <a:rPr lang="en-US" altLang="zh-TW" sz="2000" dirty="0" smtClean="0">
                <a:solidFill>
                  <a:schemeClr val="folHlink"/>
                </a:solidFill>
                <a:latin typeface="Arial" charset="0"/>
                <a:ea typeface="標楷體" charset="0"/>
              </a:rPr>
              <a:t>s=k</a:t>
            </a:r>
            <a:r>
              <a:rPr lang="en-US" altLang="zh-TW" sz="2000" baseline="30000" dirty="0" smtClean="0">
                <a:solidFill>
                  <a:schemeClr val="folHlink"/>
                </a:solidFill>
                <a:latin typeface="Arial" charset="0"/>
                <a:ea typeface="標楷體" charset="0"/>
              </a:rPr>
              <a:t>-1</a:t>
            </a:r>
            <a:r>
              <a:rPr lang="en-US" altLang="zh-TW" sz="2000" dirty="0" smtClean="0">
                <a:solidFill>
                  <a:schemeClr val="folHlink"/>
                </a:solidFill>
                <a:latin typeface="Arial" charset="0"/>
                <a:ea typeface="標楷體" charset="0"/>
              </a:rPr>
              <a:t>(Hash(m)+</a:t>
            </a:r>
            <a:r>
              <a:rPr lang="en-US" altLang="zh-TW" sz="2000" dirty="0" err="1" smtClean="0">
                <a:solidFill>
                  <a:schemeClr val="folHlink"/>
                </a:solidFill>
                <a:latin typeface="Arial" charset="0"/>
                <a:ea typeface="標楷體" charset="0"/>
              </a:rPr>
              <a:t>xr</a:t>
            </a:r>
            <a:r>
              <a:rPr lang="en-US" altLang="zh-TW" sz="2000" dirty="0">
                <a:solidFill>
                  <a:schemeClr val="folHlink"/>
                </a:solidFill>
                <a:latin typeface="Arial" charset="0"/>
                <a:ea typeface="標楷體" charset="0"/>
              </a:rPr>
              <a:t>) mod q</a:t>
            </a:r>
          </a:p>
          <a:p>
            <a:pPr eaLnBrk="1" hangingPunct="1">
              <a:lnSpc>
                <a:spcPct val="120000"/>
              </a:lnSpc>
              <a:buFont typeface="Wingdings" charset="0"/>
              <a:buNone/>
            </a:pPr>
            <a:endParaRPr lang="en-US" altLang="zh-TW" sz="2000" dirty="0">
              <a:solidFill>
                <a:schemeClr val="folHlink"/>
              </a:solidFill>
              <a:latin typeface="Arial" charset="0"/>
              <a:ea typeface="標楷體" charset="0"/>
            </a:endParaRPr>
          </a:p>
          <a:p>
            <a:pPr eaLnBrk="1" hangingPunct="1">
              <a:lnSpc>
                <a:spcPct val="120000"/>
              </a:lnSpc>
            </a:pPr>
            <a:r>
              <a:rPr lang="en-US" altLang="zh-TW" sz="2000" dirty="0">
                <a:latin typeface="Arial" charset="0"/>
                <a:ea typeface="標楷體" charset="0"/>
              </a:rPr>
              <a:t>For a</a:t>
            </a:r>
            <a:r>
              <a:rPr lang="en-US" altLang="zh-TW" sz="2000" dirty="0">
                <a:solidFill>
                  <a:schemeClr val="folHlink"/>
                </a:solidFill>
                <a:latin typeface="Arial" charset="0"/>
                <a:ea typeface="標楷體" charset="0"/>
              </a:rPr>
              <a:t> </a:t>
            </a:r>
            <a:r>
              <a:rPr lang="en-US" altLang="zh-TW" sz="2000" dirty="0">
                <a:latin typeface="Arial" charset="0"/>
                <a:ea typeface="標楷體" charset="0"/>
              </a:rPr>
              <a:t>message </a:t>
            </a:r>
            <a:r>
              <a:rPr lang="en-US" altLang="zh-TW" sz="2000" dirty="0" smtClean="0">
                <a:latin typeface="Arial" charset="0"/>
                <a:ea typeface="標楷體" charset="0"/>
              </a:rPr>
              <a:t>(m,</a:t>
            </a:r>
            <a:r>
              <a:rPr lang="en-US" altLang="zh-TW" sz="2000" dirty="0">
                <a:latin typeface="Arial" charset="0"/>
                <a:ea typeface="標楷體" charset="0"/>
              </a:rPr>
              <a:t>(</a:t>
            </a:r>
            <a:r>
              <a:rPr lang="en-US" altLang="zh-TW" sz="2000" dirty="0" err="1">
                <a:latin typeface="Arial" charset="0"/>
                <a:ea typeface="標楷體" charset="0"/>
              </a:rPr>
              <a:t>r,s</a:t>
            </a:r>
            <a:r>
              <a:rPr lang="en-US" altLang="zh-TW" sz="2000" dirty="0">
                <a:latin typeface="Arial" charset="0"/>
                <a:ea typeface="標楷體" charset="0"/>
              </a:rPr>
              <a:t>)), verification is done by performing the following computations:</a:t>
            </a:r>
          </a:p>
          <a:p>
            <a:pPr eaLnBrk="1" hangingPunct="1">
              <a:lnSpc>
                <a:spcPct val="120000"/>
              </a:lnSpc>
              <a:buFont typeface="Wingdings" charset="0"/>
              <a:buNone/>
            </a:pPr>
            <a:endParaRPr lang="en-US" altLang="zh-TW" sz="2000" dirty="0">
              <a:latin typeface="Arial" charset="0"/>
              <a:ea typeface="標楷體" charset="0"/>
            </a:endParaRPr>
          </a:p>
          <a:p>
            <a:pPr eaLnBrk="1" hangingPunct="1">
              <a:lnSpc>
                <a:spcPct val="120000"/>
              </a:lnSpc>
              <a:buFont typeface="Wingdings" charset="0"/>
              <a:buNone/>
            </a:pPr>
            <a:r>
              <a:rPr lang="en-US" altLang="zh-TW" sz="2000" dirty="0">
                <a:latin typeface="Arial" charset="0"/>
                <a:ea typeface="標楷體" charset="0"/>
              </a:rPr>
              <a:t>		</a:t>
            </a:r>
            <a:r>
              <a:rPr lang="en-US" altLang="zh-TW" sz="2000" dirty="0" err="1" smtClean="0">
                <a:latin typeface="Arial" charset="0"/>
                <a:ea typeface="標楷體" charset="0"/>
              </a:rPr>
              <a:t>i</a:t>
            </a:r>
            <a:r>
              <a:rPr lang="en-US" altLang="zh-TW" sz="2000" dirty="0" smtClean="0">
                <a:latin typeface="Arial" charset="0"/>
                <a:ea typeface="標楷體" charset="0"/>
              </a:rPr>
              <a:t>=Hash(m) • s</a:t>
            </a:r>
            <a:r>
              <a:rPr lang="en-US" altLang="zh-TW" sz="2000" baseline="30000" dirty="0" smtClean="0">
                <a:latin typeface="Arial" charset="0"/>
                <a:ea typeface="標楷體" charset="0"/>
              </a:rPr>
              <a:t>-1</a:t>
            </a:r>
            <a:r>
              <a:rPr lang="en-US" altLang="zh-TW" sz="2000" dirty="0" smtClean="0">
                <a:latin typeface="Arial" charset="0"/>
                <a:ea typeface="標楷體" charset="0"/>
              </a:rPr>
              <a:t> </a:t>
            </a:r>
            <a:r>
              <a:rPr lang="en-US" altLang="zh-TW" sz="2000" dirty="0">
                <a:latin typeface="Arial" charset="0"/>
                <a:ea typeface="標楷體" charset="0"/>
              </a:rPr>
              <a:t>mod q</a:t>
            </a:r>
          </a:p>
          <a:p>
            <a:pPr eaLnBrk="1" hangingPunct="1">
              <a:lnSpc>
                <a:spcPct val="120000"/>
              </a:lnSpc>
              <a:buFont typeface="Wingdings" charset="0"/>
              <a:buNone/>
            </a:pPr>
            <a:r>
              <a:rPr lang="en-US" altLang="zh-TW" sz="2000" dirty="0">
                <a:latin typeface="Arial" charset="0"/>
                <a:ea typeface="標楷體" charset="0"/>
              </a:rPr>
              <a:t>		</a:t>
            </a:r>
            <a:r>
              <a:rPr lang="en-US" altLang="zh-TW" sz="2000" dirty="0" smtClean="0">
                <a:latin typeface="Arial" charset="0"/>
                <a:ea typeface="標楷體" charset="0"/>
              </a:rPr>
              <a:t>j=r•s</a:t>
            </a:r>
            <a:r>
              <a:rPr lang="en-US" altLang="zh-TW" sz="2000" baseline="30000" dirty="0" smtClean="0">
                <a:latin typeface="Arial" charset="0"/>
                <a:ea typeface="標楷體" charset="0"/>
              </a:rPr>
              <a:t>-1</a:t>
            </a:r>
            <a:r>
              <a:rPr lang="en-US" altLang="zh-TW" sz="2000" dirty="0" smtClean="0">
                <a:latin typeface="Arial" charset="0"/>
                <a:ea typeface="標楷體" charset="0"/>
              </a:rPr>
              <a:t> </a:t>
            </a:r>
            <a:r>
              <a:rPr lang="en-US" altLang="zh-TW" sz="2000" dirty="0">
                <a:latin typeface="Arial" charset="0"/>
                <a:ea typeface="標楷體" charset="0"/>
              </a:rPr>
              <a:t>mod q</a:t>
            </a:r>
          </a:p>
          <a:p>
            <a:pPr eaLnBrk="1" hangingPunct="1">
              <a:lnSpc>
                <a:spcPct val="120000"/>
              </a:lnSpc>
              <a:buFont typeface="Wingdings" charset="0"/>
              <a:buNone/>
            </a:pPr>
            <a:r>
              <a:rPr lang="en-US" altLang="zh-TW" sz="2000" dirty="0">
                <a:latin typeface="Arial" charset="0"/>
                <a:ea typeface="標楷體" charset="0"/>
              </a:rPr>
              <a:t>		(</a:t>
            </a:r>
            <a:r>
              <a:rPr lang="en-US" altLang="zh-TW" sz="2000" dirty="0" err="1">
                <a:latin typeface="Arial" charset="0"/>
                <a:ea typeface="標楷體" charset="0"/>
              </a:rPr>
              <a:t>u,v</a:t>
            </a:r>
            <a:r>
              <a:rPr lang="en-US" altLang="zh-TW" sz="2000" dirty="0">
                <a:latin typeface="Arial" charset="0"/>
                <a:ea typeface="標楷體" charset="0"/>
              </a:rPr>
              <a:t>)=</a:t>
            </a:r>
            <a:r>
              <a:rPr lang="en-US" altLang="zh-TW" sz="2000" dirty="0" err="1">
                <a:latin typeface="Arial" charset="0"/>
                <a:ea typeface="標楷體" charset="0"/>
              </a:rPr>
              <a:t>iA+</a:t>
            </a:r>
            <a:r>
              <a:rPr lang="en-US" altLang="zh-TW" sz="2000" dirty="0" err="1" smtClean="0">
                <a:latin typeface="Arial" charset="0"/>
                <a:ea typeface="標楷體" charset="0"/>
              </a:rPr>
              <a:t>jY</a:t>
            </a:r>
            <a:endParaRPr lang="en-US" altLang="zh-TW" sz="2000" dirty="0">
              <a:latin typeface="Arial" charset="0"/>
              <a:ea typeface="標楷體" charset="0"/>
            </a:endParaRPr>
          </a:p>
          <a:p>
            <a:pPr eaLnBrk="1" hangingPunct="1">
              <a:lnSpc>
                <a:spcPct val="120000"/>
              </a:lnSpc>
              <a:buFont typeface="Wingdings" charset="0"/>
              <a:buNone/>
            </a:pPr>
            <a:endParaRPr lang="en-US" altLang="zh-TW" sz="2000" dirty="0">
              <a:latin typeface="Arial" charset="0"/>
              <a:ea typeface="標楷體" charset="0"/>
            </a:endParaRPr>
          </a:p>
          <a:p>
            <a:pPr eaLnBrk="1" hangingPunct="1">
              <a:lnSpc>
                <a:spcPct val="120000"/>
              </a:lnSpc>
              <a:buFont typeface="Wingdings" charset="0"/>
              <a:buNone/>
            </a:pPr>
            <a:r>
              <a:rPr lang="en-US" altLang="zh-TW" sz="2000" dirty="0">
                <a:latin typeface="Arial" charset="0"/>
                <a:ea typeface="標楷體" charset="0"/>
              </a:rPr>
              <a:t>		</a:t>
            </a:r>
            <a:r>
              <a:rPr lang="en-US" altLang="zh-TW" sz="2000" dirty="0" err="1">
                <a:latin typeface="Arial" charset="0"/>
                <a:ea typeface="標楷體" charset="0"/>
              </a:rPr>
              <a:t>ver</a:t>
            </a:r>
            <a:r>
              <a:rPr lang="en-US" altLang="zh-TW" sz="2000" dirty="0" smtClean="0">
                <a:latin typeface="Arial" charset="0"/>
                <a:ea typeface="標楷體" charset="0"/>
              </a:rPr>
              <a:t>(m,</a:t>
            </a:r>
            <a:r>
              <a:rPr lang="en-US" altLang="zh-TW" sz="2000" dirty="0">
                <a:latin typeface="Arial" charset="0"/>
                <a:ea typeface="標楷體" charset="0"/>
              </a:rPr>
              <a:t>(</a:t>
            </a:r>
            <a:r>
              <a:rPr lang="en-US" altLang="zh-TW" sz="2000" dirty="0" err="1">
                <a:latin typeface="Arial" charset="0"/>
                <a:ea typeface="標楷體" charset="0"/>
              </a:rPr>
              <a:t>r,s</a:t>
            </a:r>
            <a:r>
              <a:rPr lang="en-US" altLang="zh-TW" sz="2000" dirty="0">
                <a:latin typeface="Arial" charset="0"/>
                <a:ea typeface="標楷體" charset="0"/>
              </a:rPr>
              <a:t>))=true if and only if </a:t>
            </a:r>
            <a:r>
              <a:rPr lang="en-US" altLang="zh-TW" sz="2000" dirty="0">
                <a:solidFill>
                  <a:schemeClr val="folHlink"/>
                </a:solidFill>
                <a:latin typeface="Arial" charset="0"/>
                <a:ea typeface="標楷體" charset="0"/>
              </a:rPr>
              <a:t>u mod q=r</a:t>
            </a:r>
          </a:p>
          <a:p>
            <a:pPr eaLnBrk="1" hangingPunct="1">
              <a:lnSpc>
                <a:spcPct val="110000"/>
              </a:lnSpc>
              <a:buFont typeface="Wingdings" charset="0"/>
              <a:buNone/>
            </a:pPr>
            <a:endParaRPr lang="en-US" altLang="zh-TW" sz="2000" dirty="0">
              <a:solidFill>
                <a:schemeClr val="folHlink"/>
              </a:solidFill>
              <a:latin typeface="Arial" charset="0"/>
              <a:ea typeface="標楷體" charset="0"/>
            </a:endParaRPr>
          </a:p>
        </p:txBody>
      </p:sp>
      <p:sp>
        <p:nvSpPr>
          <p:cNvPr id="32771" name="Rectangle 3"/>
          <p:cNvSpPr>
            <a:spLocks noGrp="1" noChangeArrowheads="1"/>
          </p:cNvSpPr>
          <p:nvPr>
            <p:ph type="title"/>
          </p:nvPr>
        </p:nvSpPr>
        <p:spPr/>
        <p:txBody>
          <a:bodyPr/>
          <a:lstStyle/>
          <a:p>
            <a:pPr eaLnBrk="1" hangingPunct="1"/>
            <a:r>
              <a:rPr lang="en-AU" altLang="zh-TW" dirty="0" smtClean="0">
                <a:latin typeface="Arial" charset="0"/>
                <a:ea typeface="標楷體" charset="0"/>
              </a:rPr>
              <a:t>ECDSA</a:t>
            </a:r>
            <a:endParaRPr lang="zh-TW" altLang="en-US" dirty="0">
              <a:latin typeface="Arial" charset="0"/>
              <a:ea typeface="標楷體" charset="0"/>
            </a:endParaRPr>
          </a:p>
        </p:txBody>
      </p:sp>
    </p:spTree>
    <p:extLst>
      <p:ext uri="{BB962C8B-B14F-4D97-AF65-F5344CB8AC3E}">
        <p14:creationId xmlns:p14="http://schemas.microsoft.com/office/powerpoint/2010/main" val="26596356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AU" altLang="zh-TW" sz="3200" b="1">
                <a:solidFill>
                  <a:srgbClr val="008000"/>
                </a:solidFill>
                <a:latin typeface="Arial" charset="0"/>
                <a:ea typeface="新細明體" charset="0"/>
                <a:cs typeface="新細明體" charset="0"/>
              </a:rPr>
              <a:t>Elliptic Curve Security</a:t>
            </a:r>
            <a:endParaRPr lang="zh-TW" altLang="en-US" sz="3200" b="1">
              <a:solidFill>
                <a:srgbClr val="008000"/>
              </a:solidFill>
              <a:latin typeface="Arial" charset="0"/>
              <a:ea typeface="新細明體" charset="0"/>
              <a:cs typeface="新細明體" charset="0"/>
            </a:endParaRPr>
          </a:p>
        </p:txBody>
      </p:sp>
      <p:graphicFrame>
        <p:nvGraphicFramePr>
          <p:cNvPr id="706563" name="Group 3"/>
          <p:cNvGraphicFramePr>
            <a:graphicFrameLocks noGrp="1"/>
          </p:cNvGraphicFramePr>
          <p:nvPr/>
        </p:nvGraphicFramePr>
        <p:xfrm>
          <a:off x="395288" y="1397000"/>
          <a:ext cx="8280400" cy="3949702"/>
        </p:xfrm>
        <a:graphic>
          <a:graphicData uri="http://schemas.openxmlformats.org/drawingml/2006/table">
            <a:tbl>
              <a:tblPr/>
              <a:tblGrid>
                <a:gridCol w="2520950"/>
                <a:gridCol w="2951162"/>
                <a:gridCol w="2808288"/>
              </a:tblGrid>
              <a:tr h="6778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1800" b="1" i="0" u="none" strike="noStrike" cap="none" normalizeH="0" baseline="0">
                          <a:ln>
                            <a:noFill/>
                          </a:ln>
                          <a:solidFill>
                            <a:srgbClr val="000099"/>
                          </a:solidFill>
                          <a:effectLst/>
                          <a:latin typeface="Tahoma" charset="0"/>
                          <a:ea typeface="全真行書" charset="0"/>
                          <a:cs typeface="全真行書" charset="0"/>
                        </a:rPr>
                        <a:t>Symmetric Key Size</a:t>
                      </a:r>
                      <a:br>
                        <a:rPr kumimoji="1" lang="en-US" altLang="zh-TW" sz="1800" b="1" i="0" u="none" strike="noStrike" cap="none" normalizeH="0" baseline="0">
                          <a:ln>
                            <a:noFill/>
                          </a:ln>
                          <a:solidFill>
                            <a:srgbClr val="000099"/>
                          </a:solidFill>
                          <a:effectLst/>
                          <a:latin typeface="Tahoma" charset="0"/>
                          <a:ea typeface="全真行書" charset="0"/>
                          <a:cs typeface="全真行書" charset="0"/>
                        </a:rPr>
                      </a:br>
                      <a:r>
                        <a:rPr kumimoji="1" lang="en-US" altLang="zh-TW" sz="1800" b="1" i="0" u="none" strike="noStrike" cap="none" normalizeH="0" baseline="0">
                          <a:ln>
                            <a:noFill/>
                          </a:ln>
                          <a:solidFill>
                            <a:srgbClr val="000099"/>
                          </a:solidFill>
                          <a:effectLst/>
                          <a:latin typeface="Tahoma" charset="0"/>
                          <a:ea typeface="全真行書" charset="0"/>
                          <a:cs typeface="全真行書" charset="0"/>
                        </a:rPr>
                        <a:t>(bits) </a:t>
                      </a:r>
                      <a:endParaRPr kumimoji="1" lang="zh-TW" altLang="en-US" sz="1800" b="1" i="0" u="none" strike="noStrike" cap="none" normalizeH="0" baseline="0">
                        <a:ln>
                          <a:noFill/>
                        </a:ln>
                        <a:solidFill>
                          <a:srgbClr val="000099"/>
                        </a:solidFill>
                        <a:effectLst/>
                        <a:latin typeface="Tahoma" charset="0"/>
                        <a:ea typeface="全真行書" charset="0"/>
                        <a:cs typeface="全真行書"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1800" b="1" i="0" u="none" strike="noStrike" cap="none" normalizeH="0" baseline="0">
                          <a:ln>
                            <a:noFill/>
                          </a:ln>
                          <a:solidFill>
                            <a:srgbClr val="000099"/>
                          </a:solidFill>
                          <a:effectLst/>
                          <a:latin typeface="Tahoma" charset="0"/>
                          <a:ea typeface="全真行書" charset="0"/>
                          <a:cs typeface="全真行書" charset="0"/>
                        </a:rPr>
                        <a:t>RSA and Diffie-Hellman</a:t>
                      </a:r>
                      <a:br>
                        <a:rPr kumimoji="1" lang="en-US" altLang="zh-TW" sz="1800" b="1" i="0" u="none" strike="noStrike" cap="none" normalizeH="0" baseline="0">
                          <a:ln>
                            <a:noFill/>
                          </a:ln>
                          <a:solidFill>
                            <a:srgbClr val="000099"/>
                          </a:solidFill>
                          <a:effectLst/>
                          <a:latin typeface="Tahoma" charset="0"/>
                          <a:ea typeface="全真行書" charset="0"/>
                          <a:cs typeface="全真行書" charset="0"/>
                        </a:rPr>
                      </a:br>
                      <a:r>
                        <a:rPr kumimoji="1" lang="en-US" altLang="zh-TW" sz="1800" b="1" i="0" u="none" strike="noStrike" cap="none" normalizeH="0" baseline="0">
                          <a:ln>
                            <a:noFill/>
                          </a:ln>
                          <a:solidFill>
                            <a:srgbClr val="000099"/>
                          </a:solidFill>
                          <a:effectLst/>
                          <a:latin typeface="Tahoma" charset="0"/>
                          <a:ea typeface="全真行書" charset="0"/>
                          <a:cs typeface="全真行書" charset="0"/>
                        </a:rPr>
                        <a:t>Key Size (bits) </a:t>
                      </a:r>
                      <a:endParaRPr kumimoji="1" lang="zh-TW" altLang="en-US" sz="1800" b="1" i="0" u="none" strike="noStrike" cap="none" normalizeH="0" baseline="0">
                        <a:ln>
                          <a:noFill/>
                        </a:ln>
                        <a:solidFill>
                          <a:srgbClr val="000099"/>
                        </a:solidFill>
                        <a:effectLst/>
                        <a:latin typeface="Tahoma" charset="0"/>
                        <a:ea typeface="全真行書" charset="0"/>
                        <a:cs typeface="全真行書"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1800" b="1" i="0" u="none" strike="noStrike" cap="none" normalizeH="0" baseline="0">
                          <a:ln>
                            <a:noFill/>
                          </a:ln>
                          <a:solidFill>
                            <a:srgbClr val="000099"/>
                          </a:solidFill>
                          <a:effectLst/>
                          <a:latin typeface="Tahoma" charset="0"/>
                          <a:ea typeface="全真行書" charset="0"/>
                          <a:cs typeface="全真行書" charset="0"/>
                        </a:rPr>
                        <a:t>Elliptic Curve Key Size</a:t>
                      </a:r>
                      <a:br>
                        <a:rPr kumimoji="1" lang="en-US" altLang="zh-TW" sz="1800" b="1" i="0" u="none" strike="noStrike" cap="none" normalizeH="0" baseline="0">
                          <a:ln>
                            <a:noFill/>
                          </a:ln>
                          <a:solidFill>
                            <a:srgbClr val="000099"/>
                          </a:solidFill>
                          <a:effectLst/>
                          <a:latin typeface="Tahoma" charset="0"/>
                          <a:ea typeface="全真行書" charset="0"/>
                          <a:cs typeface="全真行書" charset="0"/>
                        </a:rPr>
                      </a:br>
                      <a:r>
                        <a:rPr kumimoji="1" lang="en-US" altLang="zh-TW" sz="1800" b="1" i="0" u="none" strike="noStrike" cap="none" normalizeH="0" baseline="0">
                          <a:ln>
                            <a:noFill/>
                          </a:ln>
                          <a:solidFill>
                            <a:srgbClr val="000099"/>
                          </a:solidFill>
                          <a:effectLst/>
                          <a:latin typeface="Tahoma" charset="0"/>
                          <a:ea typeface="全真行書" charset="0"/>
                          <a:cs typeface="全真行書" charset="0"/>
                        </a:rPr>
                        <a:t>(bits) </a:t>
                      </a:r>
                      <a:endParaRPr kumimoji="1" lang="zh-TW" altLang="en-US" sz="1800" b="1" i="0" u="none" strike="noStrike" cap="none" normalizeH="0" baseline="0">
                        <a:ln>
                          <a:noFill/>
                        </a:ln>
                        <a:solidFill>
                          <a:srgbClr val="000099"/>
                        </a:solidFill>
                        <a:effectLst/>
                        <a:latin typeface="Tahoma" charset="0"/>
                        <a:ea typeface="全真行書" charset="0"/>
                        <a:cs typeface="全真行書"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1975">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80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1024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160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8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112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2048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224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8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128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3072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256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6275">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192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7680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384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7863">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256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15360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charset="0"/>
                        <a:buNone/>
                        <a:tabLst/>
                      </a:pPr>
                      <a:r>
                        <a:rPr kumimoji="1" lang="en-US" altLang="zh-TW" sz="2000" b="1" i="0" u="none" strike="noStrike" cap="none" normalizeH="0" baseline="0">
                          <a:ln>
                            <a:noFill/>
                          </a:ln>
                          <a:solidFill>
                            <a:srgbClr val="000099"/>
                          </a:solidFill>
                          <a:effectLst/>
                          <a:latin typeface="Tahoma" charset="0"/>
                          <a:ea typeface="全真行書" charset="0"/>
                          <a:cs typeface="全真行書" charset="0"/>
                        </a:rPr>
                        <a:t>521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6657" name="Text Box 33"/>
          <p:cNvSpPr txBox="1">
            <a:spLocks noChangeArrowheads="1"/>
          </p:cNvSpPr>
          <p:nvPr/>
        </p:nvSpPr>
        <p:spPr bwMode="auto">
          <a:xfrm>
            <a:off x="2484438" y="5589588"/>
            <a:ext cx="3683000"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eaLnBrk="1" hangingPunct="1"/>
            <a:r>
              <a:rPr lang="en-US" altLang="zh-TW"/>
              <a:t>NIST Recommended Key Sizes </a:t>
            </a:r>
            <a:endParaRPr lang="zh-TW" altLang="en-US"/>
          </a:p>
        </p:txBody>
      </p:sp>
    </p:spTree>
    <p:extLst>
      <p:ext uri="{BB962C8B-B14F-4D97-AF65-F5344CB8AC3E}">
        <p14:creationId xmlns:p14="http://schemas.microsoft.com/office/powerpoint/2010/main" val="288743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571500" y="522288"/>
            <a:ext cx="8004175" cy="6192837"/>
          </a:xfrm>
        </p:spPr>
        <p:txBody>
          <a:bodyPr/>
          <a:lstStyle/>
          <a:p>
            <a:pPr marL="609600" indent="-609600" eaLnBrk="1" hangingPunct="1">
              <a:buFont typeface="Wingdings" charset="0"/>
              <a:buNone/>
            </a:pPr>
            <a:r>
              <a:rPr lang="en-AU" altLang="zh-TW" sz="2800" dirty="0">
                <a:solidFill>
                  <a:srgbClr val="008000"/>
                </a:solidFill>
                <a:latin typeface="Arial" charset="0"/>
                <a:ea typeface="新細明體" charset="0"/>
                <a:cs typeface="新細明體" charset="0"/>
              </a:rPr>
              <a:t>Security of ECC versus RSA/</a:t>
            </a:r>
            <a:r>
              <a:rPr lang="en-AU" altLang="zh-TW" sz="2800" dirty="0" err="1">
                <a:solidFill>
                  <a:srgbClr val="008000"/>
                </a:solidFill>
                <a:latin typeface="Arial" charset="0"/>
                <a:ea typeface="新細明體" charset="0"/>
                <a:cs typeface="新細明體" charset="0"/>
              </a:rPr>
              <a:t>ElGamal</a:t>
            </a:r>
            <a:endParaRPr lang="en-AU" altLang="zh-TW" sz="2800" dirty="0">
              <a:solidFill>
                <a:srgbClr val="008000"/>
              </a:solidFill>
              <a:latin typeface="Arial" charset="0"/>
              <a:ea typeface="新細明體" charset="0"/>
              <a:cs typeface="新細明體" charset="0"/>
            </a:endParaRPr>
          </a:p>
          <a:p>
            <a:pPr marL="609600" indent="-609600" eaLnBrk="1" hangingPunct="1">
              <a:buFont typeface="Wingdings" charset="0"/>
              <a:buNone/>
            </a:pPr>
            <a:endParaRPr lang="en-AU" altLang="zh-TW" sz="2800" dirty="0">
              <a:solidFill>
                <a:srgbClr val="008000"/>
              </a:solidFill>
              <a:latin typeface="Arial" charset="0"/>
              <a:ea typeface="新細明體" charset="0"/>
              <a:cs typeface="新細明體" charset="0"/>
              <a:sym typeface="Symbol" charset="0"/>
            </a:endParaRPr>
          </a:p>
          <a:p>
            <a:pPr marL="609600" indent="-609600" eaLnBrk="1" hangingPunct="1">
              <a:lnSpc>
                <a:spcPct val="150000"/>
              </a:lnSpc>
            </a:pPr>
            <a:r>
              <a:rPr lang="en-AU" altLang="zh-TW" sz="2000" dirty="0">
                <a:latin typeface="Arial" charset="0"/>
                <a:ea typeface="新細明體" charset="0"/>
                <a:cs typeface="新細明體" charset="0"/>
                <a:sym typeface="Symbol" charset="0"/>
              </a:rPr>
              <a:t>Elliptic curve cryptosystems give the most security per bit of any known public-key scheme.</a:t>
            </a:r>
          </a:p>
          <a:p>
            <a:pPr marL="609600" indent="-609600" eaLnBrk="1" hangingPunct="1">
              <a:lnSpc>
                <a:spcPct val="150000"/>
              </a:lnSpc>
            </a:pPr>
            <a:r>
              <a:rPr lang="en-AU" altLang="zh-TW" sz="2000" dirty="0">
                <a:latin typeface="Arial" charset="0"/>
                <a:ea typeface="新細明體" charset="0"/>
                <a:cs typeface="新細明體" charset="0"/>
                <a:sym typeface="Symbol" charset="0"/>
              </a:rPr>
              <a:t>The ECDLP problem appears to be much more difficult than the integer factorisation problem and the discrete logarithm problem of </a:t>
            </a:r>
            <a:r>
              <a:rPr lang="en-AU" altLang="zh-TW" sz="2000" i="1" dirty="0" err="1">
                <a:latin typeface="Arial" charset="0"/>
                <a:ea typeface="新細明體" charset="0"/>
                <a:cs typeface="新細明體" charset="0"/>
                <a:sym typeface="Symbol" charset="0"/>
              </a:rPr>
              <a:t>Z</a:t>
            </a:r>
            <a:r>
              <a:rPr lang="en-AU" altLang="zh-TW" sz="2000" i="1" baseline="-25000" dirty="0" err="1">
                <a:latin typeface="Arial" charset="0"/>
                <a:ea typeface="新細明體" charset="0"/>
                <a:cs typeface="新細明體" charset="0"/>
                <a:sym typeface="Symbol" charset="0"/>
              </a:rPr>
              <a:t>p</a:t>
            </a:r>
            <a:r>
              <a:rPr lang="en-AU" altLang="zh-TW" sz="2000" i="1" dirty="0">
                <a:latin typeface="Arial" charset="0"/>
                <a:ea typeface="新細明體" charset="0"/>
                <a:cs typeface="新細明體" charset="0"/>
                <a:sym typeface="Symbol" charset="0"/>
              </a:rPr>
              <a:t>. </a:t>
            </a:r>
            <a:endParaRPr lang="en-AU" altLang="zh-TW" sz="2000" i="1" dirty="0" smtClean="0">
              <a:latin typeface="Arial" charset="0"/>
              <a:ea typeface="新細明體" charset="0"/>
              <a:cs typeface="新細明體" charset="0"/>
              <a:sym typeface="Symbol" charset="0"/>
            </a:endParaRPr>
          </a:p>
          <a:p>
            <a:pPr marL="609600" indent="-609600" eaLnBrk="1" hangingPunct="1">
              <a:lnSpc>
                <a:spcPct val="150000"/>
              </a:lnSpc>
            </a:pPr>
            <a:r>
              <a:rPr lang="en-AU" altLang="zh-TW" sz="2000" dirty="0" smtClean="0">
                <a:latin typeface="Arial" charset="0"/>
                <a:ea typeface="新細明體" charset="0"/>
                <a:cs typeface="新細明體" charset="0"/>
                <a:sym typeface="Symbol" charset="0"/>
              </a:rPr>
              <a:t>The </a:t>
            </a:r>
            <a:r>
              <a:rPr lang="en-AU" altLang="zh-TW" sz="2000" dirty="0">
                <a:latin typeface="Arial" charset="0"/>
                <a:ea typeface="新細明體" charset="0"/>
                <a:cs typeface="新細明體" charset="0"/>
                <a:sym typeface="Symbol" charset="0"/>
              </a:rPr>
              <a:t>strength of elliptic curve cryptosystems grows much faster with the key size increases than does the strength of RSA.</a:t>
            </a:r>
          </a:p>
          <a:p>
            <a:pPr marL="609600" indent="-609600" eaLnBrk="1" hangingPunct="1">
              <a:lnSpc>
                <a:spcPct val="150000"/>
              </a:lnSpc>
              <a:buFont typeface="Wingdings" charset="0"/>
              <a:buNone/>
            </a:pPr>
            <a:endParaRPr lang="en-AU" altLang="zh-TW" sz="2000" dirty="0">
              <a:latin typeface="Arial" charset="0"/>
              <a:ea typeface="新細明體" charset="0"/>
              <a:cs typeface="新細明體" charset="0"/>
            </a:endParaRPr>
          </a:p>
          <a:p>
            <a:pPr marL="609600" indent="-609600" eaLnBrk="1" hangingPunct="1">
              <a:buFont typeface="Wingdings" charset="0"/>
              <a:buNone/>
            </a:pPr>
            <a:endParaRPr lang="en-AU" altLang="zh-TW" sz="2000" dirty="0">
              <a:latin typeface="Arial" charset="0"/>
              <a:ea typeface="新細明體" charset="0"/>
              <a:cs typeface="新細明體" charset="0"/>
            </a:endParaRPr>
          </a:p>
          <a:p>
            <a:pPr marL="609600" indent="-609600" eaLnBrk="1" hangingPunct="1">
              <a:buFont typeface="Wingdings" charset="0"/>
              <a:buNone/>
            </a:pPr>
            <a:endParaRPr lang="en-AU" altLang="zh-TW" sz="2000" dirty="0">
              <a:latin typeface="Arial" charset="0"/>
              <a:ea typeface="新細明體" charset="0"/>
              <a:cs typeface="新細明體" charset="0"/>
            </a:endParaRPr>
          </a:p>
          <a:p>
            <a:pPr marL="609600" indent="-609600" eaLnBrk="1" hangingPunct="1">
              <a:buFont typeface="Wingdings" charset="0"/>
              <a:buNone/>
            </a:pPr>
            <a:endParaRPr lang="en-AU" altLang="zh-TW" sz="2000" dirty="0">
              <a:latin typeface="Arial" charset="0"/>
              <a:ea typeface="新細明體" charset="0"/>
              <a:cs typeface="新細明體" charset="0"/>
            </a:endParaRPr>
          </a:p>
        </p:txBody>
      </p:sp>
    </p:spTree>
    <p:extLst>
      <p:ext uri="{BB962C8B-B14F-4D97-AF65-F5344CB8AC3E}">
        <p14:creationId xmlns:p14="http://schemas.microsoft.com/office/powerpoint/2010/main" val="1609596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atin typeface="Arial" charset="0"/>
                <a:ea typeface="ＭＳ Ｐゴシック" charset="0"/>
                <a:cs typeface="ＭＳ Ｐゴシック" charset="0"/>
              </a:rPr>
              <a:t>RSA</a:t>
            </a:r>
            <a:endParaRPr lang="en-AU">
              <a:latin typeface="Arial" charset="0"/>
              <a:ea typeface="ＭＳ Ｐゴシック" charset="0"/>
              <a:cs typeface="ＭＳ Ｐゴシック" charset="0"/>
            </a:endParaRPr>
          </a:p>
        </p:txBody>
      </p:sp>
      <p:sp>
        <p:nvSpPr>
          <p:cNvPr id="61443" name="Rectangle 3"/>
          <p:cNvSpPr>
            <a:spLocks noGrp="1" noChangeArrowheads="1"/>
          </p:cNvSpPr>
          <p:nvPr>
            <p:ph type="body" idx="1"/>
          </p:nvPr>
        </p:nvSpPr>
        <p:spPr>
          <a:xfrm>
            <a:off x="457200" y="1676400"/>
            <a:ext cx="8458200" cy="4454525"/>
          </a:xfrm>
        </p:spPr>
        <p:txBody>
          <a:bodyPr/>
          <a:lstStyle/>
          <a:p>
            <a:pPr eaLnBrk="1" hangingPunct="1"/>
            <a:r>
              <a:rPr lang="en-AU" sz="2800" dirty="0">
                <a:latin typeface="Arial" charset="0"/>
                <a:ea typeface="ＭＳ Ｐゴシック" charset="0"/>
                <a:cs typeface="ＭＳ Ｐゴシック" charset="0"/>
              </a:rPr>
              <a:t>by </a:t>
            </a:r>
            <a:r>
              <a:rPr lang="en-AU" sz="2800" dirty="0" err="1">
                <a:latin typeface="Arial" charset="0"/>
                <a:ea typeface="ＭＳ Ｐゴシック" charset="0"/>
                <a:cs typeface="ＭＳ Ｐゴシック" charset="0"/>
              </a:rPr>
              <a:t>Rivest</a:t>
            </a:r>
            <a:r>
              <a:rPr lang="en-AU" sz="2800" dirty="0">
                <a:latin typeface="Arial" charset="0"/>
                <a:ea typeface="ＭＳ Ｐゴシック" charset="0"/>
                <a:cs typeface="ＭＳ Ｐゴシック" charset="0"/>
              </a:rPr>
              <a:t>, Shamir &amp; </a:t>
            </a:r>
            <a:r>
              <a:rPr lang="en-AU" sz="2800" dirty="0" err="1">
                <a:latin typeface="Arial" charset="0"/>
                <a:ea typeface="ＭＳ Ｐゴシック" charset="0"/>
                <a:cs typeface="ＭＳ Ｐゴシック" charset="0"/>
              </a:rPr>
              <a:t>Adleman</a:t>
            </a:r>
            <a:r>
              <a:rPr lang="en-AU" sz="2800" dirty="0">
                <a:latin typeface="Arial" charset="0"/>
                <a:ea typeface="ＭＳ Ｐゴシック" charset="0"/>
                <a:cs typeface="ＭＳ Ｐゴシック" charset="0"/>
              </a:rPr>
              <a:t> of MIT in 1977 </a:t>
            </a:r>
          </a:p>
          <a:p>
            <a:pPr eaLnBrk="1" hangingPunct="1"/>
            <a:r>
              <a:rPr lang="en-AU" sz="2800" dirty="0">
                <a:latin typeface="Arial" charset="0"/>
                <a:ea typeface="ＭＳ Ｐゴシック" charset="0"/>
                <a:cs typeface="ＭＳ Ｐゴシック" charset="0"/>
              </a:rPr>
              <a:t>best known &amp; widely used public-key scheme </a:t>
            </a:r>
            <a:endParaRPr lang="en-AU" sz="2800" dirty="0" smtClean="0">
              <a:latin typeface="Arial" charset="0"/>
              <a:ea typeface="ＭＳ Ｐゴシック" charset="0"/>
              <a:cs typeface="ＭＳ Ｐゴシック" charset="0"/>
            </a:endParaRPr>
          </a:p>
          <a:p>
            <a:pPr marL="0" indent="0" eaLnBrk="1" hangingPunct="1">
              <a:buNone/>
            </a:pPr>
            <a:endParaRPr lang="en-AU" sz="2800" dirty="0" smtClean="0">
              <a:latin typeface="Arial" charset="0"/>
              <a:ea typeface="ＭＳ Ｐゴシック" charset="0"/>
              <a:cs typeface="ＭＳ Ｐゴシック" charset="0"/>
            </a:endParaRPr>
          </a:p>
          <a:p>
            <a:pPr marL="0" indent="0">
              <a:buNone/>
            </a:pPr>
            <a:r>
              <a:rPr lang="en-AU" sz="2400" dirty="0">
                <a:latin typeface="Arial" charset="0"/>
                <a:ea typeface="ＭＳ Ｐゴシック" charset="0"/>
                <a:cs typeface="ＭＳ Ｐゴシック" charset="0"/>
                <a:hlinkClick r:id="rId3"/>
              </a:rPr>
              <a:t>http://www.ams.org/notices/200307/comm-</a:t>
            </a:r>
            <a:r>
              <a:rPr lang="en-AU" sz="2400" dirty="0" smtClean="0">
                <a:latin typeface="Arial" charset="0"/>
                <a:ea typeface="ＭＳ Ｐゴシック" charset="0"/>
                <a:cs typeface="ＭＳ Ｐゴシック" charset="0"/>
                <a:hlinkClick r:id="rId3"/>
              </a:rPr>
              <a:t>turing.pdf</a:t>
            </a:r>
            <a:r>
              <a:rPr lang="en-AU" sz="2400" dirty="0" smtClean="0">
                <a:latin typeface="Arial" charset="0"/>
                <a:ea typeface="ＭＳ Ｐゴシック" charset="0"/>
                <a:cs typeface="ＭＳ Ｐゴシック" charset="0"/>
              </a:rPr>
              <a:t> </a:t>
            </a:r>
            <a:endParaRPr lang="en-AU" sz="2400"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963583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atin typeface="Arial" charset="0"/>
                <a:ea typeface="ＭＳ Ｐゴシック" charset="0"/>
                <a:cs typeface="ＭＳ Ｐゴシック" charset="0"/>
              </a:rPr>
              <a:t>RSA En/decryption</a:t>
            </a:r>
            <a:endParaRPr lang="en-AU">
              <a:latin typeface="Arial" charset="0"/>
              <a:ea typeface="ＭＳ Ｐゴシック" charset="0"/>
              <a:cs typeface="ＭＳ Ｐゴシック" charset="0"/>
            </a:endParaRPr>
          </a:p>
        </p:txBody>
      </p:sp>
      <p:sp>
        <p:nvSpPr>
          <p:cNvPr id="66563" name="Rectangle 3"/>
          <p:cNvSpPr>
            <a:spLocks noGrp="1" noChangeArrowheads="1"/>
          </p:cNvSpPr>
          <p:nvPr>
            <p:ph type="body" idx="1"/>
          </p:nvPr>
        </p:nvSpPr>
        <p:spPr/>
        <p:txBody>
          <a:bodyPr/>
          <a:lstStyle/>
          <a:p>
            <a:pPr eaLnBrk="1" hangingPunct="1"/>
            <a:r>
              <a:rPr lang="en-AU" dirty="0">
                <a:latin typeface="Arial" charset="0"/>
                <a:ea typeface="ＭＳ Ｐゴシック" charset="0"/>
                <a:cs typeface="ＭＳ Ｐゴシック" charset="0"/>
              </a:rPr>
              <a:t>to encrypt a message M the sender:</a:t>
            </a:r>
          </a:p>
          <a:p>
            <a:pPr lvl="1" eaLnBrk="1" hangingPunct="1"/>
            <a:r>
              <a:rPr lang="en-AU" dirty="0">
                <a:latin typeface="Arial" charset="0"/>
                <a:ea typeface="ＭＳ Ｐゴシック" charset="0"/>
              </a:rPr>
              <a:t>obtains </a:t>
            </a:r>
            <a:r>
              <a:rPr lang="en-AU" b="1" dirty="0">
                <a:latin typeface="Arial" charset="0"/>
                <a:ea typeface="ＭＳ Ｐゴシック" charset="0"/>
              </a:rPr>
              <a:t>public key</a:t>
            </a:r>
            <a:r>
              <a:rPr lang="en-AU" dirty="0">
                <a:latin typeface="Arial" charset="0"/>
                <a:ea typeface="ＭＳ Ｐゴシック" charset="0"/>
              </a:rPr>
              <a:t> of recipient </a:t>
            </a:r>
            <a:r>
              <a:rPr lang="en-AU" dirty="0">
                <a:latin typeface="Courier New" charset="0"/>
                <a:ea typeface="ＭＳ Ｐゴシック" charset="0"/>
              </a:rPr>
              <a:t>PU={</a:t>
            </a:r>
            <a:r>
              <a:rPr lang="en-AU" dirty="0" err="1">
                <a:latin typeface="Courier New" charset="0"/>
                <a:ea typeface="ＭＳ Ｐゴシック" charset="0"/>
              </a:rPr>
              <a:t>e,n</a:t>
            </a:r>
            <a:r>
              <a:rPr lang="en-AU" dirty="0">
                <a:latin typeface="Courier New" charset="0"/>
                <a:ea typeface="ＭＳ Ｐゴシック" charset="0"/>
              </a:rPr>
              <a:t>}</a:t>
            </a:r>
            <a:r>
              <a:rPr lang="en-AU" dirty="0">
                <a:latin typeface="Arial" charset="0"/>
                <a:ea typeface="ＭＳ Ｐゴシック" charset="0"/>
              </a:rPr>
              <a:t> </a:t>
            </a:r>
          </a:p>
          <a:p>
            <a:pPr lvl="1" eaLnBrk="1" hangingPunct="1"/>
            <a:r>
              <a:rPr lang="en-AU" dirty="0">
                <a:latin typeface="Arial" charset="0"/>
                <a:ea typeface="ＭＳ Ｐゴシック" charset="0"/>
              </a:rPr>
              <a:t>computes: </a:t>
            </a:r>
            <a:r>
              <a:rPr lang="en-AU" dirty="0">
                <a:latin typeface="Courier New" charset="0"/>
                <a:ea typeface="ＭＳ Ｐゴシック" charset="0"/>
              </a:rPr>
              <a:t>C = M</a:t>
            </a:r>
            <a:r>
              <a:rPr lang="en-AU" baseline="30000" dirty="0">
                <a:latin typeface="Courier New" charset="0"/>
                <a:ea typeface="ＭＳ Ｐゴシック" charset="0"/>
              </a:rPr>
              <a:t>e</a:t>
            </a:r>
            <a:r>
              <a:rPr lang="en-AU" dirty="0">
                <a:latin typeface="Courier New" charset="0"/>
                <a:ea typeface="ＭＳ Ｐゴシック" charset="0"/>
              </a:rPr>
              <a:t> mod n</a:t>
            </a:r>
            <a:r>
              <a:rPr lang="en-AU" dirty="0">
                <a:latin typeface="Arial" charset="0"/>
                <a:ea typeface="ＭＳ Ｐゴシック" charset="0"/>
              </a:rPr>
              <a:t>, where </a:t>
            </a:r>
            <a:r>
              <a:rPr lang="en-AU" dirty="0">
                <a:latin typeface="Courier New" charset="0"/>
                <a:ea typeface="ＭＳ Ｐゴシック" charset="0"/>
              </a:rPr>
              <a:t>0</a:t>
            </a:r>
            <a:r>
              <a:rPr lang="en-AU" dirty="0">
                <a:latin typeface="Courier New" charset="0"/>
                <a:ea typeface="ＭＳ Ｐゴシック" charset="0"/>
                <a:cs typeface="Courier New" charset="0"/>
              </a:rPr>
              <a:t>≤</a:t>
            </a:r>
            <a:r>
              <a:rPr lang="en-AU" dirty="0">
                <a:latin typeface="Courier New" charset="0"/>
                <a:ea typeface="ＭＳ Ｐゴシック" charset="0"/>
              </a:rPr>
              <a:t>M</a:t>
            </a:r>
            <a:r>
              <a:rPr lang="en-AU" dirty="0">
                <a:latin typeface="Courier New" charset="0"/>
                <a:ea typeface="ＭＳ Ｐゴシック" charset="0"/>
                <a:cs typeface="Courier New" charset="0"/>
              </a:rPr>
              <a:t>&lt;</a:t>
            </a:r>
            <a:r>
              <a:rPr lang="en-AU" dirty="0">
                <a:latin typeface="Courier New" charset="0"/>
                <a:ea typeface="ＭＳ Ｐゴシック" charset="0"/>
              </a:rPr>
              <a:t>n</a:t>
            </a:r>
            <a:endParaRPr lang="en-AU" dirty="0">
              <a:latin typeface="Arial" charset="0"/>
              <a:ea typeface="ＭＳ Ｐゴシック" charset="0"/>
            </a:endParaRPr>
          </a:p>
          <a:p>
            <a:pPr eaLnBrk="1" hangingPunct="1"/>
            <a:r>
              <a:rPr lang="en-AU" dirty="0">
                <a:latin typeface="Arial" charset="0"/>
                <a:ea typeface="ＭＳ Ｐゴシック" charset="0"/>
                <a:cs typeface="ＭＳ Ｐゴシック" charset="0"/>
              </a:rPr>
              <a:t>to decrypt the </a:t>
            </a:r>
            <a:r>
              <a:rPr lang="en-AU" dirty="0" err="1">
                <a:latin typeface="Arial" charset="0"/>
                <a:ea typeface="ＭＳ Ｐゴシック" charset="0"/>
                <a:cs typeface="ＭＳ Ｐゴシック" charset="0"/>
              </a:rPr>
              <a:t>ciphertext</a:t>
            </a:r>
            <a:r>
              <a:rPr lang="en-AU" dirty="0">
                <a:latin typeface="Arial" charset="0"/>
                <a:ea typeface="ＭＳ Ｐゴシック" charset="0"/>
                <a:cs typeface="ＭＳ Ｐゴシック" charset="0"/>
              </a:rPr>
              <a:t> C the owner:</a:t>
            </a:r>
          </a:p>
          <a:p>
            <a:pPr lvl="1" eaLnBrk="1" hangingPunct="1"/>
            <a:r>
              <a:rPr lang="en-AU" dirty="0">
                <a:latin typeface="Arial" charset="0"/>
                <a:ea typeface="ＭＳ Ｐゴシック" charset="0"/>
              </a:rPr>
              <a:t>uses their private key </a:t>
            </a:r>
            <a:r>
              <a:rPr lang="en-AU" dirty="0">
                <a:latin typeface="Courier New" charset="0"/>
                <a:ea typeface="ＭＳ Ｐゴシック" charset="0"/>
              </a:rPr>
              <a:t>PR={</a:t>
            </a:r>
            <a:r>
              <a:rPr lang="en-AU" dirty="0" err="1">
                <a:latin typeface="Courier New" charset="0"/>
                <a:ea typeface="ＭＳ Ｐゴシック" charset="0"/>
              </a:rPr>
              <a:t>d,n</a:t>
            </a:r>
            <a:r>
              <a:rPr lang="en-AU" dirty="0">
                <a:latin typeface="Courier New" charset="0"/>
                <a:ea typeface="ＭＳ Ｐゴシック" charset="0"/>
              </a:rPr>
              <a:t>}</a:t>
            </a:r>
            <a:r>
              <a:rPr lang="en-AU" dirty="0">
                <a:latin typeface="Arial" charset="0"/>
                <a:ea typeface="ＭＳ Ｐゴシック" charset="0"/>
              </a:rPr>
              <a:t> </a:t>
            </a:r>
          </a:p>
          <a:p>
            <a:pPr lvl="1" eaLnBrk="1" hangingPunct="1"/>
            <a:r>
              <a:rPr lang="en-AU" dirty="0">
                <a:latin typeface="Arial" charset="0"/>
                <a:ea typeface="ＭＳ Ｐゴシック" charset="0"/>
              </a:rPr>
              <a:t>computes: </a:t>
            </a:r>
            <a:r>
              <a:rPr lang="en-AU" dirty="0">
                <a:latin typeface="Courier New" charset="0"/>
                <a:ea typeface="ＭＳ Ｐゴシック" charset="0"/>
              </a:rPr>
              <a:t>M = C</a:t>
            </a:r>
            <a:r>
              <a:rPr lang="en-AU" baseline="30000" dirty="0">
                <a:latin typeface="Courier New" charset="0"/>
                <a:ea typeface="ＭＳ Ｐゴシック" charset="0"/>
              </a:rPr>
              <a:t>d</a:t>
            </a:r>
            <a:r>
              <a:rPr lang="en-AU" dirty="0">
                <a:latin typeface="Courier New" charset="0"/>
                <a:ea typeface="ＭＳ Ｐゴシック" charset="0"/>
              </a:rPr>
              <a:t> mod n</a:t>
            </a:r>
            <a:r>
              <a:rPr lang="en-AU" dirty="0">
                <a:latin typeface="Arial" charset="0"/>
                <a:ea typeface="ＭＳ Ｐゴシック" charset="0"/>
              </a:rPr>
              <a:t> </a:t>
            </a:r>
          </a:p>
          <a:p>
            <a:pPr eaLnBrk="1" hangingPunct="1"/>
            <a:r>
              <a:rPr lang="en-US" dirty="0">
                <a:latin typeface="Arial" charset="0"/>
                <a:ea typeface="ＭＳ Ｐゴシック" charset="0"/>
                <a:cs typeface="ＭＳ Ｐゴシック" charset="0"/>
              </a:rPr>
              <a:t>note that the message M must be smaller than the modulus n (block if needed)</a:t>
            </a:r>
            <a:endParaRPr lang="en-AU" dirty="0">
              <a:latin typeface="Arial" charset="0"/>
              <a:ea typeface="ＭＳ Ｐゴシック" charset="0"/>
              <a:cs typeface="ＭＳ Ｐゴシック" charset="0"/>
            </a:endParaRPr>
          </a:p>
        </p:txBody>
      </p:sp>
    </p:spTree>
    <p:extLst>
      <p:ext uri="{BB962C8B-B14F-4D97-AF65-F5344CB8AC3E}">
        <p14:creationId xmlns:p14="http://schemas.microsoft.com/office/powerpoint/2010/main" val="791671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AU">
                <a:latin typeface="Arial" charset="0"/>
                <a:ea typeface="ＭＳ Ｐゴシック" charset="0"/>
                <a:cs typeface="ＭＳ Ｐゴシック" charset="0"/>
              </a:rPr>
              <a:t>RSA Example - Key Setup</a:t>
            </a:r>
          </a:p>
        </p:txBody>
      </p:sp>
      <p:sp>
        <p:nvSpPr>
          <p:cNvPr id="69635" name="Rectangle 3"/>
          <p:cNvSpPr>
            <a:spLocks noGrp="1" noChangeArrowheads="1"/>
          </p:cNvSpPr>
          <p:nvPr>
            <p:ph type="body" idx="1"/>
          </p:nvPr>
        </p:nvSpPr>
        <p:spPr>
          <a:xfrm>
            <a:off x="457200" y="1676400"/>
            <a:ext cx="8382000" cy="4454525"/>
          </a:xfrm>
        </p:spPr>
        <p:txBody>
          <a:bodyPr/>
          <a:lstStyle/>
          <a:p>
            <a:pPr marL="609600" indent="-609600" eaLnBrk="1" hangingPunct="1">
              <a:lnSpc>
                <a:spcPct val="90000"/>
              </a:lnSpc>
              <a:buFontTx/>
              <a:buAutoNum type="arabicPeriod"/>
            </a:pPr>
            <a:r>
              <a:rPr lang="en-AU" sz="2800">
                <a:latin typeface="Arial" charset="0"/>
                <a:ea typeface="ＭＳ Ｐゴシック" charset="0"/>
                <a:cs typeface="ＭＳ Ｐゴシック" charset="0"/>
              </a:rPr>
              <a:t>Select primes: </a:t>
            </a:r>
            <a:r>
              <a:rPr lang="en-AU" sz="2800" i="1">
                <a:latin typeface="Courier New" charset="0"/>
                <a:ea typeface="ＭＳ Ｐゴシック" charset="0"/>
                <a:cs typeface="ＭＳ Ｐゴシック" charset="0"/>
              </a:rPr>
              <a:t>p</a:t>
            </a:r>
            <a:r>
              <a:rPr lang="en-AU" sz="2800">
                <a:latin typeface="Courier New" charset="0"/>
                <a:ea typeface="ＭＳ Ｐゴシック" charset="0"/>
                <a:cs typeface="ＭＳ Ｐゴシック" charset="0"/>
              </a:rPr>
              <a:t>=17 &amp; </a:t>
            </a:r>
            <a:r>
              <a:rPr lang="en-AU" sz="2800" i="1">
                <a:latin typeface="Courier New" charset="0"/>
                <a:ea typeface="ＭＳ Ｐゴシック" charset="0"/>
                <a:cs typeface="ＭＳ Ｐゴシック" charset="0"/>
              </a:rPr>
              <a:t>q</a:t>
            </a:r>
            <a:r>
              <a:rPr lang="en-AU" sz="2800">
                <a:latin typeface="Courier New" charset="0"/>
                <a:ea typeface="ＭＳ Ｐゴシック" charset="0"/>
                <a:cs typeface="ＭＳ Ｐゴシック" charset="0"/>
              </a:rPr>
              <a:t>=11</a:t>
            </a:r>
            <a:endParaRPr lang="en-AU" sz="2800">
              <a:latin typeface="Arial" charset="0"/>
              <a:ea typeface="ＭＳ Ｐゴシック" charset="0"/>
              <a:cs typeface="ＭＳ Ｐゴシック" charset="0"/>
            </a:endParaRPr>
          </a:p>
          <a:p>
            <a:pPr marL="609600" indent="-609600" eaLnBrk="1" hangingPunct="1">
              <a:lnSpc>
                <a:spcPct val="90000"/>
              </a:lnSpc>
              <a:buFontTx/>
              <a:buAutoNum type="arabicPeriod"/>
            </a:pPr>
            <a:r>
              <a:rPr lang="en-US" sz="2800">
                <a:latin typeface="Arial" charset="0"/>
                <a:ea typeface="ＭＳ Ｐゴシック" charset="0"/>
                <a:cs typeface="ＭＳ Ｐゴシック" charset="0"/>
              </a:rPr>
              <a:t>Calculate	</a:t>
            </a:r>
            <a:r>
              <a:rPr lang="en-AU" sz="2800" i="1">
                <a:latin typeface="Courier New" charset="0"/>
                <a:ea typeface="ＭＳ Ｐゴシック" charset="0"/>
                <a:cs typeface="ＭＳ Ｐゴシック" charset="0"/>
              </a:rPr>
              <a:t>n </a:t>
            </a:r>
            <a:r>
              <a:rPr lang="en-AU" sz="2800">
                <a:latin typeface="Courier New" charset="0"/>
                <a:ea typeface="ＭＳ Ｐゴシック" charset="0"/>
                <a:cs typeface="ＭＳ Ｐゴシック" charset="0"/>
              </a:rPr>
              <a:t>= </a:t>
            </a:r>
            <a:r>
              <a:rPr lang="en-AU" sz="2800" i="1">
                <a:latin typeface="Courier New" charset="0"/>
                <a:ea typeface="ＭＳ Ｐゴシック" charset="0"/>
                <a:cs typeface="ＭＳ Ｐゴシック" charset="0"/>
              </a:rPr>
              <a:t>pq </a:t>
            </a:r>
            <a:r>
              <a:rPr lang="en-AU" sz="2800">
                <a:latin typeface="Courier New" charset="0"/>
                <a:ea typeface="ＭＳ Ｐゴシック" charset="0"/>
                <a:cs typeface="ＭＳ Ｐゴシック" charset="0"/>
              </a:rPr>
              <a:t>=17</a:t>
            </a:r>
            <a:r>
              <a:rPr lang="en-US" sz="2800">
                <a:latin typeface="Courier New" charset="0"/>
                <a:ea typeface="ＭＳ Ｐゴシック" charset="0"/>
                <a:cs typeface="Arial" charset="0"/>
              </a:rPr>
              <a:t> x </a:t>
            </a:r>
            <a:r>
              <a:rPr lang="en-AU" sz="2800">
                <a:latin typeface="Courier New" charset="0"/>
                <a:ea typeface="ＭＳ Ｐゴシック" charset="0"/>
                <a:cs typeface="ＭＳ Ｐゴシック" charset="0"/>
              </a:rPr>
              <a:t>11=187</a:t>
            </a:r>
          </a:p>
          <a:p>
            <a:pPr marL="609600" indent="-609600" eaLnBrk="1" hangingPunct="1">
              <a:lnSpc>
                <a:spcPct val="90000"/>
              </a:lnSpc>
              <a:buFontTx/>
              <a:buAutoNum type="arabicPeriod"/>
            </a:pPr>
            <a:r>
              <a:rPr lang="en-US" sz="2800">
                <a:latin typeface="Arial" charset="0"/>
                <a:ea typeface="ＭＳ Ｐゴシック" charset="0"/>
                <a:cs typeface="ＭＳ Ｐゴシック" charset="0"/>
              </a:rPr>
              <a:t>Calculate	</a:t>
            </a:r>
            <a:r>
              <a:rPr lang="en-AU" sz="2800">
                <a:latin typeface="Courier New" charset="0"/>
                <a:ea typeface="ＭＳ Ｐゴシック" charset="0"/>
                <a:cs typeface="ＭＳ Ｐゴシック" charset="0"/>
              </a:rPr>
              <a:t>ø(</a:t>
            </a:r>
            <a:r>
              <a:rPr lang="en-AU" sz="2800" i="1">
                <a:latin typeface="Courier New" charset="0"/>
                <a:ea typeface="ＭＳ Ｐゴシック" charset="0"/>
                <a:cs typeface="ＭＳ Ｐゴシック" charset="0"/>
              </a:rPr>
              <a:t>n</a:t>
            </a:r>
            <a:r>
              <a:rPr lang="en-AU" sz="2800">
                <a:latin typeface="Courier New" charset="0"/>
                <a:ea typeface="ＭＳ Ｐゴシック" charset="0"/>
                <a:cs typeface="ＭＳ Ｐゴシック" charset="0"/>
              </a:rPr>
              <a:t>)=(</a:t>
            </a:r>
            <a:r>
              <a:rPr lang="en-AU" sz="2800" i="1">
                <a:latin typeface="Courier New" charset="0"/>
                <a:ea typeface="ＭＳ Ｐゴシック" charset="0"/>
                <a:cs typeface="ＭＳ Ｐゴシック" charset="0"/>
              </a:rPr>
              <a:t>p–</a:t>
            </a:r>
            <a:r>
              <a:rPr lang="en-AU" sz="2800">
                <a:latin typeface="Courier New" charset="0"/>
                <a:ea typeface="ＭＳ Ｐゴシック" charset="0"/>
                <a:cs typeface="ＭＳ Ｐゴシック" charset="0"/>
              </a:rPr>
              <a:t>1)(</a:t>
            </a:r>
            <a:r>
              <a:rPr lang="en-AU" sz="2800" i="1">
                <a:latin typeface="Courier New" charset="0"/>
                <a:ea typeface="ＭＳ Ｐゴシック" charset="0"/>
                <a:cs typeface="ＭＳ Ｐゴシック" charset="0"/>
              </a:rPr>
              <a:t>q-</a:t>
            </a:r>
            <a:r>
              <a:rPr lang="en-AU" sz="2800">
                <a:latin typeface="Courier New" charset="0"/>
                <a:ea typeface="ＭＳ Ｐゴシック" charset="0"/>
                <a:cs typeface="ＭＳ Ｐゴシック" charset="0"/>
              </a:rPr>
              <a:t>1)=16</a:t>
            </a:r>
            <a:r>
              <a:rPr lang="en-US" sz="2800">
                <a:latin typeface="Courier New" charset="0"/>
                <a:ea typeface="ＭＳ Ｐゴシック" charset="0"/>
                <a:cs typeface="Arial" charset="0"/>
              </a:rPr>
              <a:t>x</a:t>
            </a:r>
            <a:r>
              <a:rPr lang="en-AU" sz="2800">
                <a:latin typeface="Courier New" charset="0"/>
                <a:ea typeface="ＭＳ Ｐゴシック" charset="0"/>
                <a:cs typeface="ＭＳ Ｐゴシック" charset="0"/>
              </a:rPr>
              <a:t>10=160</a:t>
            </a:r>
          </a:p>
          <a:p>
            <a:pPr marL="609600" indent="-609600" eaLnBrk="1" hangingPunct="1">
              <a:lnSpc>
                <a:spcPct val="90000"/>
              </a:lnSpc>
              <a:buFontTx/>
              <a:buAutoNum type="arabicPeriod"/>
            </a:pPr>
            <a:r>
              <a:rPr lang="en-AU" sz="2800">
                <a:latin typeface="Arial" charset="0"/>
                <a:ea typeface="ＭＳ Ｐゴシック" charset="0"/>
                <a:cs typeface="ＭＳ Ｐゴシック" charset="0"/>
              </a:rPr>
              <a:t>Select </a:t>
            </a:r>
            <a:r>
              <a:rPr lang="en-AU" sz="2800">
                <a:latin typeface="Courier New" charset="0"/>
                <a:ea typeface="ＭＳ Ｐゴシック" charset="0"/>
                <a:cs typeface="ＭＳ Ｐゴシック" charset="0"/>
              </a:rPr>
              <a:t>e</a:t>
            </a:r>
            <a:r>
              <a:rPr lang="en-AU" sz="2800">
                <a:latin typeface="Arial" charset="0"/>
                <a:ea typeface="ＭＳ Ｐゴシック" charset="0"/>
                <a:cs typeface="ＭＳ Ｐゴシック" charset="0"/>
              </a:rPr>
              <a:t>:</a:t>
            </a:r>
            <a:r>
              <a:rPr lang="en-AU" sz="2800" i="1">
                <a:latin typeface="Arial" charset="0"/>
                <a:ea typeface="ＭＳ Ｐゴシック" charset="0"/>
                <a:cs typeface="ＭＳ Ｐゴシック" charset="0"/>
              </a:rPr>
              <a:t> </a:t>
            </a:r>
            <a:r>
              <a:rPr lang="en-AU" sz="2800">
                <a:latin typeface="Courier New" charset="0"/>
                <a:ea typeface="ＭＳ Ｐゴシック" charset="0"/>
                <a:cs typeface="ＭＳ Ｐゴシック" charset="0"/>
              </a:rPr>
              <a:t>gcd(e,160)=1; </a:t>
            </a:r>
            <a:r>
              <a:rPr lang="en-AU" sz="2800">
                <a:latin typeface="Arial" charset="0"/>
                <a:ea typeface="ＭＳ Ｐゴシック" charset="0"/>
                <a:cs typeface="ＭＳ Ｐゴシック" charset="0"/>
              </a:rPr>
              <a:t>choose </a:t>
            </a:r>
            <a:r>
              <a:rPr lang="en-AU" sz="2800" i="1">
                <a:latin typeface="Courier New" charset="0"/>
                <a:ea typeface="ＭＳ Ｐゴシック" charset="0"/>
                <a:cs typeface="ＭＳ Ｐゴシック" charset="0"/>
              </a:rPr>
              <a:t>e</a:t>
            </a:r>
            <a:r>
              <a:rPr lang="en-AU" sz="2800">
                <a:latin typeface="Courier New" charset="0"/>
                <a:ea typeface="ＭＳ Ｐゴシック" charset="0"/>
                <a:cs typeface="ＭＳ Ｐゴシック" charset="0"/>
              </a:rPr>
              <a:t>=7</a:t>
            </a:r>
            <a:endParaRPr lang="en-AU" sz="2800">
              <a:latin typeface="Arial" charset="0"/>
              <a:ea typeface="ＭＳ Ｐゴシック" charset="0"/>
              <a:cs typeface="ＭＳ Ｐゴシック" charset="0"/>
            </a:endParaRPr>
          </a:p>
          <a:p>
            <a:pPr marL="609600" indent="-609600" eaLnBrk="1" hangingPunct="1">
              <a:lnSpc>
                <a:spcPct val="90000"/>
              </a:lnSpc>
              <a:buFontTx/>
              <a:buAutoNum type="arabicPeriod"/>
            </a:pPr>
            <a:r>
              <a:rPr lang="en-AU" sz="2800">
                <a:latin typeface="Arial" charset="0"/>
                <a:ea typeface="ＭＳ Ｐゴシック" charset="0"/>
                <a:cs typeface="ＭＳ Ｐゴシック" charset="0"/>
              </a:rPr>
              <a:t>Determine </a:t>
            </a:r>
            <a:r>
              <a:rPr lang="en-AU" sz="2800">
                <a:latin typeface="Courier New" charset="0"/>
                <a:ea typeface="ＭＳ Ｐゴシック" charset="0"/>
                <a:cs typeface="ＭＳ Ｐゴシック" charset="0"/>
              </a:rPr>
              <a:t>d</a:t>
            </a:r>
            <a:r>
              <a:rPr lang="en-AU" sz="2800">
                <a:latin typeface="Arial" charset="0"/>
                <a:ea typeface="ＭＳ Ｐゴシック" charset="0"/>
                <a:cs typeface="ＭＳ Ｐゴシック" charset="0"/>
              </a:rPr>
              <a:t>:</a:t>
            </a:r>
            <a:r>
              <a:rPr lang="en-AU" sz="2800" i="1">
                <a:latin typeface="Arial" charset="0"/>
                <a:ea typeface="ＭＳ Ｐゴシック" charset="0"/>
                <a:cs typeface="ＭＳ Ｐゴシック" charset="0"/>
              </a:rPr>
              <a:t> </a:t>
            </a:r>
            <a:r>
              <a:rPr lang="en-AU" sz="2800" i="1">
                <a:latin typeface="Courier New" charset="0"/>
                <a:ea typeface="ＭＳ Ｐゴシック" charset="0"/>
                <a:cs typeface="ＭＳ Ｐゴシック" charset="0"/>
              </a:rPr>
              <a:t>de=</a:t>
            </a:r>
            <a:r>
              <a:rPr lang="en-AU" sz="2800">
                <a:latin typeface="Courier New" charset="0"/>
                <a:ea typeface="ＭＳ Ｐゴシック" charset="0"/>
                <a:cs typeface="ＭＳ Ｐゴシック" charset="0"/>
              </a:rPr>
              <a:t>1 mod 160</a:t>
            </a:r>
            <a:r>
              <a:rPr lang="en-AU" sz="2800">
                <a:latin typeface="Arial" charset="0"/>
                <a:ea typeface="ＭＳ Ｐゴシック" charset="0"/>
                <a:cs typeface="ＭＳ Ｐゴシック" charset="0"/>
              </a:rPr>
              <a:t> and </a:t>
            </a:r>
            <a:r>
              <a:rPr lang="en-AU" sz="2800" i="1">
                <a:latin typeface="Courier New" charset="0"/>
                <a:ea typeface="ＭＳ Ｐゴシック" charset="0"/>
                <a:cs typeface="ＭＳ Ｐゴシック" charset="0"/>
              </a:rPr>
              <a:t>d </a:t>
            </a:r>
            <a:r>
              <a:rPr lang="en-AU" sz="2800">
                <a:latin typeface="Courier New" charset="0"/>
                <a:ea typeface="ＭＳ Ｐゴシック" charset="0"/>
                <a:cs typeface="ＭＳ Ｐゴシック" charset="0"/>
              </a:rPr>
              <a:t>&lt; 160</a:t>
            </a:r>
            <a:r>
              <a:rPr lang="en-AU" sz="2800">
                <a:latin typeface="Arial" charset="0"/>
                <a:ea typeface="ＭＳ Ｐゴシック" charset="0"/>
                <a:cs typeface="ＭＳ Ｐゴシック" charset="0"/>
              </a:rPr>
              <a:t> Value is </a:t>
            </a:r>
            <a:r>
              <a:rPr lang="en-AU" sz="2800">
                <a:latin typeface="Courier New" charset="0"/>
                <a:ea typeface="ＭＳ Ｐゴシック" charset="0"/>
                <a:cs typeface="ＭＳ Ｐゴシック" charset="0"/>
              </a:rPr>
              <a:t>d=23</a:t>
            </a:r>
            <a:r>
              <a:rPr lang="en-AU" sz="2800">
                <a:latin typeface="Arial" charset="0"/>
                <a:ea typeface="ＭＳ Ｐゴシック" charset="0"/>
                <a:cs typeface="ＭＳ Ｐゴシック" charset="0"/>
              </a:rPr>
              <a:t> since </a:t>
            </a:r>
            <a:r>
              <a:rPr lang="en-AU" sz="2800">
                <a:latin typeface="Courier New" charset="0"/>
                <a:ea typeface="ＭＳ Ｐゴシック" charset="0"/>
                <a:cs typeface="ＭＳ Ｐゴシック" charset="0"/>
              </a:rPr>
              <a:t>23</a:t>
            </a:r>
            <a:r>
              <a:rPr lang="en-US" sz="2800">
                <a:latin typeface="Courier New" charset="0"/>
                <a:ea typeface="ＭＳ Ｐゴシック" charset="0"/>
                <a:cs typeface="Arial" charset="0"/>
              </a:rPr>
              <a:t>x</a:t>
            </a:r>
            <a:r>
              <a:rPr lang="en-AU" sz="2800">
                <a:latin typeface="Courier New" charset="0"/>
                <a:ea typeface="ＭＳ Ｐゴシック" charset="0"/>
                <a:cs typeface="ＭＳ Ｐゴシック" charset="0"/>
              </a:rPr>
              <a:t>7=161= 10</a:t>
            </a:r>
            <a:r>
              <a:rPr lang="en-US" sz="2800">
                <a:latin typeface="Courier New" charset="0"/>
                <a:ea typeface="ＭＳ Ｐゴシック" charset="0"/>
                <a:cs typeface="Arial" charset="0"/>
              </a:rPr>
              <a:t>x</a:t>
            </a:r>
            <a:r>
              <a:rPr lang="en-AU" sz="2800">
                <a:latin typeface="Courier New" charset="0"/>
                <a:ea typeface="ＭＳ Ｐゴシック" charset="0"/>
                <a:cs typeface="ＭＳ Ｐゴシック" charset="0"/>
              </a:rPr>
              <a:t>160+1</a:t>
            </a:r>
          </a:p>
          <a:p>
            <a:pPr marL="609600" indent="-609600" eaLnBrk="1" hangingPunct="1">
              <a:lnSpc>
                <a:spcPct val="90000"/>
              </a:lnSpc>
              <a:buFontTx/>
              <a:buAutoNum type="arabicPeriod"/>
            </a:pPr>
            <a:r>
              <a:rPr lang="en-US" sz="2800">
                <a:latin typeface="Arial" charset="0"/>
                <a:ea typeface="ＭＳ Ｐゴシック" charset="0"/>
                <a:cs typeface="ＭＳ Ｐゴシック" charset="0"/>
              </a:rPr>
              <a:t>Publish public key </a:t>
            </a:r>
            <a:r>
              <a:rPr lang="en-US" sz="2800">
                <a:latin typeface="Courier New" charset="0"/>
                <a:ea typeface="ＭＳ Ｐゴシック" charset="0"/>
                <a:cs typeface="ＭＳ Ｐゴシック" charset="0"/>
              </a:rPr>
              <a:t>PU={7,187}</a:t>
            </a:r>
          </a:p>
          <a:p>
            <a:pPr marL="609600" indent="-609600" eaLnBrk="1" hangingPunct="1">
              <a:lnSpc>
                <a:spcPct val="90000"/>
              </a:lnSpc>
              <a:buFontTx/>
              <a:buAutoNum type="arabicPeriod"/>
            </a:pPr>
            <a:r>
              <a:rPr lang="en-US" sz="2800">
                <a:latin typeface="Arial" charset="0"/>
                <a:ea typeface="ＭＳ Ｐゴシック" charset="0"/>
                <a:cs typeface="ＭＳ Ｐゴシック" charset="0"/>
              </a:rPr>
              <a:t>Keep secret private key </a:t>
            </a:r>
            <a:r>
              <a:rPr lang="en-US" sz="2800">
                <a:latin typeface="Courier New" charset="0"/>
                <a:ea typeface="ＭＳ Ｐゴシック" charset="0"/>
                <a:cs typeface="ＭＳ Ｐゴシック" charset="0"/>
              </a:rPr>
              <a:t>PR={23,</a:t>
            </a:r>
            <a:r>
              <a:rPr lang="en-AU" sz="2800">
                <a:latin typeface="Courier New" charset="0"/>
                <a:ea typeface="ＭＳ Ｐゴシック" charset="0"/>
                <a:cs typeface="ＭＳ Ｐゴシック" charset="0"/>
              </a:rPr>
              <a:t>187}</a:t>
            </a:r>
          </a:p>
          <a:p>
            <a:pPr marL="609600" indent="-609600" eaLnBrk="1" hangingPunct="1">
              <a:lnSpc>
                <a:spcPct val="90000"/>
              </a:lnSpc>
            </a:pPr>
            <a:endParaRPr lang="en-AU" sz="2800">
              <a:latin typeface="Arial" charset="0"/>
              <a:ea typeface="ＭＳ Ｐゴシック" charset="0"/>
              <a:cs typeface="ＭＳ Ｐゴシック" charset="0"/>
            </a:endParaRPr>
          </a:p>
        </p:txBody>
      </p:sp>
    </p:spTree>
    <p:extLst>
      <p:ext uri="{BB962C8B-B14F-4D97-AF65-F5344CB8AC3E}">
        <p14:creationId xmlns:p14="http://schemas.microsoft.com/office/powerpoint/2010/main" val="3166686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AU">
                <a:latin typeface="Arial" charset="0"/>
                <a:ea typeface="ＭＳ Ｐゴシック" charset="0"/>
                <a:cs typeface="ＭＳ Ｐゴシック" charset="0"/>
              </a:rPr>
              <a:t>RSA Example - En/Decryption</a:t>
            </a:r>
          </a:p>
        </p:txBody>
      </p:sp>
      <p:sp>
        <p:nvSpPr>
          <p:cNvPr id="71683" name="Rectangle 3"/>
          <p:cNvSpPr>
            <a:spLocks noGrp="1" noChangeArrowheads="1"/>
          </p:cNvSpPr>
          <p:nvPr>
            <p:ph type="body" idx="1"/>
          </p:nvPr>
        </p:nvSpPr>
        <p:spPr/>
        <p:txBody>
          <a:bodyPr/>
          <a:lstStyle/>
          <a:p>
            <a:pPr eaLnBrk="1" hangingPunct="1"/>
            <a:r>
              <a:rPr lang="en-AU">
                <a:latin typeface="Arial" charset="0"/>
                <a:ea typeface="ＭＳ Ｐゴシック" charset="0"/>
                <a:cs typeface="ＭＳ Ｐゴシック" charset="0"/>
              </a:rPr>
              <a:t>sample RSA encryption/decryption is: </a:t>
            </a:r>
          </a:p>
          <a:p>
            <a:pPr eaLnBrk="1" hangingPunct="1"/>
            <a:r>
              <a:rPr lang="en-AU">
                <a:latin typeface="Arial" charset="0"/>
                <a:ea typeface="ＭＳ Ｐゴシック" charset="0"/>
                <a:cs typeface="ＭＳ Ｐゴシック" charset="0"/>
              </a:rPr>
              <a:t>given message </a:t>
            </a:r>
            <a:r>
              <a:rPr lang="en-AU">
                <a:latin typeface="Courier New" charset="0"/>
                <a:ea typeface="ＭＳ Ｐゴシック" charset="0"/>
                <a:cs typeface="ＭＳ Ｐゴシック" charset="0"/>
              </a:rPr>
              <a:t>M = 88</a:t>
            </a:r>
            <a:r>
              <a:rPr lang="en-AU">
                <a:latin typeface="Arial" charset="0"/>
                <a:ea typeface="ＭＳ Ｐゴシック" charset="0"/>
                <a:cs typeface="ＭＳ Ｐゴシック" charset="0"/>
              </a:rPr>
              <a:t> (nb. </a:t>
            </a:r>
            <a:r>
              <a:rPr lang="en-AU">
                <a:latin typeface="Courier New" charset="0"/>
                <a:ea typeface="ＭＳ Ｐゴシック" charset="0"/>
                <a:cs typeface="ＭＳ Ｐゴシック" charset="0"/>
              </a:rPr>
              <a:t>88&lt;187</a:t>
            </a:r>
            <a:r>
              <a:rPr lang="en-AU">
                <a:latin typeface="Arial" charset="0"/>
                <a:ea typeface="ＭＳ Ｐゴシック" charset="0"/>
                <a:cs typeface="ＭＳ Ｐゴシック" charset="0"/>
              </a:rPr>
              <a:t>)</a:t>
            </a:r>
          </a:p>
          <a:p>
            <a:pPr eaLnBrk="1" hangingPunct="1"/>
            <a:r>
              <a:rPr lang="en-AU">
                <a:latin typeface="Arial" charset="0"/>
                <a:ea typeface="ＭＳ Ｐゴシック" charset="0"/>
                <a:cs typeface="ＭＳ Ｐゴシック" charset="0"/>
              </a:rPr>
              <a:t>encryption:</a:t>
            </a:r>
          </a:p>
          <a:p>
            <a:pPr lvl="1" eaLnBrk="1" hangingPunct="1">
              <a:buFont typeface="Wingdings" charset="0"/>
              <a:buNone/>
            </a:pPr>
            <a:r>
              <a:rPr lang="en-AU">
                <a:latin typeface="Courier New" charset="0"/>
                <a:ea typeface="ＭＳ Ｐゴシック" charset="0"/>
              </a:rPr>
              <a:t>C = 88</a:t>
            </a:r>
            <a:r>
              <a:rPr lang="en-AU" baseline="30000">
                <a:latin typeface="Courier New" charset="0"/>
                <a:ea typeface="ＭＳ Ｐゴシック" charset="0"/>
              </a:rPr>
              <a:t>7</a:t>
            </a:r>
            <a:r>
              <a:rPr lang="en-AU">
                <a:latin typeface="Courier New" charset="0"/>
                <a:ea typeface="ＭＳ Ｐゴシック" charset="0"/>
              </a:rPr>
              <a:t> mod 187 = 11</a:t>
            </a:r>
            <a:r>
              <a:rPr lang="en-AU">
                <a:latin typeface="Arial" charset="0"/>
                <a:ea typeface="ＭＳ Ｐゴシック" charset="0"/>
              </a:rPr>
              <a:t> </a:t>
            </a:r>
          </a:p>
          <a:p>
            <a:pPr eaLnBrk="1" hangingPunct="1"/>
            <a:r>
              <a:rPr lang="en-AU">
                <a:latin typeface="Arial" charset="0"/>
                <a:ea typeface="ＭＳ Ｐゴシック" charset="0"/>
                <a:cs typeface="ＭＳ Ｐゴシック" charset="0"/>
              </a:rPr>
              <a:t>decryption:</a:t>
            </a:r>
          </a:p>
          <a:p>
            <a:pPr lvl="1" eaLnBrk="1" hangingPunct="1">
              <a:buFont typeface="Wingdings" charset="0"/>
              <a:buNone/>
            </a:pPr>
            <a:r>
              <a:rPr lang="en-AU">
                <a:latin typeface="Courier New" charset="0"/>
                <a:ea typeface="ＭＳ Ｐゴシック" charset="0"/>
              </a:rPr>
              <a:t>M = 11</a:t>
            </a:r>
            <a:r>
              <a:rPr lang="en-AU" baseline="30000">
                <a:latin typeface="Courier New" charset="0"/>
                <a:ea typeface="ＭＳ Ｐゴシック" charset="0"/>
              </a:rPr>
              <a:t>23</a:t>
            </a:r>
            <a:r>
              <a:rPr lang="en-AU">
                <a:latin typeface="Courier New" charset="0"/>
                <a:ea typeface="ＭＳ Ｐゴシック" charset="0"/>
              </a:rPr>
              <a:t> mod 187 = 88</a:t>
            </a:r>
            <a:r>
              <a:rPr lang="en-AU">
                <a:latin typeface="Arial" charset="0"/>
                <a:ea typeface="ＭＳ Ｐゴシック" charset="0"/>
              </a:rPr>
              <a:t> </a:t>
            </a:r>
          </a:p>
        </p:txBody>
      </p:sp>
    </p:spTree>
    <p:extLst>
      <p:ext uri="{BB962C8B-B14F-4D97-AF65-F5344CB8AC3E}">
        <p14:creationId xmlns:p14="http://schemas.microsoft.com/office/powerpoint/2010/main" val="1146264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395288" y="333375"/>
            <a:ext cx="8435975" cy="6008688"/>
          </a:xfrm>
        </p:spPr>
        <p:txBody>
          <a:bodyPr/>
          <a:lstStyle/>
          <a:p>
            <a:pPr marL="609600" indent="-609600" eaLnBrk="1" hangingPunct="1">
              <a:buFont typeface="Wingdings" charset="0"/>
              <a:buNone/>
            </a:pPr>
            <a:r>
              <a:rPr lang="en-AU" altLang="zh-TW">
                <a:latin typeface="Arial" charset="0"/>
                <a:ea typeface="新細明體" charset="0"/>
                <a:cs typeface="新細明體" charset="0"/>
              </a:rPr>
              <a:t>          </a:t>
            </a:r>
            <a:r>
              <a:rPr lang="en-AU" altLang="zh-TW" sz="2800">
                <a:solidFill>
                  <a:srgbClr val="008000"/>
                </a:solidFill>
                <a:latin typeface="Arial" charset="0"/>
                <a:ea typeface="新細明體" charset="0"/>
                <a:cs typeface="新細明體" charset="0"/>
              </a:rPr>
              <a:t>ECC Benefits</a:t>
            </a:r>
          </a:p>
          <a:p>
            <a:pPr marL="609600" indent="-609600" eaLnBrk="1" hangingPunct="1">
              <a:buFont typeface="Wingdings" charset="0"/>
              <a:buNone/>
            </a:pPr>
            <a:endParaRPr lang="en-AU" altLang="zh-TW" sz="2800">
              <a:solidFill>
                <a:srgbClr val="008000"/>
              </a:solidFill>
              <a:latin typeface="Arial" charset="0"/>
              <a:ea typeface="新細明體" charset="0"/>
              <a:cs typeface="新細明體" charset="0"/>
            </a:endParaRPr>
          </a:p>
          <a:p>
            <a:pPr marL="609600" indent="-609600" eaLnBrk="1" hangingPunct="1">
              <a:buFont typeface="Wingdings" charset="0"/>
              <a:buNone/>
            </a:pPr>
            <a:r>
              <a:rPr lang="en-AU" altLang="zh-TW">
                <a:latin typeface="Arial" charset="0"/>
                <a:ea typeface="新細明體" charset="0"/>
                <a:cs typeface="新細明體" charset="0"/>
              </a:rPr>
              <a:t>ECC is particularly beneficial for application where:</a:t>
            </a:r>
          </a:p>
          <a:p>
            <a:pPr marL="609600" indent="-609600" eaLnBrk="1" hangingPunct="1">
              <a:buFont typeface="Wingdings" charset="0"/>
              <a:buNone/>
            </a:pPr>
            <a:endParaRPr lang="en-AU" altLang="zh-TW">
              <a:latin typeface="Arial" charset="0"/>
              <a:ea typeface="新細明體" charset="0"/>
              <a:cs typeface="新細明體" charset="0"/>
            </a:endParaRPr>
          </a:p>
          <a:p>
            <a:pPr marL="609600" indent="-609600" eaLnBrk="1" hangingPunct="1">
              <a:lnSpc>
                <a:spcPct val="110000"/>
              </a:lnSpc>
            </a:pPr>
            <a:r>
              <a:rPr lang="en-AU" altLang="zh-TW" sz="2000">
                <a:latin typeface="Arial" charset="0"/>
                <a:ea typeface="新細明體" charset="0"/>
                <a:cs typeface="新細明體" charset="0"/>
              </a:rPr>
              <a:t>computational power is limited (wireless devices, PC cards)</a:t>
            </a:r>
          </a:p>
          <a:p>
            <a:pPr marL="609600" indent="-609600" eaLnBrk="1" hangingPunct="1">
              <a:lnSpc>
                <a:spcPct val="110000"/>
              </a:lnSpc>
            </a:pPr>
            <a:r>
              <a:rPr lang="en-AU" altLang="zh-TW" sz="2000">
                <a:latin typeface="Arial" charset="0"/>
                <a:ea typeface="新細明體" charset="0"/>
                <a:cs typeface="新細明體" charset="0"/>
              </a:rPr>
              <a:t>integrated circuit space is limited (wireless devices, PC cards)</a:t>
            </a:r>
          </a:p>
          <a:p>
            <a:pPr marL="609600" indent="-609600" eaLnBrk="1" hangingPunct="1">
              <a:lnSpc>
                <a:spcPct val="110000"/>
              </a:lnSpc>
            </a:pPr>
            <a:r>
              <a:rPr lang="en-AU" altLang="zh-TW" sz="2000">
                <a:latin typeface="Arial" charset="0"/>
                <a:ea typeface="新細明體" charset="0"/>
                <a:cs typeface="新細明體" charset="0"/>
              </a:rPr>
              <a:t>high speed is required.</a:t>
            </a:r>
          </a:p>
          <a:p>
            <a:pPr marL="609600" indent="-609600" eaLnBrk="1" hangingPunct="1">
              <a:lnSpc>
                <a:spcPct val="110000"/>
              </a:lnSpc>
            </a:pPr>
            <a:r>
              <a:rPr lang="en-AU" altLang="zh-TW" sz="2000">
                <a:latin typeface="Arial" charset="0"/>
                <a:ea typeface="新細明體" charset="0"/>
                <a:cs typeface="新細明體" charset="0"/>
              </a:rPr>
              <a:t>intensive use of signing, verifying or authenticating is required.</a:t>
            </a:r>
          </a:p>
          <a:p>
            <a:pPr marL="609600" indent="-609600" eaLnBrk="1" hangingPunct="1">
              <a:lnSpc>
                <a:spcPct val="110000"/>
              </a:lnSpc>
            </a:pPr>
            <a:r>
              <a:rPr lang="en-AU" altLang="zh-TW" sz="2000">
                <a:latin typeface="Arial" charset="0"/>
                <a:ea typeface="新細明體" charset="0"/>
                <a:cs typeface="新細明體" charset="0"/>
              </a:rPr>
              <a:t>signed messages are required to be stored or transmitted (especially for short messages).</a:t>
            </a:r>
          </a:p>
          <a:p>
            <a:pPr marL="609600" indent="-609600" eaLnBrk="1" hangingPunct="1">
              <a:lnSpc>
                <a:spcPct val="110000"/>
              </a:lnSpc>
            </a:pPr>
            <a:r>
              <a:rPr lang="en-AU" altLang="zh-TW" sz="2000">
                <a:latin typeface="Arial" charset="0"/>
                <a:ea typeface="新細明體" charset="0"/>
                <a:cs typeface="新細明體" charset="0"/>
              </a:rPr>
              <a:t>bandwidth is limited (wireless communications and some computer networks).</a:t>
            </a:r>
          </a:p>
          <a:p>
            <a:pPr marL="609600" indent="-609600" eaLnBrk="1" hangingPunct="1">
              <a:buFont typeface="Wingdings" charset="0"/>
              <a:buNone/>
            </a:pPr>
            <a:endParaRPr lang="en-AU" altLang="zh-TW" sz="2000">
              <a:latin typeface="Arial" charset="0"/>
              <a:ea typeface="新細明體" charset="0"/>
              <a:cs typeface="新細明體" charset="0"/>
            </a:endParaRPr>
          </a:p>
          <a:p>
            <a:pPr marL="609600" indent="-609600" eaLnBrk="1" hangingPunct="1"/>
            <a:endParaRPr lang="en-AU" altLang="zh-TW" sz="2000">
              <a:latin typeface="Arial" charset="0"/>
              <a:ea typeface="新細明體" charset="0"/>
              <a:cs typeface="新細明體" charset="0"/>
            </a:endParaRPr>
          </a:p>
          <a:p>
            <a:pPr marL="609600" indent="-609600" eaLnBrk="1" hangingPunct="1">
              <a:buFont typeface="Wingdings" charset="0"/>
              <a:buNone/>
            </a:pPr>
            <a:endParaRPr lang="en-AU" altLang="zh-TW" sz="2000">
              <a:latin typeface="Arial" charset="0"/>
              <a:ea typeface="新細明體" charset="0"/>
              <a:cs typeface="新細明體" charset="0"/>
            </a:endParaRPr>
          </a:p>
          <a:p>
            <a:pPr marL="609600" indent="-609600" eaLnBrk="1" hangingPunct="1">
              <a:buFont typeface="Wingdings" charset="0"/>
              <a:buNone/>
            </a:pPr>
            <a:endParaRPr lang="en-AU" altLang="zh-TW" sz="2000">
              <a:latin typeface="Arial" charset="0"/>
              <a:ea typeface="新細明體" charset="0"/>
              <a:cs typeface="新細明體" charset="0"/>
            </a:endParaRPr>
          </a:p>
          <a:p>
            <a:pPr marL="609600" indent="-609600" eaLnBrk="1" hangingPunct="1">
              <a:buFont typeface="Wingdings" charset="0"/>
              <a:buNone/>
            </a:pPr>
            <a:endParaRPr lang="zh-TW" altLang="en-AU" sz="2000">
              <a:latin typeface="Arial" charset="0"/>
              <a:ea typeface="新細明體" charset="0"/>
              <a:cs typeface="新細明體" charset="0"/>
            </a:endParaRPr>
          </a:p>
        </p:txBody>
      </p:sp>
    </p:spTree>
    <p:extLst>
      <p:ext uri="{BB962C8B-B14F-4D97-AF65-F5344CB8AC3E}">
        <p14:creationId xmlns:p14="http://schemas.microsoft.com/office/powerpoint/2010/main" val="3155413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1364</TotalTime>
  <Words>1094</Words>
  <Application>Microsoft Office PowerPoint</Application>
  <PresentationFormat>On-screen Show (4:3)</PresentationFormat>
  <Paragraphs>191</Paragraphs>
  <Slides>31</Slides>
  <Notes>6</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4</vt:i4>
      </vt:variant>
      <vt:variant>
        <vt:lpstr>Slide Titles</vt:lpstr>
      </vt:variant>
      <vt:variant>
        <vt:i4>31</vt:i4>
      </vt:variant>
    </vt:vector>
  </HeadingPairs>
  <TitlesOfParts>
    <vt:vector size="48" baseType="lpstr">
      <vt:lpstr>ＭＳ Ｐゴシック</vt:lpstr>
      <vt:lpstr>Arial</vt:lpstr>
      <vt:lpstr>Calibri</vt:lpstr>
      <vt:lpstr>Courier New</vt:lpstr>
      <vt:lpstr>標楷體</vt:lpstr>
      <vt:lpstr>Euclid Math One</vt:lpstr>
      <vt:lpstr>新細明體</vt:lpstr>
      <vt:lpstr>Symbol</vt:lpstr>
      <vt:lpstr>Tahoma</vt:lpstr>
      <vt:lpstr>Times-Roman</vt:lpstr>
      <vt:lpstr>Wingdings</vt:lpstr>
      <vt:lpstr>全真行書</vt:lpstr>
      <vt:lpstr>Office Theme</vt:lpstr>
      <vt:lpstr>方程式</vt:lpstr>
      <vt:lpstr>Equation</vt:lpstr>
      <vt:lpstr>Microsoft Equation 3.0</vt:lpstr>
      <vt:lpstr>Visio</vt:lpstr>
      <vt:lpstr>Chapter 2: Cryptography Basics 2.3. Elliptic Curve Cryptography</vt:lpstr>
      <vt:lpstr>Outline</vt:lpstr>
      <vt:lpstr>Elliptic curves over R</vt:lpstr>
      <vt:lpstr>Group Operation +</vt:lpstr>
      <vt:lpstr>Group operation +</vt:lpstr>
      <vt:lpstr>Example (addition):</vt:lpstr>
      <vt:lpstr>Example (doubling)</vt:lpstr>
      <vt:lpstr>Elliptic Curves over GF(p)</vt:lpstr>
      <vt:lpstr>Galois Field GF(p)</vt:lpstr>
      <vt:lpstr>Example</vt:lpstr>
      <vt:lpstr>Example (continue)</vt:lpstr>
      <vt:lpstr>Example (continue)</vt:lpstr>
      <vt:lpstr>Public Key Encryption</vt:lpstr>
      <vt:lpstr>Example (continue)</vt:lpstr>
      <vt:lpstr>Example (continue)</vt:lpstr>
      <vt:lpstr>Computing Point Multiples on Elliptic Curves</vt:lpstr>
      <vt:lpstr>Example</vt:lpstr>
      <vt:lpstr>Example</vt:lpstr>
      <vt:lpstr>Elliptic Curve DLP</vt:lpstr>
      <vt:lpstr>Signature Scheme: ECDSA</vt:lpstr>
      <vt:lpstr>Digital Signature Model</vt:lpstr>
      <vt:lpstr>Cont.</vt:lpstr>
      <vt:lpstr>Elliptic Curve DSA</vt:lpstr>
      <vt:lpstr>ECDSA</vt:lpstr>
      <vt:lpstr>Elliptic Curve Security</vt:lpstr>
      <vt:lpstr>PowerPoint Presentation</vt:lpstr>
      <vt:lpstr>RSA</vt:lpstr>
      <vt:lpstr>RSA En/decryption</vt:lpstr>
      <vt:lpstr>RSA Example - Key Setup</vt:lpstr>
      <vt:lpstr>RSA Example - En/Decryption</vt:lpstr>
      <vt:lpstr>PowerPoint Presentation</vt:lpstr>
    </vt:vector>
  </TitlesOfParts>
  <Company>Victoria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Elliptic Curve Cryptography</dc:title>
  <dc:creator>Xun Yi</dc:creator>
  <cp:lastModifiedBy>Rahman Ziaur</cp:lastModifiedBy>
  <cp:revision>22</cp:revision>
  <dcterms:created xsi:type="dcterms:W3CDTF">2018-08-10T10:35:06Z</dcterms:created>
  <dcterms:modified xsi:type="dcterms:W3CDTF">2019-08-29T06:21:27Z</dcterms:modified>
</cp:coreProperties>
</file>